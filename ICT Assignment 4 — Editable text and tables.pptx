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27393" y="1842516"/>
            <a:ext cx="11233118" cy="298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Multimedia 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75865" y="760095"/>
            <a:ext cx="6735985" cy="77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5334" y="5095399"/>
            <a:ext cx="10656951" cy="10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Salima Zimbekkyzy, Azhar Saparzholova, Nurassyl Oralbekov Group: SE-2623 Course: ICT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21410" y="2474976"/>
            <a:ext cx="9467850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Part A — Multimedia formats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486400" y="3086100"/>
          <a:ext cx="7315200" cy="4114800"/>
        </p:xfrm>
        <a:graphic>
          <a:graphicData uri="http://schemas.openxmlformats.org/drawingml/2006/table">
            <a:tbl>
              <a:tblPr/>
              <a:tblGrid>
                <a:gridCol w="2438400"/>
                <a:gridCol w="2217450"/>
                <a:gridCol w="2659350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99FF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5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A1. Format comparison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1952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7424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Format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2943225" y="1752600"/>
            <a:ext cx="1095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3057525" y="1809750"/>
            <a:ext cx="49511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Type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038600" y="1752600"/>
            <a:ext cx="22383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152900" y="1809750"/>
            <a:ext cx="139998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Compression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6276975" y="1752600"/>
            <a:ext cx="2286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6391275" y="1809750"/>
            <a:ext cx="152133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Alpha / motion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8562975" y="1752600"/>
            <a:ext cx="20002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8677275" y="1809750"/>
            <a:ext cx="12136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Typical 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0563225" y="1752600"/>
            <a:ext cx="1714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0677525" y="1809750"/>
            <a:ext cx="8397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Support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12277725" y="1752600"/>
            <a:ext cx="50196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2392025" y="1809750"/>
            <a:ext cx="118110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b="true" sz="17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Project use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2286000"/>
            <a:ext cx="47472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7525" y="228600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152900" y="2286000"/>
            <a:ext cx="85229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Lossless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91275" y="2286000"/>
            <a:ext cx="129092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Alpha; APNG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77275" y="2286000"/>
            <a:ext cx="127901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 photos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77525" y="228600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2025" y="2286000"/>
            <a:ext cx="115700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evidence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2676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2724150"/>
            <a:ext cx="57226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57525" y="272415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52900" y="272415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91275" y="2724150"/>
            <a:ext cx="7063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Neither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77275" y="2724150"/>
            <a:ext cx="126653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 photos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77525" y="272415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92025" y="2724150"/>
            <a:ext cx="68208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Photos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990600" y="3114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6" id="36"/>
          <p:cNvSpPr txBox="true"/>
          <p:nvPr/>
        </p:nvSpPr>
        <p:spPr>
          <a:xfrm rot="0">
            <a:off x="1104900" y="3162300"/>
            <a:ext cx="5926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057525" y="316230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152900" y="3162300"/>
            <a:ext cx="116919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Both modes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391275" y="3162300"/>
            <a:ext cx="14676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77275" y="3162300"/>
            <a:ext cx="8767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77525" y="3162300"/>
            <a:ext cx="74276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92025" y="3162300"/>
            <a:ext cx="12056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App preview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3552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04900" y="3600450"/>
            <a:ext cx="4627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57525" y="3600450"/>
            <a:ext cx="60902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152900" y="3600450"/>
            <a:ext cx="1156811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Vector / text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91275" y="3600450"/>
            <a:ext cx="14676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Alpha + motion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677275" y="3600450"/>
            <a:ext cx="97812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Tiny icons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77525" y="360045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92025" y="3600450"/>
            <a:ext cx="79143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UI icons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3990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038600"/>
            <a:ext cx="45053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57525" y="40386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52900" y="403860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91275" y="403860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77275" y="4038600"/>
            <a:ext cx="5478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677525" y="4038600"/>
            <a:ext cx="58464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92025" y="4038600"/>
            <a:ext cx="149780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Speech / music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29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476750"/>
            <a:ext cx="110775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AAC (M4A)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57525" y="447675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152900" y="4476750"/>
            <a:ext cx="572357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Lossy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91275" y="447675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677275" y="4476750"/>
            <a:ext cx="5478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77525" y="447675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392025" y="4476750"/>
            <a:ext cx="90116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Narration</a:t>
            </a:r>
          </a:p>
        </p:txBody>
      </p:sp>
      <p:sp>
        <p:nvSpPr>
          <p:cNvPr name="AutoShape 67" id="67"/>
          <p:cNvSpPr/>
          <p:nvPr/>
        </p:nvSpPr>
        <p:spPr>
          <a:xfrm rot="0">
            <a:off x="990600" y="4867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8" id="68"/>
          <p:cNvSpPr txBox="true"/>
          <p:nvPr/>
        </p:nvSpPr>
        <p:spPr>
          <a:xfrm rot="0">
            <a:off x="1104900" y="4914900"/>
            <a:ext cx="116833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WAV (PCM)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05752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Audio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152900" y="4914900"/>
            <a:ext cx="147342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Uncompressed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391275" y="4914900"/>
            <a:ext cx="365189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677275" y="4914900"/>
            <a:ext cx="5603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677525" y="491490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392025" y="4914900"/>
            <a:ext cx="140036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master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5305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5353050"/>
            <a:ext cx="10959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MP4 H.264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057525" y="535305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152900" y="535305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391275" y="5353050"/>
            <a:ext cx="16200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677275" y="535305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677525" y="5353050"/>
            <a:ext cx="66989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Broad*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392025" y="5353050"/>
            <a:ext cx="140017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Demo delivery</a:t>
            </a:r>
          </a:p>
        </p:txBody>
      </p:sp>
      <p:sp>
        <p:nvSpPr>
          <p:cNvPr name="AutoShape 83" id="83"/>
          <p:cNvSpPr/>
          <p:nvPr/>
        </p:nvSpPr>
        <p:spPr>
          <a:xfrm rot="0">
            <a:off x="990600" y="5743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4" id="84"/>
          <p:cNvSpPr txBox="true"/>
          <p:nvPr/>
        </p:nvSpPr>
        <p:spPr>
          <a:xfrm rot="0">
            <a:off x="1104900" y="5791200"/>
            <a:ext cx="110404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WebM VP9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057525" y="579120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52900" y="579120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391275" y="5791200"/>
            <a:ext cx="1400651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alpha*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677275" y="579120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677525" y="5791200"/>
            <a:ext cx="82810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Modern*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392025" y="5791200"/>
            <a:ext cx="137207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playback</a:t>
            </a:r>
          </a:p>
        </p:txBody>
      </p:sp>
      <p:sp>
        <p:nvSpPr>
          <p:cNvPr name="AutoShape 91" id="91"/>
          <p:cNvSpPr/>
          <p:nvPr/>
        </p:nvSpPr>
        <p:spPr>
          <a:xfrm rot="0">
            <a:off x="990600" y="6181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2" id="92"/>
          <p:cNvSpPr txBox="true"/>
          <p:nvPr/>
        </p:nvSpPr>
        <p:spPr>
          <a:xfrm rot="0">
            <a:off x="1104900" y="6229350"/>
            <a:ext cx="114452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MOV H.264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057525" y="6229350"/>
            <a:ext cx="556450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152900" y="6229350"/>
            <a:ext cx="12784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Usually lossy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391275" y="6229350"/>
            <a:ext cx="162001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Motion; no alpha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77275" y="6229350"/>
            <a:ext cx="1303115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Bitrate-based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0677525" y="6229350"/>
            <a:ext cx="1169003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Limited web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392025" y="6229350"/>
            <a:ext cx="1595152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Editing / transfer</a:t>
            </a:r>
          </a:p>
        </p:txBody>
      </p:sp>
      <p:sp>
        <p:nvSpPr>
          <p:cNvPr name="AutoShape 99" id="99"/>
          <p:cNvSpPr/>
          <p:nvPr/>
        </p:nvSpPr>
        <p:spPr>
          <a:xfrm rot="0">
            <a:off x="990600" y="6619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0" id="100"/>
          <p:cNvSpPr txBox="true"/>
          <p:nvPr/>
        </p:nvSpPr>
        <p:spPr>
          <a:xfrm rot="0">
            <a:off x="1104900" y="6753225"/>
            <a:ext cx="1167574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A container (MP4) packages tracks and metadata; a codec (H.264) encodes and decodes the media.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4900" y="7219950"/>
            <a:ext cx="958005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*Codec, OS and device support vary. File size depends on content, resolution, bitrate and duration.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04900" y="7515225"/>
            <a:ext cx="646585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Sources: MDN, Image file type guide and Media container formats.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Measured experiment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4572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0225"/>
            <a:ext cx="214369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Project file / export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5562600" y="1752600"/>
            <a:ext cx="4857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5676900" y="1800225"/>
            <a:ext cx="268586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Setting and dimensions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420350" y="1752600"/>
            <a:ext cx="1905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10534650" y="1800225"/>
            <a:ext cx="111147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Size (KiB)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2325350" y="1752600"/>
            <a:ext cx="4972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2439650" y="1800225"/>
            <a:ext cx="189261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b="true" sz="187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Quality evidence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2276475"/>
            <a:ext cx="252860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attendance-preview.png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6900" y="2276475"/>
            <a:ext cx="203206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PNG, 390 × 844 px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34650" y="2276475"/>
            <a:ext cx="5958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39650" y="2276475"/>
            <a:ext cx="316363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Original; visual check pending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990600" y="2876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104900" y="2914650"/>
            <a:ext cx="244916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attendance-preview.jpg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76900" y="2914650"/>
            <a:ext cx="265423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Q80, 390 × 844 px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4650" y="2914650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9650" y="2914650"/>
            <a:ext cx="171421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3514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3552825"/>
            <a:ext cx="28857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attendance-preview-low.jpg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76900" y="3552825"/>
            <a:ext cx="265423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Q40, 390 × 844 px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4650" y="3552825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39650" y="3552825"/>
            <a:ext cx="171421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Export + inspect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41529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4191000"/>
            <a:ext cx="270062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attendance-preview.webp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76900" y="4191000"/>
            <a:ext cx="267204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Q80, 390 × 844 px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34650" y="4191000"/>
            <a:ext cx="5958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9650" y="4191000"/>
            <a:ext cx="30051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app; visual check pending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4791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4829175"/>
            <a:ext cx="263413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76900" y="4829175"/>
            <a:ext cx="300494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Proposed: MP4 H.264, 720p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34650" y="4829175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9650" y="4829175"/>
            <a:ext cx="170097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Record + export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54292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5467350"/>
            <a:ext cx="263413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10-second clip, version 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76900" y="5467350"/>
            <a:ext cx="31103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Same clip, lower video bitrate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534650" y="5467350"/>
            <a:ext cx="1323784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Not supplied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9650" y="5467350"/>
            <a:ext cx="267366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Compare text and motion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990600" y="6067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1143000" y="6305550"/>
            <a:ext cx="51252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30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42.64 KiB saved per preview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000" y="6896100"/>
            <a:ext cx="6604540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58.39 → 15.75 KiB: 73.0% smaller at the same resolution.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43000" y="7239000"/>
            <a:ext cx="7779544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Source: supplied project inventory, 23 Oct 2026. 1 KiB = 1024 bytes.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000" y="7581900"/>
            <a:ext cx="7547515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and clip rows are a test plan, not completed measurements.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Visual quality check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43000" y="1781175"/>
            <a:ext cx="7120700" cy="492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b="true" sz="2925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What the quality comparison must show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2476500"/>
            <a:ext cx="13628370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 the same attendance screen in all four exports. Compare an identical crop at 100% zoom so text edges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2857500"/>
            <a:ext cx="4924139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and calendar lines remain comparable.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3619500"/>
            <a:ext cx="3762375" cy="1885950"/>
            <a:chOff x="0" y="0"/>
            <a:chExt cx="5016500" cy="2514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33500" y="3762375"/>
            <a:ext cx="619316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PNG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4448175"/>
            <a:ext cx="205101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Actual project crop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4781550"/>
            <a:ext cx="147313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required here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91125" y="3619500"/>
            <a:ext cx="3762375" cy="1885950"/>
            <a:chOff x="0" y="0"/>
            <a:chExt cx="5016500" cy="251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381625" y="3762375"/>
            <a:ext cx="1381887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JPEG Q80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81625" y="4448175"/>
            <a:ext cx="205101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Actual project crop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1625" y="4781550"/>
            <a:ext cx="147313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required here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39250" y="3619500"/>
            <a:ext cx="3762375" cy="1885950"/>
            <a:chOff x="0" y="0"/>
            <a:chExt cx="5016500" cy="2514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429750" y="3762375"/>
            <a:ext cx="1381887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JPEG Q40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9750" y="4448175"/>
            <a:ext cx="205101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Actual project crop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29750" y="4781550"/>
            <a:ext cx="147313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required here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87375" y="3619500"/>
            <a:ext cx="3762375" cy="1885950"/>
            <a:chOff x="0" y="0"/>
            <a:chExt cx="5016500" cy="251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165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3477875" y="3762375"/>
            <a:ext cx="1403032" cy="38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b="true" sz="225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WebP Q80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77875" y="4448175"/>
            <a:ext cx="205101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Actual project crop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77875" y="4781550"/>
            <a:ext cx="147313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required here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000" y="5829300"/>
            <a:ext cx="309991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Evidence still needed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6353175"/>
            <a:ext cx="13541693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One side-by-side screenshot, JPEG file sizes, and two exports of the same 10-second clip. Rate each result 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6724650"/>
            <a:ext cx="515931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sharp, acceptable or poor after inspection.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3000" y="7458075"/>
            <a:ext cx="10578274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source image and recording were not included in the supplied files. These boxes mark missing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A2. Our format choices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43000" y="1695450"/>
            <a:ext cx="2059019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b="true" sz="81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73%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0625" y="3000375"/>
            <a:ext cx="281244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smaller preview file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34250" y="1876425"/>
            <a:ext cx="792737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For the My AITU / LMS bridge, we use WebP at quality 80 for the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34250" y="2247900"/>
            <a:ext cx="800766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preview. At the same 390 × 844 resolution, its file size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4250" y="2619375"/>
            <a:ext cx="802509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falls from 58.39 KiB to 15.75 KiB, saving 42.64 KiB, or 73.0%. We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34250" y="2990850"/>
            <a:ext cx="8321897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retain PNG as the original evidence image because it preserves 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0" y="3362325"/>
            <a:ext cx="8567261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and edges without lossy compression. Inline SVG suits interface icons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4250" y="3733800"/>
            <a:ext cx="80403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because vectors stay sharp at different sizes and share the HTML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34250" y="4105275"/>
            <a:ext cx="7907941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response. CSS provides the login pulse without a separate video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250" y="4476750"/>
            <a:ext cx="8076343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download. For the project demonstration, we plan MP4 with H.264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250" y="4848225"/>
            <a:ext cx="8368760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video and AAC audio for broad playback support. JPEG settings 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4250" y="5219700"/>
            <a:ext cx="810710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ten-second clip still need measured comparison before we can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4250" y="5591175"/>
            <a:ext cx="3178112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1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report their quality or size.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0625" y="4343400"/>
            <a:ext cx="3957066" cy="46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b="true" sz="2775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Same pixels. Less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0625" y="5124450"/>
            <a:ext cx="2196084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PNG 58.39 KiB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0625" y="5553075"/>
            <a:ext cx="2364581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15.75 KiB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0625" y="6772275"/>
            <a:ext cx="269319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Measured file sizes only.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" y="7105650"/>
            <a:ext cx="3771710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Network speed needs its own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B1. Interface icons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71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62100" y="1752600"/>
            <a:ext cx="3333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76400" y="1809750"/>
            <a:ext cx="62274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895850" y="1752600"/>
            <a:ext cx="4953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5010150" y="1809750"/>
            <a:ext cx="12956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9848850" y="1752600"/>
            <a:ext cx="3619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9963150" y="1809750"/>
            <a:ext cx="16899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Vector viewBox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3468350" y="1752600"/>
            <a:ext cx="38290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3582650" y="1809750"/>
            <a:ext cx="13086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Markup size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22860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6400" y="2286000"/>
            <a:ext cx="5210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10150" y="2286000"/>
            <a:ext cx="20840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Courses / navigation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63150" y="22860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82650" y="22860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740 B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990600" y="26384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1104900" y="26860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" y="2686050"/>
            <a:ext cx="92783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Calendar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10150" y="2686050"/>
            <a:ext cx="19062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Tasks / attendance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63150" y="26860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82650" y="2686050"/>
            <a:ext cx="78800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1,162 B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990600" y="30384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8" id="28"/>
          <p:cNvSpPr txBox="true"/>
          <p:nvPr/>
        </p:nvSpPr>
        <p:spPr>
          <a:xfrm rot="0">
            <a:off x="1104900" y="30861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6400" y="3086100"/>
            <a:ext cx="113109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Graduation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10150" y="3086100"/>
            <a:ext cx="74961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63150" y="30861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82650" y="30861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857 B</a:t>
            </a:r>
          </a:p>
        </p:txBody>
      </p:sp>
      <p:sp>
        <p:nvSpPr>
          <p:cNvPr name="AutoShape 33" id="33"/>
          <p:cNvSpPr/>
          <p:nvPr/>
        </p:nvSpPr>
        <p:spPr>
          <a:xfrm rot="0">
            <a:off x="990600" y="34385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1104900" y="34861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76400" y="3486150"/>
            <a:ext cx="48263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10150" y="3486150"/>
            <a:ext cx="152523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button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63150" y="34861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82650" y="34861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869 B</a:t>
            </a:r>
          </a:p>
        </p:txBody>
      </p:sp>
      <p:sp>
        <p:nvSpPr>
          <p:cNvPr name="AutoShape 39" id="39"/>
          <p:cNvSpPr/>
          <p:nvPr/>
        </p:nvSpPr>
        <p:spPr>
          <a:xfrm rot="0">
            <a:off x="990600" y="38385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1104900" y="38862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6400" y="3886200"/>
            <a:ext cx="5719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Menu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010150" y="3886200"/>
            <a:ext cx="177927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button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63150" y="38862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82650" y="38862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561 B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4238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428625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6400" y="4286250"/>
            <a:ext cx="5844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10150" y="4286250"/>
            <a:ext cx="194414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Navigation controls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63150" y="42862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582650" y="42862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441 B</a:t>
            </a:r>
          </a:p>
        </p:txBody>
      </p:sp>
      <p:sp>
        <p:nvSpPr>
          <p:cNvPr name="AutoShape 51" id="51"/>
          <p:cNvSpPr/>
          <p:nvPr/>
        </p:nvSpPr>
        <p:spPr>
          <a:xfrm rot="0">
            <a:off x="990600" y="46386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1104900" y="4686300"/>
            <a:ext cx="1272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76400" y="4686300"/>
            <a:ext cx="5844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Down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10150" y="4686300"/>
            <a:ext cx="14613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963150" y="46863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82650" y="46863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391 B</a:t>
            </a:r>
          </a:p>
        </p:txBody>
      </p:sp>
      <p:sp>
        <p:nvSpPr>
          <p:cNvPr name="AutoShape 57" id="57"/>
          <p:cNvSpPr/>
          <p:nvPr/>
        </p:nvSpPr>
        <p:spPr>
          <a:xfrm rot="0">
            <a:off x="990600" y="50387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8" id="58"/>
          <p:cNvSpPr txBox="true"/>
          <p:nvPr/>
        </p:nvSpPr>
        <p:spPr>
          <a:xfrm rot="0">
            <a:off x="1104900" y="50863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76400" y="5086350"/>
            <a:ext cx="85144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Sign-out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010150" y="5086350"/>
            <a:ext cx="146132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Account menu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963150" y="50863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82650" y="50863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906 B</a:t>
            </a:r>
          </a:p>
        </p:txBody>
      </p:sp>
      <p:sp>
        <p:nvSpPr>
          <p:cNvPr name="AutoShape 63" id="63"/>
          <p:cNvSpPr/>
          <p:nvPr/>
        </p:nvSpPr>
        <p:spPr>
          <a:xfrm rot="0">
            <a:off x="990600" y="54387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4" id="64"/>
          <p:cNvSpPr txBox="true"/>
          <p:nvPr/>
        </p:nvSpPr>
        <p:spPr>
          <a:xfrm rot="0">
            <a:off x="1104900" y="5486400"/>
            <a:ext cx="2373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76400" y="5486400"/>
            <a:ext cx="8005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Refresh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010150" y="5486400"/>
            <a:ext cx="72447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Reload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63150" y="54864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82650" y="54864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945 B</a:t>
            </a:r>
          </a:p>
        </p:txBody>
      </p:sp>
      <p:sp>
        <p:nvSpPr>
          <p:cNvPr name="AutoShape 69" id="69"/>
          <p:cNvSpPr/>
          <p:nvPr/>
        </p:nvSpPr>
        <p:spPr>
          <a:xfrm rot="0">
            <a:off x="990600" y="58388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0" id="70"/>
          <p:cNvSpPr txBox="true"/>
          <p:nvPr/>
        </p:nvSpPr>
        <p:spPr>
          <a:xfrm rot="0">
            <a:off x="1104900" y="58864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76400" y="5886450"/>
            <a:ext cx="72437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10150" y="5886450"/>
            <a:ext cx="14866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Course search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963150" y="58864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582650" y="58864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669 B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990600" y="62388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1104900" y="628650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76400" y="6286500"/>
            <a:ext cx="39395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Eye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010150" y="6286500"/>
            <a:ext cx="18547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Password visibility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963150" y="628650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82650" y="628650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935 B</a:t>
            </a:r>
          </a:p>
        </p:txBody>
      </p:sp>
      <p:sp>
        <p:nvSpPr>
          <p:cNvPr name="AutoShape 81" id="81"/>
          <p:cNvSpPr/>
          <p:nvPr/>
        </p:nvSpPr>
        <p:spPr>
          <a:xfrm rot="0">
            <a:off x="990600" y="6638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2" id="82"/>
          <p:cNvSpPr txBox="true"/>
          <p:nvPr/>
        </p:nvSpPr>
        <p:spPr>
          <a:xfrm rot="0">
            <a:off x="1104900" y="6686550"/>
            <a:ext cx="2543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76400" y="6686550"/>
            <a:ext cx="64798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010150" y="6686550"/>
            <a:ext cx="11567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963150" y="6686550"/>
            <a:ext cx="156972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582650" y="6686550"/>
            <a:ext cx="59740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366 B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70389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7210425"/>
            <a:ext cx="907970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All icons: Flaticon Uicons Regular Rounded. Free licence with visible footer attribution.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4900" y="7524750"/>
            <a:ext cx="93357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Inline symbols share the HTML response; these are source sizes, not separate requests.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B1. Media asset inventory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AutoShape 6" id="6"/>
          <p:cNvSpPr/>
          <p:nvPr/>
        </p:nvSpPr>
        <p:spPr>
          <a:xfrm rot="0">
            <a:off x="990600" y="1752600"/>
            <a:ext cx="523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04900" y="1809750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#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514475" y="1752600"/>
            <a:ext cx="3048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1628775" y="1809750"/>
            <a:ext cx="5707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Asset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4562475" y="1752600"/>
            <a:ext cx="271462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1" id="11"/>
          <p:cNvSpPr txBox="true"/>
          <p:nvPr/>
        </p:nvSpPr>
        <p:spPr>
          <a:xfrm rot="0">
            <a:off x="4676775" y="1809750"/>
            <a:ext cx="118776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Where used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7277100" y="1752600"/>
            <a:ext cx="41910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7391400" y="1809750"/>
            <a:ext cx="204939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Format / dimensions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1468100" y="1752600"/>
            <a:ext cx="18097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11582400" y="1809750"/>
            <a:ext cx="41938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Size</a:t>
            </a:r>
          </a:p>
        </p:txBody>
      </p:sp>
      <p:sp>
        <p:nvSpPr>
          <p:cNvPr name="AutoShape 16" id="16"/>
          <p:cNvSpPr/>
          <p:nvPr/>
        </p:nvSpPr>
        <p:spPr>
          <a:xfrm rot="0">
            <a:off x="13277850" y="1752600"/>
            <a:ext cx="4019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13392150" y="1809750"/>
            <a:ext cx="159572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Source / licence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22860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28775" y="2286000"/>
            <a:ext cx="109508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Absent icon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76775" y="2286000"/>
            <a:ext cx="106022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91400" y="228600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82400" y="228600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442 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92150" y="228600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990600" y="26098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1104900" y="26574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8775" y="2657475"/>
            <a:ext cx="96659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Clock icon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6775" y="2657475"/>
            <a:ext cx="151428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91400" y="265747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2400" y="2657475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777 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2150" y="265747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990600" y="29813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2" id="32"/>
          <p:cNvSpPr txBox="true"/>
          <p:nvPr/>
        </p:nvSpPr>
        <p:spPr>
          <a:xfrm rot="0">
            <a:off x="1104900" y="302895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8775" y="3028950"/>
            <a:ext cx="100164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Minus icon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76775" y="3028950"/>
            <a:ext cx="206187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Unmarked attendance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91400" y="302895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82400" y="302895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284 B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92150" y="302895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990600" y="33528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104900" y="340042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8775" y="3400425"/>
            <a:ext cx="137445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Left arrow icon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76775" y="3400425"/>
            <a:ext cx="145599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Previous month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1400" y="340042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82400" y="3400425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416 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92150" y="340042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990600" y="37242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1104900" y="37719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28775" y="3771900"/>
            <a:ext cx="145580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arrow icon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676775" y="3771900"/>
            <a:ext cx="107156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Next month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91400" y="3771900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82400" y="3771900"/>
            <a:ext cx="54768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404 B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392150" y="3771900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2" id="52"/>
          <p:cNvSpPr/>
          <p:nvPr/>
        </p:nvSpPr>
        <p:spPr>
          <a:xfrm rot="0">
            <a:off x="990600" y="40957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53" id="53"/>
          <p:cNvSpPr txBox="true"/>
          <p:nvPr/>
        </p:nvSpPr>
        <p:spPr>
          <a:xfrm rot="0">
            <a:off x="1104900" y="41433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8775" y="4143375"/>
            <a:ext cx="76885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List icon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676775" y="4143375"/>
            <a:ext cx="16776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status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91400" y="4143375"/>
            <a:ext cx="143884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SVG 300 × 300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582400" y="4143375"/>
            <a:ext cx="72237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1,010 B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392150" y="4143375"/>
            <a:ext cx="80352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Flaticon¹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990600" y="44672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1104900" y="4514850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28775" y="4514850"/>
            <a:ext cx="184051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Attendance preview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76775" y="4514850"/>
            <a:ext cx="6522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91400" y="4514850"/>
            <a:ext cx="155943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390 × 844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582400" y="4514850"/>
            <a:ext cx="90878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15.75 KiB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92150" y="4514850"/>
            <a:ext cx="122872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 + icons¹</a:t>
            </a:r>
          </a:p>
        </p:txBody>
      </p:sp>
      <p:sp>
        <p:nvSpPr>
          <p:cNvPr name="AutoShape 66" id="66"/>
          <p:cNvSpPr/>
          <p:nvPr/>
        </p:nvSpPr>
        <p:spPr>
          <a:xfrm rot="0">
            <a:off x="990600" y="48387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67" id="67"/>
          <p:cNvSpPr txBox="true"/>
          <p:nvPr/>
        </p:nvSpPr>
        <p:spPr>
          <a:xfrm rot="0">
            <a:off x="1104900" y="4886325"/>
            <a:ext cx="11668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28775" y="4886325"/>
            <a:ext cx="1408938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LMS wordmark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76775" y="4886325"/>
            <a:ext cx="6522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Sign-in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391400" y="4886325"/>
            <a:ext cx="176479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 / text, 68 × 68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582400" y="4886325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392150" y="4886325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73" id="73"/>
          <p:cNvSpPr/>
          <p:nvPr/>
        </p:nvSpPr>
        <p:spPr>
          <a:xfrm rot="0">
            <a:off x="990600" y="52101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74" id="74"/>
          <p:cNvSpPr txBox="true"/>
          <p:nvPr/>
        </p:nvSpPr>
        <p:spPr>
          <a:xfrm rot="0">
            <a:off x="1104900" y="52578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28775" y="5257800"/>
            <a:ext cx="107203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pulse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676775" y="5257800"/>
            <a:ext cx="138636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Login progress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391400" y="5257800"/>
            <a:ext cx="1281303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2 s loop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582400" y="5257800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392150" y="5257800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0" id="80"/>
          <p:cNvSpPr/>
          <p:nvPr/>
        </p:nvSpPr>
        <p:spPr>
          <a:xfrm rot="0">
            <a:off x="990600" y="55816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1" id="81"/>
          <p:cNvSpPr txBox="true"/>
          <p:nvPr/>
        </p:nvSpPr>
        <p:spPr>
          <a:xfrm rot="0">
            <a:off x="1104900" y="562927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28775" y="5629275"/>
            <a:ext cx="152590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Entrance motion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676775" y="5629275"/>
            <a:ext cx="101708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391400" y="5629275"/>
            <a:ext cx="100164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CSS, 0.4 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582400" y="5629275"/>
            <a:ext cx="10136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Embedded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392150" y="5629275"/>
            <a:ext cx="43100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</a:p>
        </p:txBody>
      </p:sp>
      <p:sp>
        <p:nvSpPr>
          <p:cNvPr name="AutoShape 87" id="87"/>
          <p:cNvSpPr/>
          <p:nvPr/>
        </p:nvSpPr>
        <p:spPr>
          <a:xfrm rot="0">
            <a:off x="990600" y="59531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88" id="88"/>
          <p:cNvSpPr txBox="true"/>
          <p:nvPr/>
        </p:nvSpPr>
        <p:spPr>
          <a:xfrm rot="0">
            <a:off x="1104900" y="600075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28775" y="6000750"/>
            <a:ext cx="12462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Campus map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4676775" y="6000750"/>
            <a:ext cx="11299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Map section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391400" y="6000750"/>
            <a:ext cx="173536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Responsive iframe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582400" y="6000750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392150" y="6000750"/>
            <a:ext cx="128092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Yuujiso / MIT²</a:t>
            </a:r>
          </a:p>
        </p:txBody>
      </p:sp>
      <p:sp>
        <p:nvSpPr>
          <p:cNvPr name="AutoShape 94" id="94"/>
          <p:cNvSpPr/>
          <p:nvPr/>
        </p:nvSpPr>
        <p:spPr>
          <a:xfrm rot="0">
            <a:off x="990600" y="632460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95" id="95"/>
          <p:cNvSpPr txBox="true"/>
          <p:nvPr/>
        </p:nvSpPr>
        <p:spPr>
          <a:xfrm rot="0">
            <a:off x="1104900" y="6372225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628775" y="6372225"/>
            <a:ext cx="827151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font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676775" y="6372225"/>
            <a:ext cx="121148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Interface text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391400" y="6372225"/>
            <a:ext cx="1720024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 font / weights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582400" y="6372225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392150" y="6372225"/>
            <a:ext cx="10713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Inter / OFL³</a:t>
            </a:r>
          </a:p>
        </p:txBody>
      </p:sp>
      <p:sp>
        <p:nvSpPr>
          <p:cNvPr name="AutoShape 101" id="101"/>
          <p:cNvSpPr/>
          <p:nvPr/>
        </p:nvSpPr>
        <p:spPr>
          <a:xfrm rot="0">
            <a:off x="990600" y="669607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2" id="102"/>
          <p:cNvSpPr txBox="true"/>
          <p:nvPr/>
        </p:nvSpPr>
        <p:spPr>
          <a:xfrm rot="0">
            <a:off x="1104900" y="6743700"/>
            <a:ext cx="23317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628775" y="6743700"/>
            <a:ext cx="1211199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Remote view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676775" y="6743700"/>
            <a:ext cx="1537716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Optional support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7391400" y="6743700"/>
            <a:ext cx="2157127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JPEG Q70, 1100 × 800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582400" y="6743700"/>
            <a:ext cx="753332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392150" y="6743700"/>
            <a:ext cx="1421035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Private session</a:t>
            </a:r>
          </a:p>
        </p:txBody>
      </p:sp>
      <p:sp>
        <p:nvSpPr>
          <p:cNvPr name="AutoShape 108" id="108"/>
          <p:cNvSpPr/>
          <p:nvPr/>
        </p:nvSpPr>
        <p:spPr>
          <a:xfrm rot="0">
            <a:off x="990600" y="7067550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109" id="109"/>
          <p:cNvSpPr txBox="true"/>
          <p:nvPr/>
        </p:nvSpPr>
        <p:spPr>
          <a:xfrm rot="0">
            <a:off x="1104900" y="7134225"/>
            <a:ext cx="8280178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¹ Flaticon attribution in footer. ² github.com/Yuujiso/aitumap (MIT), author beside map.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4900" y="7429500"/>
            <a:ext cx="955376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³ github.com/rsms/inter (SIL OFL 1.1). Remote session views must stay out of the submitted demo.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900" y="7724775"/>
            <a:ext cx="8597646" cy="302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Unused ui-right / ui-stats and evidence PNG files are not loaded by the running interface.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B2. Integration and optimisation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2807017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b="true" sz="25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What is integrated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343150"/>
            <a:ext cx="655081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WebP preview: 390 × 844 px, displayed at 250 px wide.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95575"/>
            <a:ext cx="51149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18 inline SVG icons and a CSS login pulse.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" y="3048000"/>
            <a:ext cx="566318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Reduced-motion preference disables animation.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00" y="3400425"/>
            <a:ext cx="5766911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full page still needs a 360 px browser check.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990600" y="4019550"/>
            <a:ext cx="666750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104900" y="4076700"/>
            <a:ext cx="287597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Controlled local payload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7658100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7772400" y="4076700"/>
            <a:ext cx="147237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Before: PNG</a:t>
            </a:r>
          </a:p>
        </p:txBody>
      </p:sp>
      <p:sp>
        <p:nvSpPr>
          <p:cNvPr name="AutoShape 15" id="15"/>
          <p:cNvSpPr/>
          <p:nvPr/>
        </p:nvSpPr>
        <p:spPr>
          <a:xfrm rot="0">
            <a:off x="10848975" y="4019550"/>
            <a:ext cx="3190875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0963275" y="4076700"/>
            <a:ext cx="141265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After: WebP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4039850" y="4019550"/>
            <a:ext cx="3257550" cy="485775"/>
          </a:xfrm>
          <a:prstGeom prst="rect">
            <a:avLst/>
          </a:prstGeom>
          <a:solidFill>
            <a:srgbClr val="572EDD"/>
          </a:solidFill>
        </p:spPr>
      </p:sp>
      <p:sp>
        <p:nvSpPr>
          <p:cNvPr name="TextBox 18" id="18"/>
          <p:cNvSpPr txBox="true"/>
          <p:nvPr/>
        </p:nvSpPr>
        <p:spPr>
          <a:xfrm rot="0">
            <a:off x="14154150" y="4076700"/>
            <a:ext cx="90811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Change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4552950"/>
            <a:ext cx="162420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Preview image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2400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59,787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63275" y="45529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16,126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54150" y="4552950"/>
            <a:ext cx="84686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−73.0%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990600" y="50006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4" id="24"/>
          <p:cNvSpPr txBox="true"/>
          <p:nvPr/>
        </p:nvSpPr>
        <p:spPr>
          <a:xfrm rot="0">
            <a:off x="1104900" y="5048250"/>
            <a:ext cx="284264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 front-end files + preview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72400" y="5048250"/>
            <a:ext cx="1129284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141,601 B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63275" y="5048250"/>
            <a:ext cx="99145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97,941 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54150" y="5048250"/>
            <a:ext cx="84686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−30.8%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990600" y="5495925"/>
            <a:ext cx="16306800" cy="9525"/>
          </a:xfrm>
          <a:prstGeom prst="rect">
            <a:avLst/>
          </a:prstGeom>
          <a:solidFill>
            <a:srgbClr val="C6B4EF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1104900" y="5781675"/>
            <a:ext cx="560098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400">
                <a:solidFill>
                  <a:srgbClr val="572EDD"/>
                </a:solidFill>
                <a:latin typeface="Arial Bold"/>
                <a:ea typeface="Arial Bold"/>
                <a:cs typeface="Arial Bold"/>
                <a:sym typeface="Arial Bold"/>
              </a:rPr>
              <a:t>DevTools measurements: still required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4900" y="6276975"/>
            <a:ext cx="13380530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Disable cache, select Fast 4G, reload the same screen before and after. Capture transferred bytes, request count and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4900" y="6619875"/>
            <a:ext cx="7533704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202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Finish/Load time. Image-request delta should be 0; verify the total.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4900" y="7334250"/>
            <a:ext cx="1330537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payload calculation excludes headers, compression, API, fonts and map traffic. Stage 1 requires &lt;3 s per request at 1,000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4900" y="7648575"/>
            <a:ext cx="316315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users; this remains unverified.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B3. Accessibility of media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1524000"/>
            <a:ext cx="16764000" cy="6667500"/>
          </a:xfrm>
          <a:prstGeom prst="rect">
            <a:avLst/>
          </a:prstGeom>
          <a:solidFill>
            <a:srgbClr val="F0E9FF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104900" y="1743075"/>
            <a:ext cx="667721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b="true" sz="25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Meaningful images have descriptive alt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4900" y="2286000"/>
            <a:ext cx="1297590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The test attendance preview describes the month and status counts. Decorative SVGs use aria-hidden="true";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900" y="2638425"/>
            <a:ext cx="465477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controls retain text or accessible labels.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1104900" y="3248025"/>
            <a:ext cx="16040100" cy="1495425"/>
          </a:xfrm>
          <a:prstGeom prst="rect">
            <a:avLst/>
          </a:prstGeom>
          <a:solidFill>
            <a:srgbClr val="DDD0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276350" y="3333750"/>
            <a:ext cx="672912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&lt;img src="/attendance-preview.webp" width="390" height="844"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" y="3648075"/>
            <a:ext cx="7604855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alt="Тестовый экран посещаемости: календарь за октябрь 2026 года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50" y="3962400"/>
            <a:ext cx="585844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и счётчики — 0 присутствий, 1 пропуск, 0 опозданий,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350" y="4276725"/>
            <a:ext cx="2608231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1 запись без отметки."&gt;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00" y="5010150"/>
            <a:ext cx="5135499" cy="39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b="true" sz="2325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Motion follows the user’s preference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4900" y="5476875"/>
            <a:ext cx="4596289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@media (prefers-reduced-motion: reduce) {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900" y="5791200"/>
            <a:ext cx="5056442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*, *::before, *::after { animation: none !important;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00" y="6105525"/>
            <a:ext cx="6512243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transition: none !important; scroll-behavior: auto !important; } 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00" y="6924675"/>
            <a:ext cx="9239440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No speech media or sound playback: captions and sound equivalents are currently N/A.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00" y="7239000"/>
            <a:ext cx="8536496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Progress is visible as text and a pulse. No live text sits over raster images, so the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00" y="7553325"/>
            <a:ext cx="6935438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875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4.5:1 text-over-image test is N/A. Source: supplied part_b.md, B3.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689" y="2480119"/>
            <a:ext cx="16320516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Part C — Multimedia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06685" y="348424"/>
            <a:ext cx="8377523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C1. Storyboard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803529" y="1560576"/>
            <a:ext cx="10962513" cy="7697819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817816" y="1574864"/>
            <a:ext cx="3644646" cy="1006983"/>
            <a:chOff x="0" y="0"/>
            <a:chExt cx="4859528" cy="13426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62462" y="1574864"/>
            <a:ext cx="3644646" cy="1006983"/>
            <a:chOff x="0" y="0"/>
            <a:chExt cx="4859528" cy="134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on screen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107108" y="1574864"/>
            <a:ext cx="3644646" cy="1006983"/>
            <a:chOff x="0" y="0"/>
            <a:chExt cx="4859528" cy="1342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9528" cy="1342644"/>
            </a:xfrm>
            <a:custGeom>
              <a:avLst/>
              <a:gdLst/>
              <a:ahLst/>
              <a:cxnLst/>
              <a:rect r="r" b="b" t="t" l="l"/>
              <a:pathLst>
                <a:path h="1342644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1342644"/>
                  </a:lnTo>
                  <a:lnTo>
                    <a:pt x="0" y="134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4859528" cy="1399794"/>
            </a:xfrm>
            <a:prstGeom prst="rect">
              <a:avLst/>
            </a:prstGeom>
          </p:spPr>
          <p:txBody>
            <a:bodyPr anchor="t" rtlCol="false" tIns="417322" lIns="417322" bIns="417322" rIns="417322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Narration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816" y="2581846"/>
            <a:ext cx="3644646" cy="1533811"/>
            <a:chOff x="0" y="0"/>
            <a:chExt cx="4859528" cy="20450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0:00-0:30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62462" y="2581846"/>
            <a:ext cx="3644646" cy="1533811"/>
            <a:chOff x="0" y="0"/>
            <a:chExt cx="4859528" cy="20450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Login screen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0">
            <a:off x="8107108" y="2581846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8107108" y="2524696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Nurassyl: How login proccess looks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7816" y="4115657"/>
            <a:ext cx="3644646" cy="2060543"/>
            <a:chOff x="0" y="0"/>
            <a:chExt cx="4859528" cy="2747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59528" cy="2747391"/>
            </a:xfrm>
            <a:custGeom>
              <a:avLst/>
              <a:gdLst/>
              <a:ahLst/>
              <a:cxnLst/>
              <a:rect r="r" b="b" t="t" l="l"/>
              <a:pathLst>
                <a:path h="274739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747391"/>
                  </a:lnTo>
                  <a:lnTo>
                    <a:pt x="0" y="2747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859528" cy="2804541"/>
            </a:xfrm>
            <a:prstGeom prst="rect">
              <a:avLst/>
            </a:prstGeom>
          </p:spPr>
          <p:txBody>
            <a:bodyPr anchor="t" rtlCol="false" tIns="1119632" lIns="1119632" bIns="1119632" rIns="1119632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0:30-1:10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0">
            <a:off x="4462462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3" id="33"/>
          <p:cNvSpPr txBox="true"/>
          <p:nvPr/>
        </p:nvSpPr>
        <p:spPr>
          <a:xfrm rot="0">
            <a:off x="4462462" y="4058507"/>
            <a:ext cx="3644646" cy="21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Main pages, burger-menu, references from stage 1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8107108" y="4115657"/>
            <a:ext cx="3644646" cy="2060543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5" id="35"/>
          <p:cNvSpPr txBox="true"/>
          <p:nvPr/>
        </p:nvSpPr>
        <p:spPr>
          <a:xfrm rot="0">
            <a:off x="8107108" y="4058507"/>
            <a:ext cx="3644646" cy="21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Salima: Website content and design desecions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17816" y="6176200"/>
            <a:ext cx="3644646" cy="1533811"/>
            <a:chOff x="0" y="0"/>
            <a:chExt cx="4859528" cy="20450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59528" cy="2045081"/>
            </a:xfrm>
            <a:custGeom>
              <a:avLst/>
              <a:gdLst/>
              <a:ahLst/>
              <a:cxnLst/>
              <a:rect r="r" b="b" t="t" l="l"/>
              <a:pathLst>
                <a:path h="2045081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081"/>
                  </a:lnTo>
                  <a:lnTo>
                    <a:pt x="0" y="204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859528" cy="2102231"/>
            </a:xfrm>
            <a:prstGeom prst="rect">
              <a:avLst/>
            </a:prstGeom>
          </p:spPr>
          <p:txBody>
            <a:bodyPr anchor="t" rtlCol="false" tIns="768604" lIns="768604" bIns="768604" rIns="76860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1:10-1:40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0">
            <a:off x="4462462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1" id="41"/>
          <p:cNvSpPr txBox="true"/>
          <p:nvPr/>
        </p:nvSpPr>
        <p:spPr>
          <a:xfrm rot="0">
            <a:off x="4462462" y="6119050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Statistics, survey from stage 1</a:t>
            </a:r>
          </a:p>
        </p:txBody>
      </p:sp>
      <p:sp>
        <p:nvSpPr>
          <p:cNvPr name="AutoShape 42" id="42"/>
          <p:cNvSpPr/>
          <p:nvPr/>
        </p:nvSpPr>
        <p:spPr>
          <a:xfrm rot="0">
            <a:off x="8107108" y="6176200"/>
            <a:ext cx="3644646" cy="153381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3" id="43"/>
          <p:cNvSpPr txBox="true"/>
          <p:nvPr/>
        </p:nvSpPr>
        <p:spPr>
          <a:xfrm rot="0">
            <a:off x="8107108" y="6119050"/>
            <a:ext cx="3644646" cy="1590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the purpose of project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17816" y="7710011"/>
            <a:ext cx="3644646" cy="1534096"/>
            <a:chOff x="0" y="0"/>
            <a:chExt cx="4859528" cy="20454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1:40-2:10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462462" y="7710011"/>
            <a:ext cx="3644646" cy="1534096"/>
            <a:chOff x="0" y="0"/>
            <a:chExt cx="4859528" cy="204546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59528" cy="2045462"/>
            </a:xfrm>
            <a:custGeom>
              <a:avLst/>
              <a:gdLst/>
              <a:ahLst/>
              <a:cxnLst/>
              <a:rect r="r" b="b" t="t" l="l"/>
              <a:pathLst>
                <a:path h="2045462" w="4859528">
                  <a:moveTo>
                    <a:pt x="0" y="0"/>
                  </a:moveTo>
                  <a:lnTo>
                    <a:pt x="4859528" y="0"/>
                  </a:lnTo>
                  <a:lnTo>
                    <a:pt x="4859528" y="2045462"/>
                  </a:lnTo>
                  <a:lnTo>
                    <a:pt x="0" y="20454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4859528" cy="2102612"/>
            </a:xfrm>
            <a:prstGeom prst="rect">
              <a:avLst/>
            </a:prstGeom>
          </p:spPr>
          <p:txBody>
            <a:bodyPr anchor="t" rtlCol="false" tIns="768731" lIns="768731" bIns="768731" rIns="768731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Demo sketches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0">
            <a:off x="8107108" y="7710011"/>
            <a:ext cx="3644646" cy="1534096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53" id="53"/>
          <p:cNvSpPr txBox="true"/>
          <p:nvPr/>
        </p:nvSpPr>
        <p:spPr>
          <a:xfrm rot="0">
            <a:off x="8107108" y="7652861"/>
            <a:ext cx="3644646" cy="159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Azhar: Future of the project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6570" y="2145316"/>
            <a:ext cx="78494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C2. The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866" y="3883628"/>
            <a:ext cx="8550878" cy="1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https://drive.google.com/drive/folders/1izH4jyb1Ooi-pvghCGhOfCXmk6A6rqKn?usp=sharing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838" y="1367314"/>
            <a:ext cx="6952107" cy="16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C3. Production note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59" y="3369659"/>
            <a:ext cx="6147054" cy="20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80–120 words, state the tools you used to record and edit, and your export settings — container, codec, resolution, frame rate, bitrate and final file size — and explain why you chose them rather than a higher or lower setting.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008" y="2480119"/>
            <a:ext cx="15103793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75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Part D — Integration with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66478" y="1860613"/>
            <a:ext cx="1252699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https://github.com/d30mantcoder/ICTProject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4407" y="2476024"/>
            <a:ext cx="12339066" cy="198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Git clone it Create virtual environment Install dependencies (requirements.txt) Run bridge-test/app.py via 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37999" y="327565"/>
            <a:ext cx="12398026" cy="90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D1. Updated prototype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61677" y="692468"/>
            <a:ext cx="9105043" cy="10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D2. Change log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461677" y="2039207"/>
            <a:ext cx="17528096" cy="5878258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475964" y="2053495"/>
            <a:ext cx="5833205" cy="1159192"/>
            <a:chOff x="0" y="0"/>
            <a:chExt cx="7777607" cy="15455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Change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09170" y="2053495"/>
            <a:ext cx="5833205" cy="1159192"/>
            <a:chOff x="0" y="0"/>
            <a:chExt cx="7777607" cy="15455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Reason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42280" y="2053495"/>
            <a:ext cx="5833205" cy="1159192"/>
            <a:chOff x="0" y="0"/>
            <a:chExt cx="7777607" cy="15455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795" lIns="518795" bIns="518795" rIns="518795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5964" y="3212783"/>
            <a:ext cx="5833205" cy="1159192"/>
            <a:chOff x="0" y="0"/>
            <a:chExt cx="7777607" cy="1545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fetching from LMS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09170" y="3212783"/>
            <a:ext cx="5833205" cy="1159192"/>
            <a:chOff x="0" y="0"/>
            <a:chExt cx="7777607" cy="15455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To make the website usable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42280" y="3212783"/>
            <a:ext cx="5833205" cy="1159192"/>
            <a:chOff x="0" y="0"/>
            <a:chExt cx="7777607" cy="15455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77607" cy="1545590"/>
            </a:xfrm>
            <a:custGeom>
              <a:avLst/>
              <a:gdLst/>
              <a:ahLst/>
              <a:cxnLst/>
              <a:rect r="r" b="b" t="t" l="l"/>
              <a:pathLst>
                <a:path h="1545590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1545590"/>
                  </a:lnTo>
                  <a:lnTo>
                    <a:pt x="0" y="1545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777607" cy="1602740"/>
            </a:xfrm>
            <a:prstGeom prst="rect">
              <a:avLst/>
            </a:prstGeom>
          </p:spPr>
          <p:txBody>
            <a:bodyPr anchor="t" rtlCol="false" tIns="518668" lIns="518668" bIns="518668" rIns="51866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Using real LMS data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964" y="4371975"/>
            <a:ext cx="5833205" cy="1765554"/>
            <a:chOff x="0" y="0"/>
            <a:chExt cx="7777607" cy="235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Redesign of UX of LMS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09170" y="4371975"/>
            <a:ext cx="5833205" cy="1765554"/>
            <a:chOff x="0" y="0"/>
            <a:chExt cx="7777607" cy="235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77607" cy="2354072"/>
            </a:xfrm>
            <a:custGeom>
              <a:avLst/>
              <a:gdLst/>
              <a:ahLst/>
              <a:cxnLst/>
              <a:rect r="r" b="b" t="t" l="l"/>
              <a:pathLst>
                <a:path h="2354072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072"/>
                  </a:lnTo>
                  <a:lnTo>
                    <a:pt x="0" y="2354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777607" cy="2411222"/>
            </a:xfrm>
            <a:prstGeom prst="rect">
              <a:avLst/>
            </a:prstGeom>
          </p:spPr>
          <p:txBody>
            <a:bodyPr anchor="t" rtlCol="false" tIns="922909" lIns="922909" bIns="922909" rIns="922909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UX of original LMS was uncomfortable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0">
            <a:off x="12142280" y="4371975"/>
            <a:ext cx="5833205" cy="176555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39" id="39"/>
          <p:cNvSpPr txBox="true"/>
          <p:nvPr/>
        </p:nvSpPr>
        <p:spPr>
          <a:xfrm rot="0">
            <a:off x="12142280" y="4314825"/>
            <a:ext cx="5833205" cy="18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Most useful buttons takes place on the main page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75964" y="6137529"/>
            <a:ext cx="5833205" cy="1765744"/>
            <a:chOff x="0" y="0"/>
            <a:chExt cx="7777607" cy="23543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Added asynchronius sessions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6309170" y="6137529"/>
            <a:ext cx="5833205" cy="1765744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5" id="45"/>
          <p:cNvSpPr txBox="true"/>
          <p:nvPr/>
        </p:nvSpPr>
        <p:spPr>
          <a:xfrm rot="0">
            <a:off x="6309170" y="6080379"/>
            <a:ext cx="5833205" cy="182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It was impossible to work for more than 1 person at the same time before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42280" y="6137529"/>
            <a:ext cx="5833205" cy="1765744"/>
            <a:chOff x="0" y="0"/>
            <a:chExt cx="7777607" cy="23543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777607" cy="2354326"/>
            </a:xfrm>
            <a:custGeom>
              <a:avLst/>
              <a:gdLst/>
              <a:ahLst/>
              <a:cxnLst/>
              <a:rect r="r" b="b" t="t" l="l"/>
              <a:pathLst>
                <a:path h="2354326" w="7777607">
                  <a:moveTo>
                    <a:pt x="0" y="0"/>
                  </a:moveTo>
                  <a:lnTo>
                    <a:pt x="7777607" y="0"/>
                  </a:lnTo>
                  <a:lnTo>
                    <a:pt x="7777607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7777607" cy="2411476"/>
            </a:xfrm>
            <a:prstGeom prst="rect">
              <a:avLst/>
            </a:prstGeom>
          </p:spPr>
          <p:txBody>
            <a:bodyPr anchor="t" rtlCol="false" tIns="923163" lIns="923163" bIns="923163" rIns="923163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Server handles multi-user sessions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0">
            <a:off x="9944100" y="1028700"/>
            <a:ext cx="7315200" cy="5486400"/>
          </a:xfrm>
          <a:prstGeom prst="rect">
            <a:avLst/>
          </a:prstGeom>
          <a:solidFill>
            <a:srgbClr val="F0E9FF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9958388" y="1042988"/>
            <a:ext cx="2428875" cy="895826"/>
            <a:chOff x="0" y="0"/>
            <a:chExt cx="3238500" cy="11944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154" lIns="343154" bIns="343154" rIns="343154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Members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87262" y="1042988"/>
            <a:ext cx="2428875" cy="895826"/>
            <a:chOff x="0" y="0"/>
            <a:chExt cx="3238500" cy="11944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154" lIns="343154" bIns="343154" rIns="343154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816138" y="1042988"/>
            <a:ext cx="2428875" cy="895826"/>
            <a:chOff x="0" y="0"/>
            <a:chExt cx="3238500" cy="1194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C6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154" lIns="343154" bIns="343154" rIns="343154"/>
            <a:lstStyle/>
            <a:p>
              <a:pPr algn="l">
                <a:lnSpc>
                  <a:spcPts val="3149"/>
                </a:lnSpc>
              </a:pPr>
              <a:r>
                <a:rPr lang="en-US" b="true" sz="2250">
                  <a:solidFill>
                    <a:srgbClr val="2016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58388" y="1938814"/>
            <a:ext cx="2428875" cy="895826"/>
            <a:chOff x="0" y="0"/>
            <a:chExt cx="3238500" cy="11944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027" lIns="343027" bIns="343027" rIns="343027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Salima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87262" y="1938814"/>
            <a:ext cx="2428875" cy="895826"/>
            <a:chOff x="0" y="0"/>
            <a:chExt cx="3238500" cy="11944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027" lIns="343027" bIns="343027" rIns="343027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C,D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816138" y="1938814"/>
            <a:ext cx="2428875" cy="895826"/>
            <a:chOff x="0" y="0"/>
            <a:chExt cx="3238500" cy="11944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38500" cy="1194435"/>
            </a:xfrm>
            <a:custGeom>
              <a:avLst/>
              <a:gdLst/>
              <a:ahLst/>
              <a:cxnLst/>
              <a:rect r="r" b="b" t="t" l="l"/>
              <a:pathLst>
                <a:path h="1194435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194435"/>
                  </a:lnTo>
                  <a:lnTo>
                    <a:pt x="0" y="1194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238500" cy="1251585"/>
            </a:xfrm>
            <a:prstGeom prst="rect">
              <a:avLst/>
            </a:prstGeom>
          </p:spPr>
          <p:txBody>
            <a:bodyPr anchor="t" rtlCol="false" tIns="343027" lIns="343027" bIns="343027" rIns="343027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Editing the video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58388" y="2834545"/>
            <a:ext cx="2428875" cy="1832991"/>
            <a:chOff x="0" y="0"/>
            <a:chExt cx="3238500" cy="24439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38500" cy="2443988"/>
            </a:xfrm>
            <a:custGeom>
              <a:avLst/>
              <a:gdLst/>
              <a:ahLst/>
              <a:cxnLst/>
              <a:rect r="r" b="b" t="t" l="l"/>
              <a:pathLst>
                <a:path h="2443988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3988"/>
                  </a:lnTo>
                  <a:lnTo>
                    <a:pt x="0" y="2443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38500" cy="2443988"/>
            </a:xfrm>
            <a:custGeom>
              <a:avLst/>
              <a:gdLst/>
              <a:ahLst/>
              <a:cxnLst/>
              <a:rect r="r" b="b" t="t" l="l"/>
              <a:pathLst>
                <a:path h="2443988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3988"/>
                  </a:lnTo>
                  <a:lnTo>
                    <a:pt x="0" y="2443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238500" cy="2501138"/>
            </a:xfrm>
            <a:prstGeom prst="rect">
              <a:avLst/>
            </a:prstGeom>
          </p:spPr>
          <p:txBody>
            <a:bodyPr anchor="t" rtlCol="false" tIns="967994" lIns="967994" bIns="967994" rIns="96799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Azhar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87262" y="2834545"/>
            <a:ext cx="2428875" cy="1832991"/>
            <a:chOff x="0" y="0"/>
            <a:chExt cx="3238500" cy="24439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38500" cy="2443988"/>
            </a:xfrm>
            <a:custGeom>
              <a:avLst/>
              <a:gdLst/>
              <a:ahLst/>
              <a:cxnLst/>
              <a:rect r="r" b="b" t="t" l="l"/>
              <a:pathLst>
                <a:path h="2443988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3988"/>
                  </a:lnTo>
                  <a:lnTo>
                    <a:pt x="0" y="2443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38500" cy="2443988"/>
            </a:xfrm>
            <a:custGeom>
              <a:avLst/>
              <a:gdLst/>
              <a:ahLst/>
              <a:cxnLst/>
              <a:rect r="r" b="b" t="t" l="l"/>
              <a:pathLst>
                <a:path h="2443988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3988"/>
                  </a:lnTo>
                  <a:lnTo>
                    <a:pt x="0" y="2443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238500" cy="2501138"/>
            </a:xfrm>
            <a:prstGeom prst="rect">
              <a:avLst/>
            </a:prstGeom>
          </p:spPr>
          <p:txBody>
            <a:bodyPr anchor="t" rtlCol="false" tIns="967994" lIns="967994" bIns="967994" rIns="967994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A,D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0">
            <a:off x="14816138" y="2834545"/>
            <a:ext cx="2428875" cy="1832991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grpSp>
        <p:nvGrpSpPr>
          <p:cNvPr name="Group 38" id="38"/>
          <p:cNvGrpSpPr/>
          <p:nvPr/>
        </p:nvGrpSpPr>
        <p:grpSpPr>
          <a:xfrm rot="0">
            <a:off x="9958388" y="4667536"/>
            <a:ext cx="2428875" cy="1833277"/>
            <a:chOff x="0" y="0"/>
            <a:chExt cx="3238500" cy="24443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38500" cy="2444369"/>
            </a:xfrm>
            <a:custGeom>
              <a:avLst/>
              <a:gdLst/>
              <a:ahLst/>
              <a:cxnLst/>
              <a:rect r="r" b="b" t="t" l="l"/>
              <a:pathLst>
                <a:path h="2444369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4369"/>
                  </a:lnTo>
                  <a:lnTo>
                    <a:pt x="0" y="2444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38500" cy="2444369"/>
            </a:xfrm>
            <a:custGeom>
              <a:avLst/>
              <a:gdLst/>
              <a:ahLst/>
              <a:cxnLst/>
              <a:rect r="r" b="b" t="t" l="l"/>
              <a:pathLst>
                <a:path h="2444369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4369"/>
                  </a:lnTo>
                  <a:lnTo>
                    <a:pt x="0" y="2444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3238500" cy="2501519"/>
            </a:xfrm>
            <a:prstGeom prst="rect">
              <a:avLst/>
            </a:prstGeom>
          </p:spPr>
          <p:txBody>
            <a:bodyPr anchor="t" rtlCol="false" tIns="968248" lIns="968248" bIns="968248" rIns="96824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Nurasyl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387262" y="4667536"/>
            <a:ext cx="2428875" cy="1833277"/>
            <a:chOff x="0" y="0"/>
            <a:chExt cx="3238500" cy="24443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38500" cy="2444369"/>
            </a:xfrm>
            <a:custGeom>
              <a:avLst/>
              <a:gdLst/>
              <a:ahLst/>
              <a:cxnLst/>
              <a:rect r="r" b="b" t="t" l="l"/>
              <a:pathLst>
                <a:path h="2444369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4369"/>
                  </a:lnTo>
                  <a:lnTo>
                    <a:pt x="0" y="2444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E9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38500" cy="2444369"/>
            </a:xfrm>
            <a:custGeom>
              <a:avLst/>
              <a:gdLst/>
              <a:ahLst/>
              <a:cxnLst/>
              <a:rect r="r" b="b" t="t" l="l"/>
              <a:pathLst>
                <a:path h="2444369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2444369"/>
                  </a:lnTo>
                  <a:lnTo>
                    <a:pt x="0" y="2444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C6B4EF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3238500" cy="2501519"/>
            </a:xfrm>
            <a:prstGeom prst="rect">
              <a:avLst/>
            </a:prstGeom>
          </p:spPr>
          <p:txBody>
            <a:bodyPr anchor="t" rtlCol="false" tIns="968248" lIns="968248" bIns="968248" rIns="968248"/>
            <a:lstStyle/>
            <a:p>
              <a:pPr algn="l">
                <a:lnSpc>
                  <a:spcPts val="3149"/>
                </a:lnSpc>
              </a:pPr>
              <a:r>
                <a:rPr lang="en-US" sz="2250">
                  <a:solidFill>
                    <a:srgbClr val="20163D"/>
                  </a:solidFill>
                  <a:latin typeface="Arial"/>
                  <a:ea typeface="Arial"/>
                  <a:cs typeface="Arial"/>
                  <a:sym typeface="Arial"/>
                </a:rPr>
                <a:t>B,D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0">
            <a:off x="14816138" y="4667536"/>
            <a:ext cx="2428875" cy="1833277"/>
          </a:xfrm>
          <a:prstGeom prst="rect">
            <a:avLst/>
          </a:prstGeom>
          <a:solidFill>
            <a:srgbClr val="F0E9FF"/>
          </a:solidFill>
          <a:ln w="28575" cap="sq">
            <a:solidFill>
              <a:srgbClr val="C6B4EF"/>
            </a:solidFill>
            <a:prstDash val="solid"/>
            <a:miter/>
          </a:ln>
        </p:spPr>
      </p:sp>
      <p:sp>
        <p:nvSpPr>
          <p:cNvPr name="TextBox 47" id="47"/>
          <p:cNvSpPr txBox="true"/>
          <p:nvPr/>
        </p:nvSpPr>
        <p:spPr>
          <a:xfrm rot="0">
            <a:off x="1319689" y="2413064"/>
            <a:ext cx="6118670" cy="166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contribution table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57600" y="1302068"/>
            <a:ext cx="1573244" cy="7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20163D"/>
                </a:solidFill>
                <a:latin typeface="Arial Bold"/>
                <a:ea typeface="Arial Bold"/>
                <a:cs typeface="Arial Bold"/>
                <a:sym typeface="Arial Bold"/>
              </a:rPr>
              <a:t>D3.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816138" y="2777395"/>
            <a:ext cx="2428875" cy="1890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Comparing the multimedia formats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816138" y="4610386"/>
            <a:ext cx="2428875" cy="189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Integration and optimization of multimedia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7952" y="2305241"/>
            <a:ext cx="11431810" cy="52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