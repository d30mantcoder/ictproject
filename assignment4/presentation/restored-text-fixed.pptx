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rial Bold" charset="1" panose="020B0704020202020204"/>
      <p:regular r:id="rId25"/>
    </p:embeddedFont>
    <p:embeddedFont>
      <p:font typeface="Arial" charset="1" panose="020B0604020202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font" Target="fonts/font25.fntdata"/><Relationship Id="rId26" Type="http://schemas.openxmlformats.org/officeDocument/2006/relationships/font" Target="fonts/font2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527393" y="1842516"/>
            <a:ext cx="11233118" cy="2982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1" sz="7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Multimedia Technologies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75865" y="760095"/>
            <a:ext cx="6735985" cy="770001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4500"/>
              </a:lnSpc>
            </a:pPr>
            <a:r>
              <a:rPr lang="en-US" sz="3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Assignment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15334" y="5095399"/>
            <a:ext cx="10656951" cy="107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Team: Salima Zimbekkyzy, Azhar Saparzholova, Nurassyl Oralbekov Group: SE-2623 Course: ICT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2960" y="347472"/>
            <a:ext cx="16642080" cy="621792"/>
          </a:xfrm>
          <a:prstGeom prst="rect">
            <a:avLst/>
          </a:prstGeom>
        </p:spPr>
        <p:txBody>
          <a:bodyPr anchor="t" rtlCol="false" tIns="36576" bIns="36576" wrap="none">
            <a:noAutofit/>
          </a:bodyPr>
          <a:lstStyle/>
          <a:p>
            <a:pPr algn="l">
              <a:lnSpc>
                <a:spcPts val="9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Part A — Multimedia formats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22960" y="1600200"/>
          <a:ext cx="16642080" cy="5056632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9326880"/>
              </a:tblGrid>
              <a:tr h="777240">
                <a:tc>
                  <a:txBody>
                    <a:bodyPr anchor="t" rtlCol="false"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FORMAT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0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KEY TRAIT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0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BEST FIT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0DC"/>
                    </a:solidFill>
                  </a:tcPr>
                </a:tc>
              </a:tr>
              <a:tr h="1426464">
                <a:tc>
                  <a:txBody>
                    <a:bodyPr anchor="t" rtlCol="false"/>
                    <a:lstStyle/>
                    <a:p>
                      <a:pPr algn="l"/>
                      <a:r>
                        <a:rPr sz="1800" b="1">
                          <a:solidFill>
                            <a:srgbClr val="2B2248"/>
                          </a:solidFill>
                          <a:latin typeface="Arial"/>
                        </a:rPr>
                        <a:t>PNG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E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sz="1800" b="0">
                          <a:solidFill>
                            <a:srgbClr val="2B2248"/>
                          </a:solidFill>
                          <a:latin typeface="Arial"/>
                        </a:rPr>
                        <a:t>Lossless; supports transparency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sz="1800" b="0">
                          <a:solidFill>
                            <a:srgbClr val="2B2248"/>
                          </a:solidFill>
                          <a:latin typeface="Arial"/>
                        </a:rPr>
                        <a:t>Screenshots and graphics where crisp text or edges matter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F"/>
                    </a:solidFill>
                  </a:tcPr>
                </a:tc>
              </a:tr>
              <a:tr h="1426464">
                <a:tc>
                  <a:txBody>
                    <a:bodyPr anchor="t" rtlCol="false"/>
                    <a:lstStyle/>
                    <a:p>
                      <a:pPr algn="l"/>
                      <a:r>
                        <a:rPr sz="1800" b="1">
                          <a:solidFill>
                            <a:srgbClr val="2B2248"/>
                          </a:solidFill>
                          <a:latin typeface="Arial"/>
                        </a:rPr>
                        <a:t>JPEG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E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sz="1800" b="0">
                          <a:solidFill>
                            <a:srgbClr val="2B2248"/>
                          </a:solidFill>
                          <a:latin typeface="Arial"/>
                        </a:rPr>
                        <a:t>Lossy; compact for photographs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sz="1800" b="0">
                          <a:solidFill>
                            <a:srgbClr val="2B2248"/>
                          </a:solidFill>
                          <a:latin typeface="Arial"/>
                        </a:rPr>
                        <a:t>Photos and images where a smaller file is more important than perfect detail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26464">
                <a:tc>
                  <a:txBody>
                    <a:bodyPr anchor="t" rtlCol="false"/>
                    <a:lstStyle/>
                    <a:p>
                      <a:pPr algn="l"/>
                      <a:r>
                        <a:rPr sz="1800" b="1">
                          <a:solidFill>
                            <a:srgbClr val="2B2248"/>
                          </a:solidFill>
                          <a:latin typeface="Arial"/>
                        </a:rPr>
                        <a:t>WebP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E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sz="1800" b="0">
                          <a:solidFill>
                            <a:srgbClr val="2B2248"/>
                          </a:solidFill>
                          <a:latin typeface="Arial"/>
                        </a:rPr>
                        <a:t>Lossy or lossless; compact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/>
                      <a:r>
                        <a:rPr sz="1800" b="0">
                          <a:solidFill>
                            <a:srgbClr val="2B2248"/>
                          </a:solidFill>
                          <a:latin typeface="Arial"/>
                        </a:rPr>
                        <a:t>Web images and the attendance preview used in our prototype</a:t>
                      </a:r>
                    </a:p>
                  </a:txBody>
                  <a:tcPr marL="201168" marR="182880" marT="64008" marB="64008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7086600"/>
            <a:ext cx="16276320" cy="512064"/>
          </a:xfrm>
          <a:prstGeom prst="rect">
            <a:avLst/>
          </a:prstGeom>
          <a:noFill/>
        </p:spPr>
        <p:txBody>
          <a:bodyPr wrap="square" tIns="36576" bIns="36576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In our prototype: WebP for the attendance preview; inline SVG for interface icons.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A1. Format comparison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AutoShape 6" id="6"/>
          <p:cNvSpPr/>
          <p:nvPr/>
        </p:nvSpPr>
        <p:spPr>
          <a:xfrm rot="0">
            <a:off x="990600" y="1752600"/>
            <a:ext cx="195262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1104900" y="1809750"/>
            <a:ext cx="742474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b="1" sz="169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Format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2943225" y="1752600"/>
            <a:ext cx="109537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9" id="9"/>
          <p:cNvSpPr txBox="true"/>
          <p:nvPr/>
        </p:nvSpPr>
        <p:spPr>
          <a:xfrm rot="0">
            <a:off x="3057525" y="1809750"/>
            <a:ext cx="495110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b="1" sz="16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4038600" y="1752600"/>
            <a:ext cx="223837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1" id="11"/>
          <p:cNvSpPr txBox="true"/>
          <p:nvPr/>
        </p:nvSpPr>
        <p:spPr>
          <a:xfrm rot="0">
            <a:off x="4152900" y="1809750"/>
            <a:ext cx="1399984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b="1" sz="170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Compression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6276975" y="1752600"/>
            <a:ext cx="22860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6391275" y="1809750"/>
            <a:ext cx="1521333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b="1" sz="171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Alpha / motion</a:t>
            </a:r>
          </a:p>
        </p:txBody>
      </p:sp>
      <p:sp>
        <p:nvSpPr>
          <p:cNvPr name="AutoShape 14" id="14"/>
          <p:cNvSpPr/>
          <p:nvPr/>
        </p:nvSpPr>
        <p:spPr>
          <a:xfrm rot="0">
            <a:off x="8562975" y="1752600"/>
            <a:ext cx="20002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8677275" y="1809750"/>
            <a:ext cx="121367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b="1" sz="170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Typical size</a:t>
            </a:r>
          </a:p>
        </p:txBody>
      </p:sp>
      <p:sp>
        <p:nvSpPr>
          <p:cNvPr name="AutoShape 16" id="16"/>
          <p:cNvSpPr/>
          <p:nvPr/>
        </p:nvSpPr>
        <p:spPr>
          <a:xfrm rot="0">
            <a:off x="10563225" y="1752600"/>
            <a:ext cx="17145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7" id="17"/>
          <p:cNvSpPr txBox="true"/>
          <p:nvPr/>
        </p:nvSpPr>
        <p:spPr>
          <a:xfrm rot="0">
            <a:off x="10677525" y="1809750"/>
            <a:ext cx="839724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b="1" sz="16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</a:p>
        </p:txBody>
      </p:sp>
      <p:sp>
        <p:nvSpPr>
          <p:cNvPr name="AutoShape 18" id="18"/>
          <p:cNvSpPr/>
          <p:nvPr/>
        </p:nvSpPr>
        <p:spPr>
          <a:xfrm rot="0">
            <a:off x="12277725" y="1752600"/>
            <a:ext cx="501967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9" id="19"/>
          <p:cNvSpPr txBox="true"/>
          <p:nvPr/>
        </p:nvSpPr>
        <p:spPr>
          <a:xfrm rot="0">
            <a:off x="12392025" y="1809750"/>
            <a:ext cx="1181100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b="1" sz="170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use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4900" y="2286000"/>
            <a:ext cx="47472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78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57525" y="2286000"/>
            <a:ext cx="609028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52900" y="2286000"/>
            <a:ext cx="852297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9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Lossless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91275" y="2286000"/>
            <a:ext cx="1290923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8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Alpha; APNG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77275" y="2286000"/>
            <a:ext cx="1279017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Large photos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77525" y="2286000"/>
            <a:ext cx="584644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92025" y="2286000"/>
            <a:ext cx="1157002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UI evidence</a:t>
            </a:r>
          </a:p>
        </p:txBody>
      </p:sp>
      <p:sp>
        <p:nvSpPr>
          <p:cNvPr name="AutoShape 27" id="27"/>
          <p:cNvSpPr/>
          <p:nvPr/>
        </p:nvSpPr>
        <p:spPr>
          <a:xfrm rot="0">
            <a:off x="990600" y="26765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8" id="28"/>
          <p:cNvSpPr txBox="true"/>
          <p:nvPr/>
        </p:nvSpPr>
        <p:spPr>
          <a:xfrm rot="0">
            <a:off x="1104900" y="2724150"/>
            <a:ext cx="572262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JPEG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57525" y="2724150"/>
            <a:ext cx="609028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52900" y="2724150"/>
            <a:ext cx="572357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Lossy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391275" y="2724150"/>
            <a:ext cx="706374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94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Neither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677275" y="2724150"/>
            <a:ext cx="1266539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Small photos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677525" y="2724150"/>
            <a:ext cx="584644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92025" y="2724150"/>
            <a:ext cx="682085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9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Photos</a:t>
            </a:r>
          </a:p>
        </p:txBody>
      </p:sp>
      <p:sp>
        <p:nvSpPr>
          <p:cNvPr name="AutoShape 35" id="35"/>
          <p:cNvSpPr/>
          <p:nvPr/>
        </p:nvSpPr>
        <p:spPr>
          <a:xfrm rot="0">
            <a:off x="990600" y="31146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36" id="36"/>
          <p:cNvSpPr txBox="true"/>
          <p:nvPr/>
        </p:nvSpPr>
        <p:spPr>
          <a:xfrm rot="0">
            <a:off x="1104900" y="3162300"/>
            <a:ext cx="59264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8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WebP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057525" y="3162300"/>
            <a:ext cx="609028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152900" y="3162300"/>
            <a:ext cx="1169194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Both modes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391275" y="3162300"/>
            <a:ext cx="1467612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1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Alpha + motion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677275" y="3162300"/>
            <a:ext cx="87677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Compact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677525" y="3162300"/>
            <a:ext cx="742760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9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Modern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392025" y="3162300"/>
            <a:ext cx="1205674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App preview</a:t>
            </a:r>
          </a:p>
        </p:txBody>
      </p:sp>
      <p:sp>
        <p:nvSpPr>
          <p:cNvPr name="AutoShape 43" id="43"/>
          <p:cNvSpPr/>
          <p:nvPr/>
        </p:nvSpPr>
        <p:spPr>
          <a:xfrm rot="0">
            <a:off x="990600" y="35528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44" id="44"/>
          <p:cNvSpPr txBox="true"/>
          <p:nvPr/>
        </p:nvSpPr>
        <p:spPr>
          <a:xfrm rot="0">
            <a:off x="1104900" y="3600450"/>
            <a:ext cx="462724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7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057525" y="3600450"/>
            <a:ext cx="609028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152900" y="3600450"/>
            <a:ext cx="1156811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Vector / text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391275" y="3600450"/>
            <a:ext cx="1467612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1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Alpha + motion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677275" y="3600450"/>
            <a:ext cx="978122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Tiny icons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677525" y="3600450"/>
            <a:ext cx="584644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392025" y="3600450"/>
            <a:ext cx="791432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9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UI icons</a:t>
            </a:r>
          </a:p>
        </p:txBody>
      </p:sp>
      <p:sp>
        <p:nvSpPr>
          <p:cNvPr name="AutoShape 51" id="51"/>
          <p:cNvSpPr/>
          <p:nvPr/>
        </p:nvSpPr>
        <p:spPr>
          <a:xfrm rot="0">
            <a:off x="990600" y="39909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52" id="52"/>
          <p:cNvSpPr txBox="true"/>
          <p:nvPr/>
        </p:nvSpPr>
        <p:spPr>
          <a:xfrm rot="0">
            <a:off x="1104900" y="4038600"/>
            <a:ext cx="450532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7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MP3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057525" y="4038600"/>
            <a:ext cx="56035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Audio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152900" y="4038600"/>
            <a:ext cx="572357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Lossy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391275" y="4038600"/>
            <a:ext cx="365189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64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677275" y="4038600"/>
            <a:ext cx="547878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Small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677525" y="4038600"/>
            <a:ext cx="584644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392025" y="4038600"/>
            <a:ext cx="149780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1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Speech / music</a:t>
            </a:r>
          </a:p>
        </p:txBody>
      </p:sp>
      <p:sp>
        <p:nvSpPr>
          <p:cNvPr name="AutoShape 59" id="59"/>
          <p:cNvSpPr/>
          <p:nvPr/>
        </p:nvSpPr>
        <p:spPr>
          <a:xfrm rot="0">
            <a:off x="990600" y="44291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60" id="60"/>
          <p:cNvSpPr txBox="true"/>
          <p:nvPr/>
        </p:nvSpPr>
        <p:spPr>
          <a:xfrm rot="0">
            <a:off x="1104900" y="4476750"/>
            <a:ext cx="1107758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AAC (M4A)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057525" y="4476750"/>
            <a:ext cx="56035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Audio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152900" y="4476750"/>
            <a:ext cx="572357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Lossy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391275" y="4476750"/>
            <a:ext cx="365189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64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677275" y="4476750"/>
            <a:ext cx="547878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Small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677525" y="4476750"/>
            <a:ext cx="669893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9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Broad*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392025" y="4476750"/>
            <a:ext cx="901160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Narration</a:t>
            </a:r>
          </a:p>
        </p:txBody>
      </p:sp>
      <p:sp>
        <p:nvSpPr>
          <p:cNvPr name="AutoShape 67" id="67"/>
          <p:cNvSpPr/>
          <p:nvPr/>
        </p:nvSpPr>
        <p:spPr>
          <a:xfrm rot="0">
            <a:off x="990600" y="48672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68" id="68"/>
          <p:cNvSpPr txBox="true"/>
          <p:nvPr/>
        </p:nvSpPr>
        <p:spPr>
          <a:xfrm rot="0">
            <a:off x="1104900" y="4914900"/>
            <a:ext cx="116833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WAV (PCM)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3057525" y="4914900"/>
            <a:ext cx="56035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Audio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152900" y="4914900"/>
            <a:ext cx="1473422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1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Uncompressed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391275" y="4914900"/>
            <a:ext cx="365189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64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677275" y="4914900"/>
            <a:ext cx="56035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Large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677525" y="4914900"/>
            <a:ext cx="669893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9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Broad*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392025" y="4914900"/>
            <a:ext cx="140036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Editing master</a:t>
            </a:r>
          </a:p>
        </p:txBody>
      </p:sp>
      <p:sp>
        <p:nvSpPr>
          <p:cNvPr name="AutoShape 75" id="75"/>
          <p:cNvSpPr/>
          <p:nvPr/>
        </p:nvSpPr>
        <p:spPr>
          <a:xfrm rot="0">
            <a:off x="990600" y="53054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76" id="76"/>
          <p:cNvSpPr txBox="true"/>
          <p:nvPr/>
        </p:nvSpPr>
        <p:spPr>
          <a:xfrm rot="0">
            <a:off x="1104900" y="5353050"/>
            <a:ext cx="109594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MP4 H.264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057525" y="5353050"/>
            <a:ext cx="556450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4152900" y="5353050"/>
            <a:ext cx="127844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8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Usually lossy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6391275" y="5353050"/>
            <a:ext cx="1620012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1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Motion; no alpha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8677275" y="5353050"/>
            <a:ext cx="1303115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8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Bitrate-based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677525" y="5353050"/>
            <a:ext cx="669893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9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Broad*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392025" y="5353050"/>
            <a:ext cx="1400175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Demo delivery</a:t>
            </a:r>
          </a:p>
        </p:txBody>
      </p:sp>
      <p:sp>
        <p:nvSpPr>
          <p:cNvPr name="AutoShape 83" id="83"/>
          <p:cNvSpPr/>
          <p:nvPr/>
        </p:nvSpPr>
        <p:spPr>
          <a:xfrm rot="0">
            <a:off x="990600" y="57435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84" id="84"/>
          <p:cNvSpPr txBox="true"/>
          <p:nvPr/>
        </p:nvSpPr>
        <p:spPr>
          <a:xfrm rot="0">
            <a:off x="1104900" y="5791200"/>
            <a:ext cx="1104043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WebM VP9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3057525" y="5791200"/>
            <a:ext cx="556450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4152900" y="5791200"/>
            <a:ext cx="127844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8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Usually lossy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6391275" y="5791200"/>
            <a:ext cx="1400651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Motion; alpha*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8677275" y="5791200"/>
            <a:ext cx="1303115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8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Bitrate-based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0677525" y="5791200"/>
            <a:ext cx="828104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98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Modern*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2392025" y="5791200"/>
            <a:ext cx="137207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 playback</a:t>
            </a:r>
          </a:p>
        </p:txBody>
      </p:sp>
      <p:sp>
        <p:nvSpPr>
          <p:cNvPr name="AutoShape 91" id="91"/>
          <p:cNvSpPr/>
          <p:nvPr/>
        </p:nvSpPr>
        <p:spPr>
          <a:xfrm rot="0">
            <a:off x="990600" y="61817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92" id="92"/>
          <p:cNvSpPr txBox="true"/>
          <p:nvPr/>
        </p:nvSpPr>
        <p:spPr>
          <a:xfrm rot="0">
            <a:off x="1104900" y="6229350"/>
            <a:ext cx="1144524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MOV H.264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3057525" y="6229350"/>
            <a:ext cx="556450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68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4152900" y="6229350"/>
            <a:ext cx="127844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8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Usually lossy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6391275" y="6229350"/>
            <a:ext cx="1620012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1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Motion; no alpha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8677275" y="6229350"/>
            <a:ext cx="1303115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8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Bitrate-based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0677525" y="6229350"/>
            <a:ext cx="1169003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0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Limited web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2392025" y="6229350"/>
            <a:ext cx="1595152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1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Editing / transfer</a:t>
            </a:r>
          </a:p>
        </p:txBody>
      </p:sp>
      <p:sp>
        <p:nvSpPr>
          <p:cNvPr name="AutoShape 99" id="99"/>
          <p:cNvSpPr/>
          <p:nvPr/>
        </p:nvSpPr>
        <p:spPr>
          <a:xfrm rot="0">
            <a:off x="990600" y="66198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100" id="100"/>
          <p:cNvSpPr txBox="true"/>
          <p:nvPr/>
        </p:nvSpPr>
        <p:spPr>
          <a:xfrm rot="0">
            <a:off x="1104900" y="6753225"/>
            <a:ext cx="11675745" cy="338137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437"/>
              </a:lnSpc>
            </a:pPr>
            <a:r>
              <a:rPr lang="en-US" b="1" sz="194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 container (MP4) packages tracks and metadata; a codec (H.264) encodes and decodes the media.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104900" y="7219950"/>
            <a:ext cx="9580054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2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*Codec, OS and device support vary. File size depends on content, resolution, bitrate and duration.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104900" y="7515225"/>
            <a:ext cx="646585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2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Sources: MDN, Image file type guide and Media container formats.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A2. Measured experiment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AutoShape 6" id="6"/>
          <p:cNvSpPr/>
          <p:nvPr/>
        </p:nvSpPr>
        <p:spPr>
          <a:xfrm rot="0">
            <a:off x="990600" y="1752600"/>
            <a:ext cx="45720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1104900" y="1800225"/>
            <a:ext cx="2143696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b="1" sz="186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file / export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5562600" y="1752600"/>
            <a:ext cx="48577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9" id="9"/>
          <p:cNvSpPr txBox="true"/>
          <p:nvPr/>
        </p:nvSpPr>
        <p:spPr>
          <a:xfrm rot="0">
            <a:off x="5676900" y="1800225"/>
            <a:ext cx="2685860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b="1" sz="186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Setting and dimensions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10420350" y="1752600"/>
            <a:ext cx="19050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1" id="11"/>
          <p:cNvSpPr txBox="true"/>
          <p:nvPr/>
        </p:nvSpPr>
        <p:spPr>
          <a:xfrm rot="0">
            <a:off x="10534650" y="1800225"/>
            <a:ext cx="1111472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b="1" sz="185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Size (KiB)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12325350" y="1752600"/>
            <a:ext cx="49720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12439650" y="1800225"/>
            <a:ext cx="1892617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b="1" sz="186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Quality evidence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4900" y="2276475"/>
            <a:ext cx="2528602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attendance-preview.png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76900" y="2276475"/>
            <a:ext cx="2032064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3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PNG, 390 × 844 px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34650" y="2276475"/>
            <a:ext cx="595884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34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58.39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39650" y="2276475"/>
            <a:ext cx="3163634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Original; visual check pending</a:t>
            </a:r>
          </a:p>
        </p:txBody>
      </p:sp>
      <p:sp>
        <p:nvSpPr>
          <p:cNvPr name="AutoShape 18" id="18"/>
          <p:cNvSpPr/>
          <p:nvPr/>
        </p:nvSpPr>
        <p:spPr>
          <a:xfrm rot="0">
            <a:off x="990600" y="287655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19" id="19"/>
          <p:cNvSpPr txBox="true"/>
          <p:nvPr/>
        </p:nvSpPr>
        <p:spPr>
          <a:xfrm rot="0">
            <a:off x="1104900" y="2914650"/>
            <a:ext cx="2449163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attendance-preview.jpg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76900" y="2914650"/>
            <a:ext cx="2654236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JPEG Q80, 390 × 844 px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34650" y="2914650"/>
            <a:ext cx="1323784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5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Not supplied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39650" y="2914650"/>
            <a:ext cx="1714214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Export + inspect</a:t>
            </a:r>
          </a:p>
        </p:txBody>
      </p:sp>
      <p:sp>
        <p:nvSpPr>
          <p:cNvPr name="AutoShape 23" id="23"/>
          <p:cNvSpPr/>
          <p:nvPr/>
        </p:nvSpPr>
        <p:spPr>
          <a:xfrm rot="0">
            <a:off x="990600" y="35147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4" id="24"/>
          <p:cNvSpPr txBox="true"/>
          <p:nvPr/>
        </p:nvSpPr>
        <p:spPr>
          <a:xfrm rot="0">
            <a:off x="1104900" y="3552825"/>
            <a:ext cx="2885789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attendance-preview-low.jpg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76900" y="3552825"/>
            <a:ext cx="2654236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JPEG Q40, 390 × 844 px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34650" y="3552825"/>
            <a:ext cx="1323784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5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Not supplied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39650" y="3552825"/>
            <a:ext cx="1714214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Export + inspect</a:t>
            </a:r>
          </a:p>
        </p:txBody>
      </p:sp>
      <p:sp>
        <p:nvSpPr>
          <p:cNvPr name="AutoShape 28" id="28"/>
          <p:cNvSpPr/>
          <p:nvPr/>
        </p:nvSpPr>
        <p:spPr>
          <a:xfrm rot="0">
            <a:off x="990600" y="415290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9" id="29"/>
          <p:cNvSpPr txBox="true"/>
          <p:nvPr/>
        </p:nvSpPr>
        <p:spPr>
          <a:xfrm rot="0">
            <a:off x="1104900" y="4191000"/>
            <a:ext cx="2700623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attendance-preview.webp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676900" y="4191000"/>
            <a:ext cx="2672048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WebP Q80, 390 × 844 px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534650" y="4191000"/>
            <a:ext cx="595884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34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15.75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39650" y="4191000"/>
            <a:ext cx="3005138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 app; visual check pending</a:t>
            </a:r>
          </a:p>
        </p:txBody>
      </p:sp>
      <p:sp>
        <p:nvSpPr>
          <p:cNvPr name="AutoShape 33" id="33"/>
          <p:cNvSpPr/>
          <p:nvPr/>
        </p:nvSpPr>
        <p:spPr>
          <a:xfrm rot="0">
            <a:off x="990600" y="47910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34" id="34"/>
          <p:cNvSpPr txBox="true"/>
          <p:nvPr/>
        </p:nvSpPr>
        <p:spPr>
          <a:xfrm rot="0">
            <a:off x="1104900" y="4829175"/>
            <a:ext cx="2634139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10-second clip, version 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676900" y="4829175"/>
            <a:ext cx="3004947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Proposed: MP4 H.264, 720p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534650" y="4829175"/>
            <a:ext cx="1323784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5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Not supplied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39650" y="4829175"/>
            <a:ext cx="1700974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Record + export</a:t>
            </a:r>
          </a:p>
        </p:txBody>
      </p:sp>
      <p:sp>
        <p:nvSpPr>
          <p:cNvPr name="AutoShape 38" id="38"/>
          <p:cNvSpPr/>
          <p:nvPr/>
        </p:nvSpPr>
        <p:spPr>
          <a:xfrm rot="0">
            <a:off x="990600" y="542925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39" id="39"/>
          <p:cNvSpPr txBox="true"/>
          <p:nvPr/>
        </p:nvSpPr>
        <p:spPr>
          <a:xfrm rot="0">
            <a:off x="1104900" y="5467350"/>
            <a:ext cx="2634139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10-second clip, version 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676900" y="5467350"/>
            <a:ext cx="3110389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Same clip, lower video bitrate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534650" y="5467350"/>
            <a:ext cx="1323784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5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Not supplied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439650" y="5467350"/>
            <a:ext cx="2673667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Compare text and motion</a:t>
            </a:r>
          </a:p>
        </p:txBody>
      </p:sp>
      <p:sp>
        <p:nvSpPr>
          <p:cNvPr name="AutoShape 43" id="43"/>
          <p:cNvSpPr/>
          <p:nvPr/>
        </p:nvSpPr>
        <p:spPr>
          <a:xfrm rot="0">
            <a:off x="990600" y="60674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44" id="44"/>
          <p:cNvSpPr txBox="true"/>
          <p:nvPr/>
        </p:nvSpPr>
        <p:spPr>
          <a:xfrm rot="0">
            <a:off x="1143000" y="6305550"/>
            <a:ext cx="5125212" cy="5048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750"/>
              </a:lnSpc>
            </a:pPr>
            <a:r>
              <a:rPr lang="en-US" b="1" sz="2992">
                <a:solidFill>
                  <a:srgbClr val="572EDD"/>
                </a:solidFill>
                <a:latin typeface="Arial"/>
                <a:ea typeface="Arial"/>
                <a:cs typeface="Arial"/>
                <a:sym typeface="Arial"/>
              </a:rPr>
              <a:t>42.64 KiB saved per preview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3000" y="6896100"/>
            <a:ext cx="6604540" cy="3405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531"/>
              </a:lnSpc>
            </a:pPr>
            <a:r>
              <a:rPr lang="en-US" sz="202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58.39 → 15.75 KiB: 73.0% smaller at the same resolution.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43000" y="7239000"/>
            <a:ext cx="7779544" cy="3405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531"/>
              </a:lnSpc>
            </a:pPr>
            <a:r>
              <a:rPr lang="en-US" sz="202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Source: supplied project inventory, 23 Oct 2026. 1 KiB = 1024 bytes.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43000" y="7581900"/>
            <a:ext cx="7547515" cy="3405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531"/>
              </a:lnSpc>
            </a:pPr>
            <a:r>
              <a:rPr lang="en-US" sz="202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JPEG and clip rows are a test plan, not completed measurements.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A2. Visual quality check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1143000" y="1783080"/>
            <a:ext cx="15773400" cy="438912"/>
          </a:xfrm>
          <a:prstGeom prst="rect">
            <a:avLst/>
          </a:prstGeom>
        </p:spPr>
        <p:txBody>
          <a:bodyPr anchor="t" rtlCol="false" tIns="36576" bIns="36576" wrap="none">
            <a:noAutofit/>
          </a:bodyPr>
          <a:lstStyle/>
          <a:p>
            <a:pPr algn="l">
              <a:lnSpc>
                <a:spcPts val="3656"/>
              </a:lnSpc>
            </a:pPr>
            <a:r>
              <a:rPr sz="2500" b="1">
                <a:solidFill>
                  <a:srgbClr val="2B2248"/>
                </a:solidFill>
                <a:latin typeface="Arial"/>
              </a:rPr>
              <a:t>What the quality comparison must show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2450592"/>
            <a:ext cx="15773400" cy="685800"/>
          </a:xfrm>
          <a:prstGeom prst="rect">
            <a:avLst/>
          </a:prstGeom>
        </p:spPr>
        <p:txBody>
          <a:bodyPr anchor="t" rtlCol="false" tIns="36576" bIns="36576" wrap="square">
            <a:spAutoFit/>
          </a:bodyPr>
          <a:lstStyle/>
          <a:p>
            <a:pPr algn="l">
              <a:lnSpc>
                <a:spcPts val="2812"/>
              </a:lnSpc>
            </a:pPr>
            <a:r>
              <a:rPr sz="1800" b="0">
                <a:solidFill>
                  <a:srgbClr val="2B2248"/>
                </a:solidFill>
                <a:latin typeface="Arial"/>
              </a:rPr>
              <a:t>Use the same attendance screen in all four exports. Compare an identical crop at 100% zoom so text edges and calendar lines remain comparable.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000" y="3619500"/>
            <a:ext cx="3762375" cy="1885950"/>
            <a:chOff x="0" y="0"/>
            <a:chExt cx="5016500" cy="2514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165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333500" y="3762375"/>
            <a:ext cx="1828800" cy="384048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812"/>
              </a:lnSpc>
            </a:pPr>
            <a:r>
              <a:rPr lang="en-US" b="1" sz="2250">
                <a:solidFill>
                  <a:srgbClr val="572EDD"/>
                </a:solidFill>
                <a:latin typeface="Arial"/>
                <a:ea typeface="Arial"/>
                <a:cs typeface="Arial"/>
                <a:sym typeface="Arial"/>
              </a:rPr>
              <a:t>PNG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3500" y="4448175"/>
            <a:ext cx="2331720" cy="384048"/>
          </a:xfrm>
          <a:prstGeom prst="rect">
            <a:avLst/>
          </a:prstGeom>
        </p:spPr>
        <p:txBody>
          <a:bodyPr anchor="t" rtlCol="false" tIns="36576" bIns="36576" wrap="square">
            <a:spAutoFit/>
          </a:bodyPr>
          <a:lstStyle/>
          <a:p>
            <a:pPr algn="l">
              <a:lnSpc>
                <a:spcPts val="2437"/>
              </a:lnSpc>
            </a:pPr>
            <a:r>
              <a:rPr sz="1600" b="0">
                <a:solidFill>
                  <a:srgbClr val="5A5070"/>
                </a:solidFill>
                <a:latin typeface="Arial"/>
              </a:rPr>
              <a:t>Image not supplied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191125" y="3619500"/>
            <a:ext cx="3762375" cy="1885950"/>
            <a:chOff x="0" y="0"/>
            <a:chExt cx="5016500" cy="2514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165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5381625" y="3762375"/>
            <a:ext cx="1828800" cy="384048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812"/>
              </a:lnSpc>
            </a:pPr>
            <a:r>
              <a:rPr lang="en-US" b="1" sz="2250">
                <a:solidFill>
                  <a:srgbClr val="572EDD"/>
                </a:solidFill>
                <a:latin typeface="Arial"/>
                <a:ea typeface="Arial"/>
                <a:cs typeface="Arial"/>
                <a:sym typeface="Arial"/>
              </a:rPr>
              <a:t>JPEG Q80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81625" y="4448175"/>
            <a:ext cx="2331720" cy="384048"/>
          </a:xfrm>
          <a:prstGeom prst="rect">
            <a:avLst/>
          </a:prstGeom>
        </p:spPr>
        <p:txBody>
          <a:bodyPr anchor="t" rtlCol="false" tIns="36576" bIns="36576" wrap="square">
            <a:spAutoFit/>
          </a:bodyPr>
          <a:lstStyle/>
          <a:p>
            <a:pPr algn="l">
              <a:lnSpc>
                <a:spcPts val="2437"/>
              </a:lnSpc>
            </a:pPr>
            <a:r>
              <a:rPr sz="1600" b="0">
                <a:solidFill>
                  <a:srgbClr val="5A5070"/>
                </a:solidFill>
                <a:latin typeface="Arial"/>
              </a:rPr>
              <a:t>Image not supplied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39250" y="3619500"/>
            <a:ext cx="3762375" cy="1885950"/>
            <a:chOff x="0" y="0"/>
            <a:chExt cx="5016500" cy="2514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165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429750" y="3762375"/>
            <a:ext cx="1828800" cy="384048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812"/>
              </a:lnSpc>
            </a:pPr>
            <a:r>
              <a:rPr lang="en-US" b="1" sz="2250">
                <a:solidFill>
                  <a:srgbClr val="572EDD"/>
                </a:solidFill>
                <a:latin typeface="Arial"/>
                <a:ea typeface="Arial"/>
                <a:cs typeface="Arial"/>
                <a:sym typeface="Arial"/>
              </a:rPr>
              <a:t>JPEG Q40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29750" y="4448175"/>
            <a:ext cx="2331720" cy="384048"/>
          </a:xfrm>
          <a:prstGeom prst="rect">
            <a:avLst/>
          </a:prstGeom>
        </p:spPr>
        <p:txBody>
          <a:bodyPr anchor="t" rtlCol="false" tIns="36576" bIns="36576" wrap="square">
            <a:spAutoFit/>
          </a:bodyPr>
          <a:lstStyle/>
          <a:p>
            <a:pPr algn="l">
              <a:lnSpc>
                <a:spcPts val="2437"/>
              </a:lnSpc>
            </a:pPr>
            <a:r>
              <a:rPr sz="1600" b="0">
                <a:solidFill>
                  <a:srgbClr val="5A5070"/>
                </a:solidFill>
                <a:latin typeface="Arial"/>
              </a:rPr>
              <a:t>Image not supplied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287375" y="3619500"/>
            <a:ext cx="3762375" cy="1885950"/>
            <a:chOff x="0" y="0"/>
            <a:chExt cx="5016500" cy="2514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165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3477875" y="3762375"/>
            <a:ext cx="1828800" cy="384048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812"/>
              </a:lnSpc>
            </a:pPr>
            <a:r>
              <a:rPr lang="en-US" b="1" sz="2250">
                <a:solidFill>
                  <a:srgbClr val="572EDD"/>
                </a:solidFill>
                <a:latin typeface="Arial"/>
                <a:ea typeface="Arial"/>
                <a:cs typeface="Arial"/>
                <a:sym typeface="Arial"/>
              </a:rPr>
              <a:t>WebP Q80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77875" y="4448175"/>
            <a:ext cx="2331720" cy="384048"/>
          </a:xfrm>
          <a:prstGeom prst="rect">
            <a:avLst/>
          </a:prstGeom>
        </p:spPr>
        <p:txBody>
          <a:bodyPr anchor="t" rtlCol="false" tIns="36576" bIns="36576" wrap="square">
            <a:spAutoFit/>
          </a:bodyPr>
          <a:lstStyle/>
          <a:p>
            <a:pPr algn="l">
              <a:lnSpc>
                <a:spcPts val="2437"/>
              </a:lnSpc>
            </a:pPr>
            <a:r>
              <a:rPr sz="1600" b="0">
                <a:solidFill>
                  <a:srgbClr val="5A5070"/>
                </a:solidFill>
                <a:latin typeface="Arial"/>
              </a:rPr>
              <a:t>Image not supplied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3000" y="5829300"/>
            <a:ext cx="3099911" cy="40957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000"/>
              </a:lnSpc>
            </a:pPr>
            <a:r>
              <a:rPr lang="en-US" b="1" sz="239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Evidence still needed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3000" y="6353175"/>
            <a:ext cx="13541693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One side-by-side screenshot, JPEG file sizes, and two exports of the same 10-second clip. Rate each result as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3000" y="6724650"/>
            <a:ext cx="5159312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6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sharp, acceptable or poor after inspection.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3000" y="7458075"/>
            <a:ext cx="10578274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2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The source image and recording were not included in the supplied files. These boxes mark missing evidence.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A2. Our format choices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143000" y="1695450"/>
            <a:ext cx="2059019" cy="13525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10125"/>
              </a:lnSpc>
            </a:pPr>
            <a:r>
              <a:rPr lang="en-US" b="1" sz="8050">
                <a:solidFill>
                  <a:srgbClr val="572EDD"/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0625" y="3000375"/>
            <a:ext cx="2812447" cy="40957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000"/>
              </a:lnSpc>
            </a:pPr>
            <a:r>
              <a:rPr lang="en-US" b="1" sz="238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smaller preview file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34250" y="1876425"/>
            <a:ext cx="7927372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For the My AITU / LMS bridge, we use WebP at quality 80 for the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34250" y="2247900"/>
            <a:ext cx="8007668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 preview. At the same 390 × 844 resolution, its file size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34250" y="2619375"/>
            <a:ext cx="8025098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falls from 58.39 KiB to 15.75 KiB, saving 42.64 KiB, or 73.0%. We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34250" y="2990850"/>
            <a:ext cx="8321897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retain PNG as the original evidence image because it preserves text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34250" y="3362325"/>
            <a:ext cx="8567261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and edges without lossy compression. Inline SVG suits interface icons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34250" y="3733800"/>
            <a:ext cx="8040338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because vectors stay sharp at different sizes and share the HTML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34250" y="4105275"/>
            <a:ext cx="7907941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response. CSS provides the login pulse without a separate video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34250" y="4476750"/>
            <a:ext cx="8076343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download. For the project demonstration, we plan MP4 with H.264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34250" y="4848225"/>
            <a:ext cx="8368760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video and AAC audio for broad playback support. JPEG settings and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34250" y="5219700"/>
            <a:ext cx="8107108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the ten-second clip still need measured comparison before we can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34250" y="5591175"/>
            <a:ext cx="3178112" cy="3738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718"/>
              </a:lnSpc>
            </a:pPr>
            <a:r>
              <a:rPr lang="en-US" sz="216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report their quality or size.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0625" y="4343400"/>
            <a:ext cx="3957066" cy="46910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468"/>
              </a:lnSpc>
            </a:pPr>
            <a:r>
              <a:rPr lang="en-US" b="1" sz="276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Same pixels. Less data.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0625" y="5124450"/>
            <a:ext cx="2196084" cy="423862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187"/>
              </a:lnSpc>
            </a:pPr>
            <a:r>
              <a:rPr lang="en-US" sz="253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PNG 58.39 KiB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0625" y="5553075"/>
            <a:ext cx="2364581" cy="423862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187"/>
              </a:lnSpc>
            </a:pPr>
            <a:r>
              <a:rPr lang="en-US" sz="253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WebP 15.75 KiB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0625" y="6772275"/>
            <a:ext cx="2693194" cy="338137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437"/>
              </a:lnSpc>
            </a:pPr>
            <a:r>
              <a:rPr lang="en-US" sz="194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Measured file sizes only.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0625" y="7105650"/>
            <a:ext cx="3771710" cy="338137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437"/>
              </a:lnSpc>
            </a:pPr>
            <a:r>
              <a:rPr lang="en-US" sz="1943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Network speed needs its own test.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B1. Interface icons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AutoShape 6" id="6"/>
          <p:cNvSpPr/>
          <p:nvPr/>
        </p:nvSpPr>
        <p:spPr>
          <a:xfrm rot="0">
            <a:off x="990600" y="1752600"/>
            <a:ext cx="5715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1104900" y="1809750"/>
            <a:ext cx="127254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b="1" sz="162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#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1562100" y="1752600"/>
            <a:ext cx="33337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9" id="9"/>
          <p:cNvSpPr txBox="true"/>
          <p:nvPr/>
        </p:nvSpPr>
        <p:spPr>
          <a:xfrm rot="0">
            <a:off x="1676400" y="1809750"/>
            <a:ext cx="622744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b="1" sz="176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Asset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4895850" y="1752600"/>
            <a:ext cx="49530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1" id="11"/>
          <p:cNvSpPr txBox="true"/>
          <p:nvPr/>
        </p:nvSpPr>
        <p:spPr>
          <a:xfrm rot="0">
            <a:off x="5010150" y="1809750"/>
            <a:ext cx="1295686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b="1" sz="178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Where used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9848850" y="1752600"/>
            <a:ext cx="36195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9963150" y="1809750"/>
            <a:ext cx="1689926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b="1" sz="178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Vector viewBox</a:t>
            </a:r>
          </a:p>
        </p:txBody>
      </p:sp>
      <p:sp>
        <p:nvSpPr>
          <p:cNvPr name="AutoShape 14" id="14"/>
          <p:cNvSpPr/>
          <p:nvPr/>
        </p:nvSpPr>
        <p:spPr>
          <a:xfrm rot="0">
            <a:off x="13468350" y="1752600"/>
            <a:ext cx="38290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13582650" y="1809750"/>
            <a:ext cx="1308640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b="1" sz="178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Markup size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4900" y="2286000"/>
            <a:ext cx="127254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62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6400" y="2286000"/>
            <a:ext cx="521018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5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10150" y="2286000"/>
            <a:ext cx="2084070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Courses / navigation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63150" y="2286000"/>
            <a:ext cx="1569720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82650" y="2286000"/>
            <a:ext cx="597408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6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740 B</a:t>
            </a:r>
          </a:p>
        </p:txBody>
      </p:sp>
      <p:sp>
        <p:nvSpPr>
          <p:cNvPr name="AutoShape 21" id="21"/>
          <p:cNvSpPr/>
          <p:nvPr/>
        </p:nvSpPr>
        <p:spPr>
          <a:xfrm rot="0">
            <a:off x="990600" y="26384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2" id="22"/>
          <p:cNvSpPr txBox="true"/>
          <p:nvPr/>
        </p:nvSpPr>
        <p:spPr>
          <a:xfrm rot="0">
            <a:off x="1104900" y="2686050"/>
            <a:ext cx="127254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62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76400" y="2686050"/>
            <a:ext cx="927830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Calendar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010150" y="2686050"/>
            <a:ext cx="1906238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8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Tasks / attendance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63150" y="2686050"/>
            <a:ext cx="1569720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82650" y="2686050"/>
            <a:ext cx="788003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7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1,162 B</a:t>
            </a:r>
          </a:p>
        </p:txBody>
      </p:sp>
      <p:sp>
        <p:nvSpPr>
          <p:cNvPr name="AutoShape 27" id="27"/>
          <p:cNvSpPr/>
          <p:nvPr/>
        </p:nvSpPr>
        <p:spPr>
          <a:xfrm rot="0">
            <a:off x="990600" y="30384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8" id="28"/>
          <p:cNvSpPr txBox="true"/>
          <p:nvPr/>
        </p:nvSpPr>
        <p:spPr>
          <a:xfrm rot="0">
            <a:off x="1104900" y="3086100"/>
            <a:ext cx="127254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62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6400" y="3086100"/>
            <a:ext cx="1131094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7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Graduation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010150" y="3086100"/>
            <a:ext cx="749618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6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Grades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63150" y="3086100"/>
            <a:ext cx="1569720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582650" y="3086100"/>
            <a:ext cx="597408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6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857 B</a:t>
            </a:r>
          </a:p>
        </p:txBody>
      </p:sp>
      <p:sp>
        <p:nvSpPr>
          <p:cNvPr name="AutoShape 33" id="33"/>
          <p:cNvSpPr/>
          <p:nvPr/>
        </p:nvSpPr>
        <p:spPr>
          <a:xfrm rot="0">
            <a:off x="990600" y="34385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34" id="34"/>
          <p:cNvSpPr txBox="true"/>
          <p:nvPr/>
        </p:nvSpPr>
        <p:spPr>
          <a:xfrm rot="0">
            <a:off x="1104900" y="3486150"/>
            <a:ext cx="127254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62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76400" y="3486150"/>
            <a:ext cx="482632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5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010150" y="3486150"/>
            <a:ext cx="1525238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Account button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63150" y="3486150"/>
            <a:ext cx="1569720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582650" y="3486150"/>
            <a:ext cx="597408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6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869 B</a:t>
            </a:r>
          </a:p>
        </p:txBody>
      </p:sp>
      <p:sp>
        <p:nvSpPr>
          <p:cNvPr name="AutoShape 39" id="39"/>
          <p:cNvSpPr/>
          <p:nvPr/>
        </p:nvSpPr>
        <p:spPr>
          <a:xfrm rot="0">
            <a:off x="990600" y="38385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40" id="40"/>
          <p:cNvSpPr txBox="true"/>
          <p:nvPr/>
        </p:nvSpPr>
        <p:spPr>
          <a:xfrm rot="0">
            <a:off x="1104900" y="3886200"/>
            <a:ext cx="127254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62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76400" y="3886200"/>
            <a:ext cx="571976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6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Menu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010150" y="3886200"/>
            <a:ext cx="1779270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Navigation button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63150" y="3886200"/>
            <a:ext cx="1569720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582650" y="3886200"/>
            <a:ext cx="597408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6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561 B</a:t>
            </a:r>
          </a:p>
        </p:txBody>
      </p:sp>
      <p:sp>
        <p:nvSpPr>
          <p:cNvPr name="AutoShape 45" id="45"/>
          <p:cNvSpPr/>
          <p:nvPr/>
        </p:nvSpPr>
        <p:spPr>
          <a:xfrm rot="0">
            <a:off x="990600" y="42386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46" id="46"/>
          <p:cNvSpPr txBox="true"/>
          <p:nvPr/>
        </p:nvSpPr>
        <p:spPr>
          <a:xfrm rot="0">
            <a:off x="1104900" y="4286250"/>
            <a:ext cx="127254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62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76400" y="4286250"/>
            <a:ext cx="584454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6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Close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010150" y="4286250"/>
            <a:ext cx="1944148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8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Navigation controls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963150" y="4286250"/>
            <a:ext cx="1569720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582650" y="4286250"/>
            <a:ext cx="597408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6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441 B</a:t>
            </a:r>
          </a:p>
        </p:txBody>
      </p:sp>
      <p:sp>
        <p:nvSpPr>
          <p:cNvPr name="AutoShape 51" id="51"/>
          <p:cNvSpPr/>
          <p:nvPr/>
        </p:nvSpPr>
        <p:spPr>
          <a:xfrm rot="0">
            <a:off x="990600" y="46386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52" id="52"/>
          <p:cNvSpPr txBox="true"/>
          <p:nvPr/>
        </p:nvSpPr>
        <p:spPr>
          <a:xfrm rot="0">
            <a:off x="1104900" y="4686300"/>
            <a:ext cx="127254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62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76400" y="4686300"/>
            <a:ext cx="584454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6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Down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010150" y="4686300"/>
            <a:ext cx="1461326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4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Account menu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963150" y="4686300"/>
            <a:ext cx="1569720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582650" y="4686300"/>
            <a:ext cx="597408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6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391 B</a:t>
            </a:r>
          </a:p>
        </p:txBody>
      </p:sp>
      <p:sp>
        <p:nvSpPr>
          <p:cNvPr name="AutoShape 57" id="57"/>
          <p:cNvSpPr/>
          <p:nvPr/>
        </p:nvSpPr>
        <p:spPr>
          <a:xfrm rot="0">
            <a:off x="990600" y="50387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58" id="58"/>
          <p:cNvSpPr txBox="true"/>
          <p:nvPr/>
        </p:nvSpPr>
        <p:spPr>
          <a:xfrm rot="0">
            <a:off x="1104900" y="5086350"/>
            <a:ext cx="254317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1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76400" y="5086350"/>
            <a:ext cx="851440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73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Sign-out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010150" y="5086350"/>
            <a:ext cx="1461326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4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Account menu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963150" y="5086350"/>
            <a:ext cx="1569720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582650" y="5086350"/>
            <a:ext cx="597408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6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906 B</a:t>
            </a:r>
          </a:p>
        </p:txBody>
      </p:sp>
      <p:sp>
        <p:nvSpPr>
          <p:cNvPr name="AutoShape 63" id="63"/>
          <p:cNvSpPr/>
          <p:nvPr/>
        </p:nvSpPr>
        <p:spPr>
          <a:xfrm rot="0">
            <a:off x="990600" y="54387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64" id="64"/>
          <p:cNvSpPr txBox="true"/>
          <p:nvPr/>
        </p:nvSpPr>
        <p:spPr>
          <a:xfrm rot="0">
            <a:off x="1104900" y="5486400"/>
            <a:ext cx="237363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04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76400" y="5486400"/>
            <a:ext cx="800576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Refresh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010150" y="5486400"/>
            <a:ext cx="724472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68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Reload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963150" y="5486400"/>
            <a:ext cx="1569720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582650" y="5486400"/>
            <a:ext cx="597408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6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945 B</a:t>
            </a:r>
          </a:p>
        </p:txBody>
      </p:sp>
      <p:sp>
        <p:nvSpPr>
          <p:cNvPr name="AutoShape 69" id="69"/>
          <p:cNvSpPr/>
          <p:nvPr/>
        </p:nvSpPr>
        <p:spPr>
          <a:xfrm rot="0">
            <a:off x="990600" y="58388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70" id="70"/>
          <p:cNvSpPr txBox="true"/>
          <p:nvPr/>
        </p:nvSpPr>
        <p:spPr>
          <a:xfrm rot="0">
            <a:off x="1104900" y="5886450"/>
            <a:ext cx="254317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1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76400" y="5886450"/>
            <a:ext cx="724376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68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5010150" y="5886450"/>
            <a:ext cx="1486662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4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Course search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963150" y="5886450"/>
            <a:ext cx="1569720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3582650" y="5886450"/>
            <a:ext cx="597408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6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669 B</a:t>
            </a:r>
          </a:p>
        </p:txBody>
      </p:sp>
      <p:sp>
        <p:nvSpPr>
          <p:cNvPr name="AutoShape 75" id="75"/>
          <p:cNvSpPr/>
          <p:nvPr/>
        </p:nvSpPr>
        <p:spPr>
          <a:xfrm rot="0">
            <a:off x="990600" y="62388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76" id="76"/>
          <p:cNvSpPr txBox="true"/>
          <p:nvPr/>
        </p:nvSpPr>
        <p:spPr>
          <a:xfrm rot="0">
            <a:off x="1104900" y="6286500"/>
            <a:ext cx="254317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1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676400" y="6286500"/>
            <a:ext cx="393954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4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Eye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5010150" y="6286500"/>
            <a:ext cx="1854708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Password visibility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963150" y="6286500"/>
            <a:ext cx="1569720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582650" y="6286500"/>
            <a:ext cx="597408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6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935 B</a:t>
            </a:r>
          </a:p>
        </p:txBody>
      </p:sp>
      <p:sp>
        <p:nvSpPr>
          <p:cNvPr name="AutoShape 81" id="81"/>
          <p:cNvSpPr/>
          <p:nvPr/>
        </p:nvSpPr>
        <p:spPr>
          <a:xfrm rot="0">
            <a:off x="990600" y="66389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82" id="82"/>
          <p:cNvSpPr txBox="true"/>
          <p:nvPr/>
        </p:nvSpPr>
        <p:spPr>
          <a:xfrm rot="0">
            <a:off x="1104900" y="6686550"/>
            <a:ext cx="254317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1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676400" y="6686550"/>
            <a:ext cx="647986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64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5010150" y="6686550"/>
            <a:ext cx="1156716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9963150" y="6686550"/>
            <a:ext cx="1569720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8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3582650" y="6686550"/>
            <a:ext cx="597408" cy="3143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250"/>
              </a:lnSpc>
            </a:pPr>
            <a:r>
              <a:rPr lang="en-US" sz="176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366 B</a:t>
            </a:r>
          </a:p>
        </p:txBody>
      </p:sp>
      <p:sp>
        <p:nvSpPr>
          <p:cNvPr name="AutoShape 87" id="87"/>
          <p:cNvSpPr/>
          <p:nvPr/>
        </p:nvSpPr>
        <p:spPr>
          <a:xfrm rot="0">
            <a:off x="990600" y="70389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88" id="88"/>
          <p:cNvSpPr txBox="true"/>
          <p:nvPr/>
        </p:nvSpPr>
        <p:spPr>
          <a:xfrm rot="0">
            <a:off x="1104900" y="7210425"/>
            <a:ext cx="9079706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All icons: Flaticon Uicons Regular Rounded. Free licence with visible footer attribution.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104900" y="7524750"/>
            <a:ext cx="9335738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Inline symbols share the HTML response; these are source sizes, not separate requests.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B1. Media asset inventory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AutoShape 6" id="6"/>
          <p:cNvSpPr/>
          <p:nvPr/>
        </p:nvSpPr>
        <p:spPr>
          <a:xfrm rot="0">
            <a:off x="990600" y="1752600"/>
            <a:ext cx="52387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1104900" y="1809750"/>
            <a:ext cx="116681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b="1" sz="147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#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1514475" y="1752600"/>
            <a:ext cx="30480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9" id="9"/>
          <p:cNvSpPr txBox="true"/>
          <p:nvPr/>
        </p:nvSpPr>
        <p:spPr>
          <a:xfrm rot="0">
            <a:off x="1628775" y="1809750"/>
            <a:ext cx="570738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b="1" sz="16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Asset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4562475" y="1752600"/>
            <a:ext cx="271462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1" id="11"/>
          <p:cNvSpPr txBox="true"/>
          <p:nvPr/>
        </p:nvSpPr>
        <p:spPr>
          <a:xfrm rot="0">
            <a:off x="4676775" y="1809750"/>
            <a:ext cx="1187768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b="1" sz="163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Where used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7277100" y="1752600"/>
            <a:ext cx="41910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7391400" y="1809750"/>
            <a:ext cx="2049399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b="1" sz="163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Format / dimensions</a:t>
            </a:r>
          </a:p>
        </p:txBody>
      </p:sp>
      <p:sp>
        <p:nvSpPr>
          <p:cNvPr name="AutoShape 14" id="14"/>
          <p:cNvSpPr/>
          <p:nvPr/>
        </p:nvSpPr>
        <p:spPr>
          <a:xfrm rot="0">
            <a:off x="11468100" y="1752600"/>
            <a:ext cx="18097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11582400" y="1809750"/>
            <a:ext cx="419386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Size</a:t>
            </a:r>
          </a:p>
        </p:txBody>
      </p:sp>
      <p:sp>
        <p:nvSpPr>
          <p:cNvPr name="AutoShape 16" id="16"/>
          <p:cNvSpPr/>
          <p:nvPr/>
        </p:nvSpPr>
        <p:spPr>
          <a:xfrm rot="0">
            <a:off x="13277850" y="1752600"/>
            <a:ext cx="40195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7" id="17"/>
          <p:cNvSpPr txBox="true"/>
          <p:nvPr/>
        </p:nvSpPr>
        <p:spPr>
          <a:xfrm rot="0">
            <a:off x="13392150" y="1809750"/>
            <a:ext cx="1595723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b="1" sz="163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Source / licence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4900" y="2286000"/>
            <a:ext cx="23317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56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28775" y="2286000"/>
            <a:ext cx="1095089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Absent icon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76775" y="2286000"/>
            <a:ext cx="1060228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91400" y="2286000"/>
            <a:ext cx="1438846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82400" y="2286000"/>
            <a:ext cx="547688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1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442 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92150" y="2286000"/>
            <a:ext cx="803529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23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Flaticon¹</a:t>
            </a:r>
          </a:p>
        </p:txBody>
      </p:sp>
      <p:sp>
        <p:nvSpPr>
          <p:cNvPr name="AutoShape 24" id="24"/>
          <p:cNvSpPr/>
          <p:nvPr/>
        </p:nvSpPr>
        <p:spPr>
          <a:xfrm rot="0">
            <a:off x="990600" y="260985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5" id="25"/>
          <p:cNvSpPr txBox="true"/>
          <p:nvPr/>
        </p:nvSpPr>
        <p:spPr>
          <a:xfrm rot="0">
            <a:off x="1104900" y="2657475"/>
            <a:ext cx="23317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56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28775" y="2657475"/>
            <a:ext cx="966597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28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Clock icon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676775" y="2657475"/>
            <a:ext cx="1514284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 time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91400" y="2657475"/>
            <a:ext cx="1438846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82400" y="2657475"/>
            <a:ext cx="547688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1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777 B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92150" y="2657475"/>
            <a:ext cx="803529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23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Flaticon¹</a:t>
            </a:r>
          </a:p>
        </p:txBody>
      </p:sp>
      <p:sp>
        <p:nvSpPr>
          <p:cNvPr name="AutoShape 31" id="31"/>
          <p:cNvSpPr/>
          <p:nvPr/>
        </p:nvSpPr>
        <p:spPr>
          <a:xfrm rot="0">
            <a:off x="990600" y="29813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32" id="32"/>
          <p:cNvSpPr txBox="true"/>
          <p:nvPr/>
        </p:nvSpPr>
        <p:spPr>
          <a:xfrm rot="0">
            <a:off x="1104900" y="3028950"/>
            <a:ext cx="23317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56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28775" y="3028950"/>
            <a:ext cx="1001649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2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Minus icon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676775" y="3028950"/>
            <a:ext cx="2061877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Unmarked attendance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91400" y="3028950"/>
            <a:ext cx="1438846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582400" y="3028950"/>
            <a:ext cx="547688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1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284 B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392150" y="3028950"/>
            <a:ext cx="803529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23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Flaticon¹</a:t>
            </a:r>
          </a:p>
        </p:txBody>
      </p:sp>
      <p:sp>
        <p:nvSpPr>
          <p:cNvPr name="AutoShape 38" id="38"/>
          <p:cNvSpPr/>
          <p:nvPr/>
        </p:nvSpPr>
        <p:spPr>
          <a:xfrm rot="0">
            <a:off x="990600" y="335280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39" id="39"/>
          <p:cNvSpPr txBox="true"/>
          <p:nvPr/>
        </p:nvSpPr>
        <p:spPr>
          <a:xfrm rot="0">
            <a:off x="1104900" y="3400425"/>
            <a:ext cx="23317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56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28775" y="3400425"/>
            <a:ext cx="1374458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4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Left arrow icon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676775" y="3400425"/>
            <a:ext cx="145599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Previous month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391400" y="3400425"/>
            <a:ext cx="1438846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582400" y="3400425"/>
            <a:ext cx="547688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1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416 B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392150" y="3400425"/>
            <a:ext cx="803529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23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Flaticon¹</a:t>
            </a:r>
          </a:p>
        </p:txBody>
      </p:sp>
      <p:sp>
        <p:nvSpPr>
          <p:cNvPr name="AutoShape 45" id="45"/>
          <p:cNvSpPr/>
          <p:nvPr/>
        </p:nvSpPr>
        <p:spPr>
          <a:xfrm rot="0">
            <a:off x="990600" y="37242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46" id="46"/>
          <p:cNvSpPr txBox="true"/>
          <p:nvPr/>
        </p:nvSpPr>
        <p:spPr>
          <a:xfrm rot="0">
            <a:off x="1104900" y="3771900"/>
            <a:ext cx="23317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56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28775" y="3771900"/>
            <a:ext cx="1455801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Next arrow icon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676775" y="3771900"/>
            <a:ext cx="107156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Next month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391400" y="3771900"/>
            <a:ext cx="1438846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582400" y="3771900"/>
            <a:ext cx="547688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1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404 B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392150" y="3771900"/>
            <a:ext cx="803529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23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Flaticon¹</a:t>
            </a:r>
          </a:p>
        </p:txBody>
      </p:sp>
      <p:sp>
        <p:nvSpPr>
          <p:cNvPr name="AutoShape 52" id="52"/>
          <p:cNvSpPr/>
          <p:nvPr/>
        </p:nvSpPr>
        <p:spPr>
          <a:xfrm rot="0">
            <a:off x="990600" y="409575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53" id="53"/>
          <p:cNvSpPr txBox="true"/>
          <p:nvPr/>
        </p:nvSpPr>
        <p:spPr>
          <a:xfrm rot="0">
            <a:off x="1104900" y="4143375"/>
            <a:ext cx="23317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56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28775" y="4143375"/>
            <a:ext cx="768858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23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List icon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676775" y="4143375"/>
            <a:ext cx="1677638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 status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391400" y="4143375"/>
            <a:ext cx="1438846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582400" y="4143375"/>
            <a:ext cx="722376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2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1,010 B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392150" y="4143375"/>
            <a:ext cx="803529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23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Flaticon¹</a:t>
            </a:r>
          </a:p>
        </p:txBody>
      </p:sp>
      <p:sp>
        <p:nvSpPr>
          <p:cNvPr name="AutoShape 59" id="59"/>
          <p:cNvSpPr/>
          <p:nvPr/>
        </p:nvSpPr>
        <p:spPr>
          <a:xfrm rot="0">
            <a:off x="990600" y="44672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60" id="60"/>
          <p:cNvSpPr txBox="true"/>
          <p:nvPr/>
        </p:nvSpPr>
        <p:spPr>
          <a:xfrm rot="0">
            <a:off x="1104900" y="4514850"/>
            <a:ext cx="116681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47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628775" y="4514850"/>
            <a:ext cx="1840516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8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 preview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676775" y="4514850"/>
            <a:ext cx="65227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1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Sign-in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391400" y="4514850"/>
            <a:ext cx="1559433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WebP 390 × 844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582400" y="4514850"/>
            <a:ext cx="908780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2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15.75 KiB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392150" y="4514850"/>
            <a:ext cx="1228725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3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Own + icons¹</a:t>
            </a:r>
          </a:p>
        </p:txBody>
      </p:sp>
      <p:sp>
        <p:nvSpPr>
          <p:cNvPr name="AutoShape 66" id="66"/>
          <p:cNvSpPr/>
          <p:nvPr/>
        </p:nvSpPr>
        <p:spPr>
          <a:xfrm rot="0">
            <a:off x="990600" y="483870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67" id="67"/>
          <p:cNvSpPr txBox="true"/>
          <p:nvPr/>
        </p:nvSpPr>
        <p:spPr>
          <a:xfrm rot="0">
            <a:off x="1104900" y="4886325"/>
            <a:ext cx="116681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47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628775" y="4886325"/>
            <a:ext cx="1408938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LMS wordmark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676775" y="4886325"/>
            <a:ext cx="65227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1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Sign-in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391400" y="4886325"/>
            <a:ext cx="176479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8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CSS / text, 68 × 68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582400" y="4886325"/>
            <a:ext cx="1013650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2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Embedded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392150" y="4886325"/>
            <a:ext cx="431006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0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Own</a:t>
            </a:r>
          </a:p>
        </p:txBody>
      </p:sp>
      <p:sp>
        <p:nvSpPr>
          <p:cNvPr name="AutoShape 73" id="73"/>
          <p:cNvSpPr/>
          <p:nvPr/>
        </p:nvSpPr>
        <p:spPr>
          <a:xfrm rot="0">
            <a:off x="990600" y="52101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74" id="74"/>
          <p:cNvSpPr txBox="true"/>
          <p:nvPr/>
        </p:nvSpPr>
        <p:spPr>
          <a:xfrm rot="0">
            <a:off x="1104900" y="5257800"/>
            <a:ext cx="23317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56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628775" y="5257800"/>
            <a:ext cx="1072039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Login pulse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676775" y="5257800"/>
            <a:ext cx="1386364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Login progress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7391400" y="5257800"/>
            <a:ext cx="1281303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3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CSS, 2 s loop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1582400" y="5257800"/>
            <a:ext cx="1013650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2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Embedded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3392150" y="5257800"/>
            <a:ext cx="431006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0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Own</a:t>
            </a:r>
          </a:p>
        </p:txBody>
      </p:sp>
      <p:sp>
        <p:nvSpPr>
          <p:cNvPr name="AutoShape 80" id="80"/>
          <p:cNvSpPr/>
          <p:nvPr/>
        </p:nvSpPr>
        <p:spPr>
          <a:xfrm rot="0">
            <a:off x="990600" y="558165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81" id="81"/>
          <p:cNvSpPr txBox="true"/>
          <p:nvPr/>
        </p:nvSpPr>
        <p:spPr>
          <a:xfrm rot="0">
            <a:off x="1104900" y="5629275"/>
            <a:ext cx="23317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56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628775" y="5629275"/>
            <a:ext cx="1525905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Entrance motion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4676775" y="5629275"/>
            <a:ext cx="1017080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2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Transitions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7391400" y="5629275"/>
            <a:ext cx="1001649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2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CSS, 0.4 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1582400" y="5629275"/>
            <a:ext cx="1013650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2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Embedded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3392150" y="5629275"/>
            <a:ext cx="431006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0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Own</a:t>
            </a:r>
          </a:p>
        </p:txBody>
      </p:sp>
      <p:sp>
        <p:nvSpPr>
          <p:cNvPr name="AutoShape 87" id="87"/>
          <p:cNvSpPr/>
          <p:nvPr/>
        </p:nvSpPr>
        <p:spPr>
          <a:xfrm rot="0">
            <a:off x="990600" y="59531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88" id="88"/>
          <p:cNvSpPr txBox="true"/>
          <p:nvPr/>
        </p:nvSpPr>
        <p:spPr>
          <a:xfrm rot="0">
            <a:off x="1104900" y="6000750"/>
            <a:ext cx="23317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56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628775" y="6000750"/>
            <a:ext cx="1246251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3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Campus map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4676775" y="6000750"/>
            <a:ext cx="1129951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Map section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7391400" y="6000750"/>
            <a:ext cx="1735360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Responsive iframe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1582400" y="6000750"/>
            <a:ext cx="75333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2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3392150" y="6000750"/>
            <a:ext cx="128092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3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Yuujiso / MIT²</a:t>
            </a:r>
          </a:p>
        </p:txBody>
      </p:sp>
      <p:sp>
        <p:nvSpPr>
          <p:cNvPr name="AutoShape 94" id="94"/>
          <p:cNvSpPr/>
          <p:nvPr/>
        </p:nvSpPr>
        <p:spPr>
          <a:xfrm rot="0">
            <a:off x="990600" y="632460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95" id="95"/>
          <p:cNvSpPr txBox="true"/>
          <p:nvPr/>
        </p:nvSpPr>
        <p:spPr>
          <a:xfrm rot="0">
            <a:off x="1104900" y="6372225"/>
            <a:ext cx="23317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56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628775" y="6372225"/>
            <a:ext cx="827151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24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Inter font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4676775" y="6372225"/>
            <a:ext cx="1211485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Interface text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7391400" y="6372225"/>
            <a:ext cx="1720024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 font / weights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1582400" y="6372225"/>
            <a:ext cx="75333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2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3392150" y="6372225"/>
            <a:ext cx="107137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Inter / OFL³</a:t>
            </a:r>
          </a:p>
        </p:txBody>
      </p:sp>
      <p:sp>
        <p:nvSpPr>
          <p:cNvPr name="AutoShape 101" id="101"/>
          <p:cNvSpPr/>
          <p:nvPr/>
        </p:nvSpPr>
        <p:spPr>
          <a:xfrm rot="0">
            <a:off x="990600" y="66960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102" id="102"/>
          <p:cNvSpPr txBox="true"/>
          <p:nvPr/>
        </p:nvSpPr>
        <p:spPr>
          <a:xfrm rot="0">
            <a:off x="1104900" y="6743700"/>
            <a:ext cx="23317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56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628775" y="6743700"/>
            <a:ext cx="1211199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Remote view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4676775" y="6743700"/>
            <a:ext cx="1537716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6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Optional support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7391400" y="6743700"/>
            <a:ext cx="2157127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4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JPEG Q70, 1100 × 800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1582400" y="6743700"/>
            <a:ext cx="753332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2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3392150" y="6743700"/>
            <a:ext cx="1421035" cy="290513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62"/>
              </a:lnSpc>
            </a:pPr>
            <a:r>
              <a:rPr lang="en-US" sz="163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Private session</a:t>
            </a:r>
          </a:p>
        </p:txBody>
      </p:sp>
      <p:sp>
        <p:nvSpPr>
          <p:cNvPr name="AutoShape 108" id="108"/>
          <p:cNvSpPr/>
          <p:nvPr/>
        </p:nvSpPr>
        <p:spPr>
          <a:xfrm rot="0">
            <a:off x="990600" y="706755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109" id="109"/>
          <p:cNvSpPr txBox="true"/>
          <p:nvPr/>
        </p:nvSpPr>
        <p:spPr>
          <a:xfrm rot="0">
            <a:off x="1104900" y="7134225"/>
            <a:ext cx="8280178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2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¹ Flaticon attribution in footer. ² github.com/Yuujiso/aitumap (MIT), author beside map.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104900" y="7429500"/>
            <a:ext cx="955376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2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³ github.com/rsms/inter (SIL OFL 1.1). Remote session views must stay out of the submitted demo.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104900" y="7724775"/>
            <a:ext cx="859764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2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Unused ui-right / ui-stats and evidence PNG files are not loaded by the running interface.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B2. Integration and optimisation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104900" y="1743075"/>
            <a:ext cx="2807017" cy="423862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187"/>
              </a:lnSpc>
            </a:pPr>
            <a:r>
              <a:rPr lang="en-US" b="1" sz="2538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What is integrated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4900" y="2343150"/>
            <a:ext cx="6550819" cy="3524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25"/>
              </a:lnSpc>
            </a:pPr>
            <a:r>
              <a:rPr lang="en-US" sz="209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WebP preview: 390 × 844 px, displayed at 250 px wide.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4900" y="2695575"/>
            <a:ext cx="5114925" cy="3524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25"/>
              </a:lnSpc>
            </a:pPr>
            <a:r>
              <a:rPr lang="en-US" sz="2094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18 inline SVG icons and a CSS login pulse.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4900" y="3048000"/>
            <a:ext cx="5663184" cy="3524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25"/>
              </a:lnSpc>
            </a:pPr>
            <a:r>
              <a:rPr lang="en-US" sz="209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Reduced-motion preference disables animation.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4900" y="3400425"/>
            <a:ext cx="5766911" cy="3524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25"/>
              </a:lnSpc>
            </a:pPr>
            <a:r>
              <a:rPr lang="en-US" sz="209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The full page still needs a 360 px browser check.</a:t>
            </a:r>
          </a:p>
        </p:txBody>
      </p:sp>
      <p:sp>
        <p:nvSpPr>
          <p:cNvPr name="AutoShape 11" id="11"/>
          <p:cNvSpPr/>
          <p:nvPr/>
        </p:nvSpPr>
        <p:spPr>
          <a:xfrm rot="0">
            <a:off x="990600" y="4019550"/>
            <a:ext cx="66675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2" id="12"/>
          <p:cNvSpPr txBox="true"/>
          <p:nvPr/>
        </p:nvSpPr>
        <p:spPr>
          <a:xfrm rot="0">
            <a:off x="1104900" y="4076700"/>
            <a:ext cx="2875978" cy="338137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437"/>
              </a:lnSpc>
            </a:pPr>
            <a:r>
              <a:rPr lang="en-US" b="1" sz="194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Controlled local payload</a:t>
            </a:r>
          </a:p>
        </p:txBody>
      </p:sp>
      <p:sp>
        <p:nvSpPr>
          <p:cNvPr name="AutoShape 13" id="13"/>
          <p:cNvSpPr/>
          <p:nvPr/>
        </p:nvSpPr>
        <p:spPr>
          <a:xfrm rot="0">
            <a:off x="7658100" y="4019550"/>
            <a:ext cx="319087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4" id="14"/>
          <p:cNvSpPr txBox="true"/>
          <p:nvPr/>
        </p:nvSpPr>
        <p:spPr>
          <a:xfrm rot="0">
            <a:off x="7772400" y="4076700"/>
            <a:ext cx="1472374" cy="338137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437"/>
              </a:lnSpc>
            </a:pPr>
            <a:r>
              <a:rPr lang="en-US" b="1" sz="193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Before: PNG</a:t>
            </a:r>
          </a:p>
        </p:txBody>
      </p:sp>
      <p:sp>
        <p:nvSpPr>
          <p:cNvPr name="AutoShape 15" id="15"/>
          <p:cNvSpPr/>
          <p:nvPr/>
        </p:nvSpPr>
        <p:spPr>
          <a:xfrm rot="0">
            <a:off x="10848975" y="4019550"/>
            <a:ext cx="319087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6" id="16"/>
          <p:cNvSpPr txBox="true"/>
          <p:nvPr/>
        </p:nvSpPr>
        <p:spPr>
          <a:xfrm rot="0">
            <a:off x="10963275" y="4076700"/>
            <a:ext cx="1412653" cy="338137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437"/>
              </a:lnSpc>
            </a:pPr>
            <a:r>
              <a:rPr lang="en-US" b="1" sz="193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After: WebP</a:t>
            </a:r>
          </a:p>
        </p:txBody>
      </p:sp>
      <p:sp>
        <p:nvSpPr>
          <p:cNvPr name="AutoShape 17" id="17"/>
          <p:cNvSpPr/>
          <p:nvPr/>
        </p:nvSpPr>
        <p:spPr>
          <a:xfrm rot="0">
            <a:off x="14039850" y="4019550"/>
            <a:ext cx="32575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8" id="18"/>
          <p:cNvSpPr txBox="true"/>
          <p:nvPr/>
        </p:nvSpPr>
        <p:spPr>
          <a:xfrm rot="0">
            <a:off x="14154150" y="4076700"/>
            <a:ext cx="908114" cy="338137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437"/>
              </a:lnSpc>
            </a:pPr>
            <a:r>
              <a:rPr lang="en-US" b="1" sz="192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4900" y="4552950"/>
            <a:ext cx="1624203" cy="338137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437"/>
              </a:lnSpc>
            </a:pPr>
            <a:r>
              <a:rPr lang="en-US" sz="1934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Preview image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72400" y="4552950"/>
            <a:ext cx="991457" cy="338137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437"/>
              </a:lnSpc>
            </a:pPr>
            <a:r>
              <a:rPr lang="en-US" sz="19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59,787 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63275" y="4552950"/>
            <a:ext cx="991457" cy="338137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437"/>
              </a:lnSpc>
            </a:pPr>
            <a:r>
              <a:rPr lang="en-US" sz="19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16,126 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54150" y="4552950"/>
            <a:ext cx="846868" cy="338137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437"/>
              </a:lnSpc>
            </a:pPr>
            <a:r>
              <a:rPr lang="en-US" sz="192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−73.0%</a:t>
            </a:r>
          </a:p>
        </p:txBody>
      </p:sp>
      <p:sp>
        <p:nvSpPr>
          <p:cNvPr name="AutoShape 23" id="23"/>
          <p:cNvSpPr/>
          <p:nvPr/>
        </p:nvSpPr>
        <p:spPr>
          <a:xfrm rot="0">
            <a:off x="990600" y="50006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4" id="24"/>
          <p:cNvSpPr txBox="true"/>
          <p:nvPr/>
        </p:nvSpPr>
        <p:spPr>
          <a:xfrm rot="0">
            <a:off x="1104900" y="5048250"/>
            <a:ext cx="2842641" cy="338137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437"/>
              </a:lnSpc>
            </a:pPr>
            <a:r>
              <a:rPr lang="en-US" sz="194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 front-end files + preview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72400" y="5048250"/>
            <a:ext cx="1129284" cy="338137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437"/>
              </a:lnSpc>
            </a:pPr>
            <a:r>
              <a:rPr lang="en-US" sz="1928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141,601 B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63275" y="5048250"/>
            <a:ext cx="991457" cy="338137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437"/>
              </a:lnSpc>
            </a:pPr>
            <a:r>
              <a:rPr lang="en-US" sz="19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97,941 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54150" y="5048250"/>
            <a:ext cx="846868" cy="338137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437"/>
              </a:lnSpc>
            </a:pPr>
            <a:r>
              <a:rPr lang="en-US" sz="192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−30.8%</a:t>
            </a:r>
          </a:p>
        </p:txBody>
      </p:sp>
      <p:sp>
        <p:nvSpPr>
          <p:cNvPr name="AutoShape 28" id="28"/>
          <p:cNvSpPr/>
          <p:nvPr/>
        </p:nvSpPr>
        <p:spPr>
          <a:xfrm rot="0">
            <a:off x="990600" y="54959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9" id="29"/>
          <p:cNvSpPr txBox="true"/>
          <p:nvPr/>
        </p:nvSpPr>
        <p:spPr>
          <a:xfrm rot="0">
            <a:off x="1104900" y="5781675"/>
            <a:ext cx="5600986" cy="40957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000"/>
              </a:lnSpc>
            </a:pPr>
            <a:r>
              <a:rPr lang="en-US" b="1" sz="2394">
                <a:solidFill>
                  <a:srgbClr val="572EDD"/>
                </a:solidFill>
                <a:latin typeface="Arial"/>
                <a:ea typeface="Arial"/>
                <a:cs typeface="Arial"/>
                <a:sym typeface="Arial"/>
              </a:rPr>
              <a:t>DevTools measurements: still required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4900" y="6276975"/>
            <a:ext cx="13380530" cy="3405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531"/>
              </a:lnSpc>
            </a:pPr>
            <a:r>
              <a:rPr lang="en-US" sz="2023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Disable cache, select Fast 4G, reload the same screen before and after. Capture transferred bytes, request count and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04900" y="6619875"/>
            <a:ext cx="7533704" cy="3405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531"/>
              </a:lnSpc>
            </a:pPr>
            <a:r>
              <a:rPr lang="en-US" sz="202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Finish/Load time. Image-request delta should be 0; verify the total.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04900" y="7334250"/>
            <a:ext cx="13305377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3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The payload calculation excludes headers, compression, API, fonts and map traffic. Stage 1 requires &lt;3 s per request at 1,000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04900" y="7648575"/>
            <a:ext cx="3163157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users; this remains unverified.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B3. Accessibility of media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104900" y="1743075"/>
            <a:ext cx="6677216" cy="423862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187"/>
              </a:lnSpc>
            </a:pPr>
            <a:r>
              <a:rPr lang="en-US" b="1" sz="254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Meaningful images have descriptive alt text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4900" y="2286000"/>
            <a:ext cx="12975907" cy="3524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25"/>
              </a:lnSpc>
            </a:pPr>
            <a:r>
              <a:rPr lang="en-US" sz="209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The test attendance preview describes the month and status counts. Decorative SVGs use aria-hidden="true";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4900" y="2638425"/>
            <a:ext cx="4654772" cy="3524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25"/>
              </a:lnSpc>
            </a:pPr>
            <a:r>
              <a:rPr lang="en-US" sz="2094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controls retain text or accessible labels.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1104900" y="3248025"/>
            <a:ext cx="16040100" cy="1495425"/>
          </a:xfrm>
          <a:prstGeom prst="rect">
            <a:avLst/>
          </a:prstGeom>
          <a:solidFill>
            <a:srgbClr val="DDD0FF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1276350" y="3333750"/>
            <a:ext cx="6729127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&lt;img src="/attendance-preview.webp" width="390" height="844"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6350" y="3648075"/>
            <a:ext cx="7604855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alt="Тестовый экран посещаемости: календарь за октябрь 2026 года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6350" y="3962400"/>
            <a:ext cx="5858446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и счётчики — 0 присутствий, 1 пропуск, 0 опозданий,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6350" y="4276725"/>
            <a:ext cx="2608231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 запись без отметки."&gt;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4900" y="5010150"/>
            <a:ext cx="5135499" cy="39766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906"/>
              </a:lnSpc>
            </a:pPr>
            <a:r>
              <a:rPr lang="en-US" b="1" sz="231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Motion follows the user’s preference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4900" y="5476875"/>
            <a:ext cx="4596289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69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@media (prefers-reduced-motion: reduce) {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4900" y="5791200"/>
            <a:ext cx="5056442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*, *::before, *::after { animation: none !important;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4900" y="6105525"/>
            <a:ext cx="6512243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transition: none !important; scroll-behavior: auto !important; } 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4900" y="6924675"/>
            <a:ext cx="9239440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No speech media or sound playback: captions and sound equivalents are currently N/A.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4900" y="7239000"/>
            <a:ext cx="8536496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Progress is visible as text and a pulse. No live text sits over raster images, so the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4900" y="7553325"/>
            <a:ext cx="6935438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4.5:1 text-over-image test is N/A. Source: supplied part_b.md, B3.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8689" y="2480119"/>
            <a:ext cx="16320516" cy="412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1" sz="7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C — Multimedia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06685" y="348424"/>
            <a:ext cx="8377523" cy="90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C1. Storyboard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803529" y="1560576"/>
            <a:ext cx="10962513" cy="7697819"/>
          </a:xfrm>
          <a:prstGeom prst="rect">
            <a:avLst/>
          </a:prstGeom>
          <a:solidFill>
            <a:srgbClr val="F0E9FF"/>
          </a:solidFill>
        </p:spPr>
      </p:sp>
      <p:grpSp>
        <p:nvGrpSpPr>
          <p:cNvPr name="Group 6" id="6"/>
          <p:cNvGrpSpPr/>
          <p:nvPr/>
        </p:nvGrpSpPr>
        <p:grpSpPr>
          <a:xfrm rot="0">
            <a:off x="817816" y="1574864"/>
            <a:ext cx="3644646" cy="1006983"/>
            <a:chOff x="0" y="0"/>
            <a:chExt cx="4859528" cy="13426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59528" cy="1342644"/>
            </a:xfrm>
            <a:custGeom>
              <a:avLst/>
              <a:gdLst/>
              <a:ahLst/>
              <a:cxnLst/>
              <a:rect r="r" b="b" t="t" l="l"/>
              <a:pathLst>
                <a:path h="1342644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1342644"/>
                  </a:lnTo>
                  <a:lnTo>
                    <a:pt x="0" y="134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59528" cy="1342644"/>
            </a:xfrm>
            <a:custGeom>
              <a:avLst/>
              <a:gdLst/>
              <a:ahLst/>
              <a:cxnLst/>
              <a:rect r="r" b="b" t="t" l="l"/>
              <a:pathLst>
                <a:path h="1342644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1342644"/>
                  </a:lnTo>
                  <a:lnTo>
                    <a:pt x="0" y="134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859528" cy="1399794"/>
            </a:xfrm>
            <a:prstGeom prst="rect">
              <a:avLst/>
            </a:prstGeom>
          </p:spPr>
          <p:txBody>
            <a:bodyPr anchor="t" rtlCol="false" tIns="417322" lIns="417322" bIns="417322" rIns="417322"/>
            <a:lstStyle/>
            <a:p>
              <a:pPr algn="l">
                <a:lnSpc>
                  <a:spcPts val="3149"/>
                </a:lnSpc>
              </a:pPr>
              <a:r>
                <a:rPr lang="en-US" b="1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Duration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62462" y="1574864"/>
            <a:ext cx="3644646" cy="1006983"/>
            <a:chOff x="0" y="0"/>
            <a:chExt cx="4859528" cy="13426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59528" cy="1342644"/>
            </a:xfrm>
            <a:custGeom>
              <a:avLst/>
              <a:gdLst/>
              <a:ahLst/>
              <a:cxnLst/>
              <a:rect r="r" b="b" t="t" l="l"/>
              <a:pathLst>
                <a:path h="1342644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1342644"/>
                  </a:lnTo>
                  <a:lnTo>
                    <a:pt x="0" y="134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59528" cy="1342644"/>
            </a:xfrm>
            <a:custGeom>
              <a:avLst/>
              <a:gdLst/>
              <a:ahLst/>
              <a:cxnLst/>
              <a:rect r="r" b="b" t="t" l="l"/>
              <a:pathLst>
                <a:path h="1342644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1342644"/>
                  </a:lnTo>
                  <a:lnTo>
                    <a:pt x="0" y="134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859528" cy="1399794"/>
            </a:xfrm>
            <a:prstGeom prst="rect">
              <a:avLst/>
            </a:prstGeom>
          </p:spPr>
          <p:txBody>
            <a:bodyPr anchor="t" rtlCol="false" tIns="417322" lIns="417322" bIns="417322" rIns="417322"/>
            <a:lstStyle/>
            <a:p>
              <a:pPr algn="l">
                <a:lnSpc>
                  <a:spcPts val="3149"/>
                </a:lnSpc>
              </a:pPr>
              <a:r>
                <a:rPr lang="en-US" b="1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What is on screen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07108" y="1574864"/>
            <a:ext cx="3644646" cy="1006983"/>
            <a:chOff x="0" y="0"/>
            <a:chExt cx="4859528" cy="13426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59528" cy="1342644"/>
            </a:xfrm>
            <a:custGeom>
              <a:avLst/>
              <a:gdLst/>
              <a:ahLst/>
              <a:cxnLst/>
              <a:rect r="r" b="b" t="t" l="l"/>
              <a:pathLst>
                <a:path h="1342644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1342644"/>
                  </a:lnTo>
                  <a:lnTo>
                    <a:pt x="0" y="134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59528" cy="1342644"/>
            </a:xfrm>
            <a:custGeom>
              <a:avLst/>
              <a:gdLst/>
              <a:ahLst/>
              <a:cxnLst/>
              <a:rect r="r" b="b" t="t" l="l"/>
              <a:pathLst>
                <a:path h="1342644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1342644"/>
                  </a:lnTo>
                  <a:lnTo>
                    <a:pt x="0" y="134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4859528" cy="1399794"/>
            </a:xfrm>
            <a:prstGeom prst="rect">
              <a:avLst/>
            </a:prstGeom>
          </p:spPr>
          <p:txBody>
            <a:bodyPr anchor="t" rtlCol="false" tIns="417322" lIns="417322" bIns="417322" rIns="417322"/>
            <a:lstStyle/>
            <a:p>
              <a:pPr algn="l">
                <a:lnSpc>
                  <a:spcPts val="3149"/>
                </a:lnSpc>
              </a:pPr>
              <a:r>
                <a:rPr lang="en-US" b="1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Narration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7816" y="2581846"/>
            <a:ext cx="3644646" cy="1533811"/>
            <a:chOff x="0" y="0"/>
            <a:chExt cx="4859528" cy="20450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59528" cy="2045081"/>
            </a:xfrm>
            <a:custGeom>
              <a:avLst/>
              <a:gdLst/>
              <a:ahLst/>
              <a:cxnLst/>
              <a:rect r="r" b="b" t="t" l="l"/>
              <a:pathLst>
                <a:path h="204508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081"/>
                  </a:lnTo>
                  <a:lnTo>
                    <a:pt x="0" y="204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59528" cy="2045081"/>
            </a:xfrm>
            <a:custGeom>
              <a:avLst/>
              <a:gdLst/>
              <a:ahLst/>
              <a:cxnLst/>
              <a:rect r="r" b="b" t="t" l="l"/>
              <a:pathLst>
                <a:path h="204508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081"/>
                  </a:lnTo>
                  <a:lnTo>
                    <a:pt x="0" y="204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4859528" cy="2102231"/>
            </a:xfrm>
            <a:prstGeom prst="rect">
              <a:avLst/>
            </a:prstGeom>
          </p:spPr>
          <p:txBody>
            <a:bodyPr anchor="t" rtlCol="false" tIns="768604" lIns="768604" bIns="768604" rIns="768604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0:00-0:30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462462" y="2581846"/>
            <a:ext cx="3644646" cy="1533811"/>
            <a:chOff x="0" y="0"/>
            <a:chExt cx="4859528" cy="204508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59528" cy="2045081"/>
            </a:xfrm>
            <a:custGeom>
              <a:avLst/>
              <a:gdLst/>
              <a:ahLst/>
              <a:cxnLst/>
              <a:rect r="r" b="b" t="t" l="l"/>
              <a:pathLst>
                <a:path h="204508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081"/>
                  </a:lnTo>
                  <a:lnTo>
                    <a:pt x="0" y="204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59528" cy="2045081"/>
            </a:xfrm>
            <a:custGeom>
              <a:avLst/>
              <a:gdLst/>
              <a:ahLst/>
              <a:cxnLst/>
              <a:rect r="r" b="b" t="t" l="l"/>
              <a:pathLst>
                <a:path h="204508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081"/>
                  </a:lnTo>
                  <a:lnTo>
                    <a:pt x="0" y="204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4859528" cy="2102231"/>
            </a:xfrm>
            <a:prstGeom prst="rect">
              <a:avLst/>
            </a:prstGeom>
          </p:spPr>
          <p:txBody>
            <a:bodyPr anchor="t" rtlCol="false" tIns="768604" lIns="768604" bIns="768604" rIns="768604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Login screen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0">
            <a:off x="8107108" y="2581846"/>
            <a:ext cx="3644646" cy="1533811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8107108" y="2524696"/>
            <a:ext cx="3644646" cy="1590961"/>
          </a:xfrm>
          <a:prstGeom prst="rect">
            <a:avLst/>
          </a:prstGeom>
        </p:spPr>
        <p:txBody>
          <a:bodyPr anchor="t" rtlCol="false" tIns="63500" lIns="101600" bIns="63500" rIns="10160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Nurassyl: How login proccess looks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17816" y="4115657"/>
            <a:ext cx="3644646" cy="2060543"/>
            <a:chOff x="0" y="0"/>
            <a:chExt cx="4859528" cy="27473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59528" cy="2747391"/>
            </a:xfrm>
            <a:custGeom>
              <a:avLst/>
              <a:gdLst/>
              <a:ahLst/>
              <a:cxnLst/>
              <a:rect r="r" b="b" t="t" l="l"/>
              <a:pathLst>
                <a:path h="274739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747391"/>
                  </a:lnTo>
                  <a:lnTo>
                    <a:pt x="0" y="27473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59528" cy="2747391"/>
            </a:xfrm>
            <a:custGeom>
              <a:avLst/>
              <a:gdLst/>
              <a:ahLst/>
              <a:cxnLst/>
              <a:rect r="r" b="b" t="t" l="l"/>
              <a:pathLst>
                <a:path h="274739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747391"/>
                  </a:lnTo>
                  <a:lnTo>
                    <a:pt x="0" y="27473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4859528" cy="2804541"/>
            </a:xfrm>
            <a:prstGeom prst="rect">
              <a:avLst/>
            </a:prstGeom>
          </p:spPr>
          <p:txBody>
            <a:bodyPr anchor="t" rtlCol="false" tIns="1119632" lIns="1119632" bIns="1119632" rIns="1119632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0:30-1:10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0">
            <a:off x="4462462" y="4115657"/>
            <a:ext cx="3644646" cy="2060543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33" id="33"/>
          <p:cNvSpPr txBox="true"/>
          <p:nvPr/>
        </p:nvSpPr>
        <p:spPr>
          <a:xfrm rot="0">
            <a:off x="4462462" y="4058507"/>
            <a:ext cx="3644646" cy="2117693"/>
          </a:xfrm>
          <a:prstGeom prst="rect">
            <a:avLst/>
          </a:prstGeom>
        </p:spPr>
        <p:txBody>
          <a:bodyPr anchor="t" rtlCol="false" tIns="63500" lIns="101600" bIns="63500" rIns="10160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Main pages, burger-menu, references from stage 1</a:t>
            </a:r>
          </a:p>
        </p:txBody>
      </p:sp>
      <p:sp>
        <p:nvSpPr>
          <p:cNvPr name="AutoShape 34" id="34"/>
          <p:cNvSpPr/>
          <p:nvPr/>
        </p:nvSpPr>
        <p:spPr>
          <a:xfrm rot="0">
            <a:off x="8107108" y="4115657"/>
            <a:ext cx="3644646" cy="2060543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35" id="35"/>
          <p:cNvSpPr txBox="true"/>
          <p:nvPr/>
        </p:nvSpPr>
        <p:spPr>
          <a:xfrm rot="0">
            <a:off x="8107108" y="4058507"/>
            <a:ext cx="3644646" cy="2117693"/>
          </a:xfrm>
          <a:prstGeom prst="rect">
            <a:avLst/>
          </a:prstGeom>
        </p:spPr>
        <p:txBody>
          <a:bodyPr anchor="t" rtlCol="false" tIns="63500" lIns="101600" bIns="63500" rIns="10160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Salima: Website content and design desecions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17816" y="6176200"/>
            <a:ext cx="3644646" cy="1533811"/>
            <a:chOff x="0" y="0"/>
            <a:chExt cx="4859528" cy="204508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59528" cy="2045081"/>
            </a:xfrm>
            <a:custGeom>
              <a:avLst/>
              <a:gdLst/>
              <a:ahLst/>
              <a:cxnLst/>
              <a:rect r="r" b="b" t="t" l="l"/>
              <a:pathLst>
                <a:path h="204508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081"/>
                  </a:lnTo>
                  <a:lnTo>
                    <a:pt x="0" y="204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59528" cy="2045081"/>
            </a:xfrm>
            <a:custGeom>
              <a:avLst/>
              <a:gdLst/>
              <a:ahLst/>
              <a:cxnLst/>
              <a:rect r="r" b="b" t="t" l="l"/>
              <a:pathLst>
                <a:path h="204508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081"/>
                  </a:lnTo>
                  <a:lnTo>
                    <a:pt x="0" y="204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4859528" cy="2102231"/>
            </a:xfrm>
            <a:prstGeom prst="rect">
              <a:avLst/>
            </a:prstGeom>
          </p:spPr>
          <p:txBody>
            <a:bodyPr anchor="t" rtlCol="false" tIns="768604" lIns="768604" bIns="768604" rIns="768604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1:10-1:40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0">
            <a:off x="4462462" y="6176200"/>
            <a:ext cx="3644646" cy="1533811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41" id="41"/>
          <p:cNvSpPr txBox="true"/>
          <p:nvPr/>
        </p:nvSpPr>
        <p:spPr>
          <a:xfrm rot="0">
            <a:off x="4462462" y="6119050"/>
            <a:ext cx="3644646" cy="1590961"/>
          </a:xfrm>
          <a:prstGeom prst="rect">
            <a:avLst/>
          </a:prstGeom>
        </p:spPr>
        <p:txBody>
          <a:bodyPr anchor="t" rtlCol="false" tIns="63500" lIns="101600" bIns="63500" rIns="10160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Statistics, survey from stage 1</a:t>
            </a:r>
          </a:p>
        </p:txBody>
      </p:sp>
      <p:sp>
        <p:nvSpPr>
          <p:cNvPr name="AutoShape 42" id="42"/>
          <p:cNvSpPr/>
          <p:nvPr/>
        </p:nvSpPr>
        <p:spPr>
          <a:xfrm rot="0">
            <a:off x="8107108" y="6176200"/>
            <a:ext cx="3644646" cy="1533811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43" id="43"/>
          <p:cNvSpPr txBox="true"/>
          <p:nvPr/>
        </p:nvSpPr>
        <p:spPr>
          <a:xfrm rot="0">
            <a:off x="8107108" y="6119050"/>
            <a:ext cx="3644646" cy="1590961"/>
          </a:xfrm>
          <a:prstGeom prst="rect">
            <a:avLst/>
          </a:prstGeom>
        </p:spPr>
        <p:txBody>
          <a:bodyPr anchor="t" rtlCol="false" tIns="63500" lIns="101600" bIns="63500" rIns="10160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Azhar: the purpose of project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17816" y="7710011"/>
            <a:ext cx="3644646" cy="1534096"/>
            <a:chOff x="0" y="0"/>
            <a:chExt cx="4859528" cy="204546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59528" cy="2045462"/>
            </a:xfrm>
            <a:custGeom>
              <a:avLst/>
              <a:gdLst/>
              <a:ahLst/>
              <a:cxnLst/>
              <a:rect r="r" b="b" t="t" l="l"/>
              <a:pathLst>
                <a:path h="2045462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462"/>
                  </a:lnTo>
                  <a:lnTo>
                    <a:pt x="0" y="2045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59528" cy="2045462"/>
            </a:xfrm>
            <a:custGeom>
              <a:avLst/>
              <a:gdLst/>
              <a:ahLst/>
              <a:cxnLst/>
              <a:rect r="r" b="b" t="t" l="l"/>
              <a:pathLst>
                <a:path h="2045462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462"/>
                  </a:lnTo>
                  <a:lnTo>
                    <a:pt x="0" y="2045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4859528" cy="2102612"/>
            </a:xfrm>
            <a:prstGeom prst="rect">
              <a:avLst/>
            </a:prstGeom>
          </p:spPr>
          <p:txBody>
            <a:bodyPr anchor="t" rtlCol="false" tIns="768731" lIns="768731" bIns="768731" rIns="768731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1:40-2:10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462462" y="7710011"/>
            <a:ext cx="3644646" cy="1534096"/>
            <a:chOff x="0" y="0"/>
            <a:chExt cx="4859528" cy="204546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59528" cy="2045462"/>
            </a:xfrm>
            <a:custGeom>
              <a:avLst/>
              <a:gdLst/>
              <a:ahLst/>
              <a:cxnLst/>
              <a:rect r="r" b="b" t="t" l="l"/>
              <a:pathLst>
                <a:path h="2045462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462"/>
                  </a:lnTo>
                  <a:lnTo>
                    <a:pt x="0" y="2045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859528" cy="2045462"/>
            </a:xfrm>
            <a:custGeom>
              <a:avLst/>
              <a:gdLst/>
              <a:ahLst/>
              <a:cxnLst/>
              <a:rect r="r" b="b" t="t" l="l"/>
              <a:pathLst>
                <a:path h="2045462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462"/>
                  </a:lnTo>
                  <a:lnTo>
                    <a:pt x="0" y="2045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4859528" cy="2102612"/>
            </a:xfrm>
            <a:prstGeom prst="rect">
              <a:avLst/>
            </a:prstGeom>
          </p:spPr>
          <p:txBody>
            <a:bodyPr anchor="t" rtlCol="false" tIns="768731" lIns="768731" bIns="768731" rIns="768731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Demo sketches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 rot="0">
            <a:off x="8107108" y="7710011"/>
            <a:ext cx="3644646" cy="1534096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53" id="53"/>
          <p:cNvSpPr txBox="true"/>
          <p:nvPr/>
        </p:nvSpPr>
        <p:spPr>
          <a:xfrm rot="0">
            <a:off x="8107108" y="7652861"/>
            <a:ext cx="3644646" cy="1591246"/>
          </a:xfrm>
          <a:prstGeom prst="rect">
            <a:avLst/>
          </a:prstGeom>
        </p:spPr>
        <p:txBody>
          <a:bodyPr anchor="t" rtlCol="false" tIns="63500" lIns="101600" bIns="63500" rIns="10160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Azhar: Future of the project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46570" y="2145316"/>
            <a:ext cx="784945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C2. The video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45866" y="3883628"/>
            <a:ext cx="8550878" cy="137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https://drive.google.com/drive/folders/1izH4jyb1Ooi-pvghCGhOfCXmk6A6rqKn?usp=sharing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66838" y="1367314"/>
            <a:ext cx="6952107" cy="165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C3. Production note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59" y="3369659"/>
            <a:ext cx="6147054" cy="2025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 80–120 words, state the tools you used to record and edit, and your export settings — container, codec, resolution, frame rate, bitrate and final file size — and explain why you chose them rather than a higher or lower setting.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92008" y="2480119"/>
            <a:ext cx="15103793" cy="412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1" sz="7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D — Integration with the project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66478" y="1860613"/>
            <a:ext cx="12526994" cy="38100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https://github.com/d30mantcoder/ICTProject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54407" y="2476024"/>
            <a:ext cx="12339066" cy="198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Git clone it Create virtual environment Install dependencies (requirements.txt) Run bridge-test/app.py via python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37999" y="327565"/>
            <a:ext cx="12398026" cy="90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D1. Updated prototype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61677" y="692468"/>
            <a:ext cx="9105043" cy="102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D2. Change log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461677" y="2039207"/>
            <a:ext cx="17528096" cy="5878258"/>
          </a:xfrm>
          <a:prstGeom prst="rect">
            <a:avLst/>
          </a:prstGeom>
          <a:solidFill>
            <a:srgbClr val="F0E9FF"/>
          </a:solidFill>
        </p:spPr>
      </p:sp>
      <p:grpSp>
        <p:nvGrpSpPr>
          <p:cNvPr name="Group 6" id="6"/>
          <p:cNvGrpSpPr/>
          <p:nvPr/>
        </p:nvGrpSpPr>
        <p:grpSpPr>
          <a:xfrm rot="0">
            <a:off x="475964" y="2053495"/>
            <a:ext cx="5833205" cy="1159192"/>
            <a:chOff x="0" y="0"/>
            <a:chExt cx="7777607" cy="15455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7777607" cy="1602740"/>
            </a:xfrm>
            <a:prstGeom prst="rect">
              <a:avLst/>
            </a:prstGeom>
          </p:spPr>
          <p:txBody>
            <a:bodyPr anchor="t" rtlCol="false" tIns="518795" lIns="518795" bIns="518795" rIns="518795"/>
            <a:lstStyle/>
            <a:p>
              <a:pPr algn="l">
                <a:lnSpc>
                  <a:spcPts val="3149"/>
                </a:lnSpc>
              </a:pPr>
              <a:r>
                <a:rPr lang="en-US" b="1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Change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09170" y="2053495"/>
            <a:ext cx="5833205" cy="1159192"/>
            <a:chOff x="0" y="0"/>
            <a:chExt cx="7777607" cy="15455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777607" cy="1602740"/>
            </a:xfrm>
            <a:prstGeom prst="rect">
              <a:avLst/>
            </a:prstGeom>
          </p:spPr>
          <p:txBody>
            <a:bodyPr anchor="t" rtlCol="false" tIns="518795" lIns="518795" bIns="518795" rIns="518795"/>
            <a:lstStyle/>
            <a:p>
              <a:pPr algn="l">
                <a:lnSpc>
                  <a:spcPts val="3149"/>
                </a:lnSpc>
              </a:pPr>
              <a:r>
                <a:rPr lang="en-US" b="1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Reason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42280" y="2053495"/>
            <a:ext cx="5833205" cy="1159192"/>
            <a:chOff x="0" y="0"/>
            <a:chExt cx="7777607" cy="15455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777607" cy="1602740"/>
            </a:xfrm>
            <a:prstGeom prst="rect">
              <a:avLst/>
            </a:prstGeom>
          </p:spPr>
          <p:txBody>
            <a:bodyPr anchor="t" rtlCol="false" tIns="518795" lIns="518795" bIns="518795" rIns="518795"/>
            <a:lstStyle/>
            <a:p>
              <a:pPr algn="l">
                <a:lnSpc>
                  <a:spcPts val="3149"/>
                </a:lnSpc>
              </a:pPr>
              <a:r>
                <a:rPr lang="en-US" b="1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Status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5964" y="3212783"/>
            <a:ext cx="5833205" cy="1159192"/>
            <a:chOff x="0" y="0"/>
            <a:chExt cx="7777607" cy="15455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7777607" cy="1602740"/>
            </a:xfrm>
            <a:prstGeom prst="rect">
              <a:avLst/>
            </a:prstGeom>
          </p:spPr>
          <p:txBody>
            <a:bodyPr anchor="t" rtlCol="false" tIns="518668" lIns="518668" bIns="518668" rIns="518668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Added fetching from LMS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309170" y="3212783"/>
            <a:ext cx="5833205" cy="1159192"/>
            <a:chOff x="0" y="0"/>
            <a:chExt cx="7777607" cy="15455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7777607" cy="1602740"/>
            </a:xfrm>
            <a:prstGeom prst="rect">
              <a:avLst/>
            </a:prstGeom>
          </p:spPr>
          <p:txBody>
            <a:bodyPr anchor="t" rtlCol="false" tIns="518668" lIns="518668" bIns="518668" rIns="518668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To make the website usable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142280" y="3212783"/>
            <a:ext cx="5833205" cy="1159192"/>
            <a:chOff x="0" y="0"/>
            <a:chExt cx="7777607" cy="15455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7777607" cy="1602740"/>
            </a:xfrm>
            <a:prstGeom prst="rect">
              <a:avLst/>
            </a:prstGeom>
          </p:spPr>
          <p:txBody>
            <a:bodyPr anchor="t" rtlCol="false" tIns="518668" lIns="518668" bIns="518668" rIns="518668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Using real LMS data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75964" y="4371975"/>
            <a:ext cx="5833205" cy="1765554"/>
            <a:chOff x="0" y="0"/>
            <a:chExt cx="7777607" cy="23540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777607" cy="2354072"/>
            </a:xfrm>
            <a:custGeom>
              <a:avLst/>
              <a:gdLst/>
              <a:ahLst/>
              <a:cxnLst/>
              <a:rect r="r" b="b" t="t" l="l"/>
              <a:pathLst>
                <a:path h="2354072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072"/>
                  </a:lnTo>
                  <a:lnTo>
                    <a:pt x="0" y="2354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777607" cy="2354072"/>
            </a:xfrm>
            <a:custGeom>
              <a:avLst/>
              <a:gdLst/>
              <a:ahLst/>
              <a:cxnLst/>
              <a:rect r="r" b="b" t="t" l="l"/>
              <a:pathLst>
                <a:path h="2354072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072"/>
                  </a:lnTo>
                  <a:lnTo>
                    <a:pt x="0" y="2354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7777607" cy="2411222"/>
            </a:xfrm>
            <a:prstGeom prst="rect">
              <a:avLst/>
            </a:prstGeom>
          </p:spPr>
          <p:txBody>
            <a:bodyPr anchor="t" rtlCol="false" tIns="922909" lIns="922909" bIns="922909" rIns="922909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Redesign of UX of LMS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309170" y="4371975"/>
            <a:ext cx="5833205" cy="1765554"/>
            <a:chOff x="0" y="0"/>
            <a:chExt cx="7777607" cy="23540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777607" cy="2354072"/>
            </a:xfrm>
            <a:custGeom>
              <a:avLst/>
              <a:gdLst/>
              <a:ahLst/>
              <a:cxnLst/>
              <a:rect r="r" b="b" t="t" l="l"/>
              <a:pathLst>
                <a:path h="2354072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072"/>
                  </a:lnTo>
                  <a:lnTo>
                    <a:pt x="0" y="2354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777607" cy="2354072"/>
            </a:xfrm>
            <a:custGeom>
              <a:avLst/>
              <a:gdLst/>
              <a:ahLst/>
              <a:cxnLst/>
              <a:rect r="r" b="b" t="t" l="l"/>
              <a:pathLst>
                <a:path h="2354072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072"/>
                  </a:lnTo>
                  <a:lnTo>
                    <a:pt x="0" y="2354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7777607" cy="2411222"/>
            </a:xfrm>
            <a:prstGeom prst="rect">
              <a:avLst/>
            </a:prstGeom>
          </p:spPr>
          <p:txBody>
            <a:bodyPr anchor="t" rtlCol="false" tIns="922909" lIns="922909" bIns="922909" rIns="922909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UX of original LMS was uncomfortable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rot="0">
            <a:off x="12142280" y="4371975"/>
            <a:ext cx="5833205" cy="1765554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39" id="39"/>
          <p:cNvSpPr txBox="true"/>
          <p:nvPr/>
        </p:nvSpPr>
        <p:spPr>
          <a:xfrm rot="0">
            <a:off x="12142280" y="4314825"/>
            <a:ext cx="5833205" cy="1822704"/>
          </a:xfrm>
          <a:prstGeom prst="rect">
            <a:avLst/>
          </a:prstGeom>
        </p:spPr>
        <p:txBody>
          <a:bodyPr anchor="t" rtlCol="false" tIns="63500" lIns="101600" bIns="63500" rIns="10160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Most useful buttons takes place on the main page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475964" y="6137529"/>
            <a:ext cx="5833205" cy="1765744"/>
            <a:chOff x="0" y="0"/>
            <a:chExt cx="7777607" cy="235432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777607" cy="2354326"/>
            </a:xfrm>
            <a:custGeom>
              <a:avLst/>
              <a:gdLst/>
              <a:ahLst/>
              <a:cxnLst/>
              <a:rect r="r" b="b" t="t" l="l"/>
              <a:pathLst>
                <a:path h="2354326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777607" cy="2354326"/>
            </a:xfrm>
            <a:custGeom>
              <a:avLst/>
              <a:gdLst/>
              <a:ahLst/>
              <a:cxnLst/>
              <a:rect r="r" b="b" t="t" l="l"/>
              <a:pathLst>
                <a:path h="2354326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7777607" cy="2411476"/>
            </a:xfrm>
            <a:prstGeom prst="rect">
              <a:avLst/>
            </a:prstGeom>
          </p:spPr>
          <p:txBody>
            <a:bodyPr anchor="t" rtlCol="false" tIns="923163" lIns="923163" bIns="923163" rIns="923163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Added asynchronius sessions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rot="0">
            <a:off x="6309170" y="6137529"/>
            <a:ext cx="5833205" cy="1765744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45" id="45"/>
          <p:cNvSpPr txBox="true"/>
          <p:nvPr/>
        </p:nvSpPr>
        <p:spPr>
          <a:xfrm rot="0">
            <a:off x="6309170" y="6080379"/>
            <a:ext cx="5833205" cy="1822894"/>
          </a:xfrm>
          <a:prstGeom prst="rect">
            <a:avLst/>
          </a:prstGeom>
        </p:spPr>
        <p:txBody>
          <a:bodyPr anchor="t" rtlCol="false" tIns="63500" lIns="101600" bIns="63500" rIns="10160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It was impossible to work for more than 1 person at the same time before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2142280" y="6137529"/>
            <a:ext cx="5833205" cy="1765744"/>
            <a:chOff x="0" y="0"/>
            <a:chExt cx="7777607" cy="235432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777607" cy="2354326"/>
            </a:xfrm>
            <a:custGeom>
              <a:avLst/>
              <a:gdLst/>
              <a:ahLst/>
              <a:cxnLst/>
              <a:rect r="r" b="b" t="t" l="l"/>
              <a:pathLst>
                <a:path h="2354326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777607" cy="2354326"/>
            </a:xfrm>
            <a:custGeom>
              <a:avLst/>
              <a:gdLst/>
              <a:ahLst/>
              <a:cxnLst/>
              <a:rect r="r" b="b" t="t" l="l"/>
              <a:pathLst>
                <a:path h="2354326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7777607" cy="2411476"/>
            </a:xfrm>
            <a:prstGeom prst="rect">
              <a:avLst/>
            </a:prstGeom>
          </p:spPr>
          <p:txBody>
            <a:bodyPr anchor="t" rtlCol="false" tIns="923163" lIns="923163" bIns="923163" rIns="923163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Server handles multi-user sessions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960120" y="822960"/>
            <a:ext cx="8046720" cy="1051560"/>
          </a:xfrm>
          <a:prstGeom prst="rect">
            <a:avLst/>
          </a:prstGeom>
        </p:spPr>
        <p:txBody>
          <a:bodyPr anchor="t" rtlCol="false" tIns="365760" bIns="36576" wrap="square">
            <a:spAutoFit/>
          </a:bodyPr>
          <a:lstStyle/>
          <a:p>
            <a:pPr algn="l">
              <a:lnSpc>
                <a:spcPts val="4860"/>
              </a:lnSpc>
            </a:pPr>
            <a:r>
              <a:rPr sz="3900" b="1">
                <a:solidFill>
                  <a:srgbClr val="FFFFFF"/>
                </a:solidFill>
                <a:latin typeface="Arial"/>
              </a:rPr>
              <a:t>D3. Team contributions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9966960" y="1051560"/>
          <a:ext cx="731520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3383280"/>
              </a:tblGrid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Members</a:t>
                      </a:r>
                    </a:p>
                  </a:txBody>
                  <a:tcPr anchor="ctr" marL="146304" marR="128016" marT="45720" marB="45720">
                    <a:solidFill>
                      <a:srgbClr val="6740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Parts</a:t>
                      </a:r>
                    </a:p>
                  </a:txBody>
                  <a:tcPr anchor="ctr" marL="146304" marR="128016" marT="45720" marB="45720">
                    <a:solidFill>
                      <a:srgbClr val="6740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anchor="ctr" marL="146304" marR="128016" marT="45720" marB="45720">
                    <a:solidFill>
                      <a:srgbClr val="6740DC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2B2248"/>
                          </a:solidFill>
                          <a:latin typeface="Arial"/>
                        </a:rPr>
                        <a:t>Salima</a:t>
                      </a:r>
                    </a:p>
                  </a:txBody>
                  <a:tcPr anchor="ctr" marL="146304" marR="128016" marT="45720" marB="45720">
                    <a:solidFill>
                      <a:srgbClr val="E8DE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B2248"/>
                          </a:solidFill>
                          <a:latin typeface="Arial"/>
                        </a:rPr>
                        <a:t>C, D</a:t>
                      </a:r>
                    </a:p>
                  </a:txBody>
                  <a:tcPr anchor="ctr" marL="146304" marR="128016" marT="45720" marB="45720">
                    <a:solidFill>
                      <a:srgbClr val="F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B2248"/>
                          </a:solidFill>
                          <a:latin typeface="Arial"/>
                        </a:rPr>
                        <a:t>Editing the video</a:t>
                      </a:r>
                    </a:p>
                  </a:txBody>
                  <a:tcPr anchor="ctr" marL="146304" marR="128016" marT="45720" marB="45720">
                    <a:solidFill>
                      <a:srgbClr val="F6F2FF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2B2248"/>
                          </a:solidFill>
                          <a:latin typeface="Arial"/>
                        </a:rPr>
                        <a:t>Azhar</a:t>
                      </a:r>
                    </a:p>
                  </a:txBody>
                  <a:tcPr anchor="ctr" marL="146304" marR="128016" marT="45720" marB="45720">
                    <a:solidFill>
                      <a:srgbClr val="E8DE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B2248"/>
                          </a:solidFill>
                          <a:latin typeface="Arial"/>
                        </a:rPr>
                        <a:t>A, D</a:t>
                      </a:r>
                    </a:p>
                  </a:txBody>
                  <a:tcPr anchor="ctr" marL="146304" marR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B2248"/>
                          </a:solidFill>
                          <a:latin typeface="Arial"/>
                        </a:rPr>
                        <a:t>Comparing formats</a:t>
                      </a:r>
                    </a:p>
                  </a:txBody>
                  <a:tcPr anchor="ctr" marL="146304" marR="128016" marT="45720" marB="45720">
                    <a:solidFill>
                      <a:srgbClr val="FFFFFF"/>
                    </a:solidFill>
                  </a:tcPr>
                </a:tc>
              </a:tr>
              <a:tr h="160020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2B2248"/>
                          </a:solidFill>
                          <a:latin typeface="Arial"/>
                        </a:rPr>
                        <a:t>Nurassyl</a:t>
                      </a:r>
                    </a:p>
                  </a:txBody>
                  <a:tcPr anchor="ctr" marL="146304" marR="128016" marT="45720" marB="45720">
                    <a:solidFill>
                      <a:srgbClr val="E8DE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B2248"/>
                          </a:solidFill>
                          <a:latin typeface="Arial"/>
                        </a:rPr>
                        <a:t>B, D</a:t>
                      </a:r>
                    </a:p>
                  </a:txBody>
                  <a:tcPr anchor="ctr" marL="146304" marR="128016" marT="45720" marB="45720">
                    <a:solidFill>
                      <a:srgbClr val="F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2B2248"/>
                          </a:solidFill>
                          <a:latin typeface="Arial"/>
                        </a:rPr>
                        <a:t>Multimedia integration</a:t>
                      </a:r>
                    </a:p>
                  </a:txBody>
                  <a:tcPr anchor="ctr" marL="146304" marR="128016" marT="45720" marB="45720">
                    <a:solidFill>
                      <a:srgbClr val="F6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427952" y="2305241"/>
            <a:ext cx="11431810" cy="526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b="1" sz="1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DAHZBMRjZZk</dc:identifier>
  <dcterms:modified xsi:type="dcterms:W3CDTF">2011-08-01T06:04:30Z</dcterms:modified>
  <cp:revision>1</cp:revision>
  <dc:title>ICT Assignment 4 — Editable text and tables</dc:title>
</cp:coreProperties>
</file>