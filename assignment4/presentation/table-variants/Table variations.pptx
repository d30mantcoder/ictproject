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1: Чистая классика. Контрастная шапка, свободные поля и спокойные строки.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2: Строки-карточки. Каждая строка отделена от соседних; форматы видны сразу.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3: Пастельные колонки. Один формат — одна цветная колонка.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4: Три карточки. Свойства и применение собраны в трёх независимых карточках.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5: Акцент на WebP. Выделена колонка формата, выбранного для проекта.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6: Тонкие линии. Лёгкая таблица без вертикальной сетки.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7: Тёмная таблица. Светлый текст и бирюзовые детали на тёмной поверхности.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8: Пиксельное окно. Таблица внутри окна в стиле исходного пиксельного фона.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9: Отдельные ячейки. Мягкие ячейки с промежутками вместо сплошной сетки.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10: Цветные вкладки. Форматы вынесены в цветные вкладки слева.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11: Таблица с пояснением. Краткий вывод слева, компактное сравнение справа.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12: Крупная нумерация. Крупные номера задают порядок чтения.
Original pixel-art background preserved. Editable table/text/shape objects. Visual references: https://www.canva.com/templates/s/table/ ; https://www.canva.com/graphs/tables/ . Independent layout inspired by these examples, not a copied Canva template.
PNG | Lossless; supports transparency | Screenshots and graphics with crisp text or edges
JPEG | Lossy; compact for photographs | Photos where a smaller file matters more than perfect detail
WebP | Lossy or lossless; compact | Web images and the attendance preview in our prototype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13: Плотная: светлая. Все 10 форматов и 7 исходных полей на одном слайде.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14: Плотная: по группам. Изображения, аудио и видео разделены внутри одной таблицы.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15: Плотная: акцент на применении. Колонка применения выделена; остальные поля сохранены.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16: Плотная: тёмная. Полная таблица с тёмным фоном и спокойной сеткой.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17: Команда: карточки. Три человека — три самостоятельные карточки.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18: Команда: таблица. Обычная таблица с хорошими отступами и выравниванием.
Original pixel-art background preserved. Editable table/text/shape objects. Visual references: https://www.canva.com/templates/s/table/ ; https://www.canva.com/graphs/tables/ . Independent layout inspired by these examples, not a copied Canva template.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640080"/>
            <a:ext cx="16642080" cy="8138160"/>
          </a:xfrm>
          <a:prstGeom prst="roundRect">
            <a:avLst>
              <a:gd name="adj" fmla="val 2809"/>
            </a:avLst>
          </a:prstGeom>
          <a:solidFill>
            <a:srgbClr val="20133E">
              <a:alpha val="97000"/>
            </a:srgbClr>
          </a:solidFill>
          <a:ln w="12700">
            <a:solidFill>
              <a:srgbClr val="20133E">
                <a:alpha val="97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463040" y="1152144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C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/ ВАРИАНТЫ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17320" y="1874520"/>
            <a:ext cx="1536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способов оформить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твои таблицы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1481328" y="3776472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5D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Прежние пиксельные фоны. Разные композиции,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E5D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отступы, заголовки и акценты.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463040" y="5349240"/>
            <a:ext cx="4800600" cy="2423160"/>
          </a:xfrm>
          <a:prstGeom prst="roundRect">
            <a:avLst>
              <a:gd name="adj" fmla="val 6792"/>
            </a:avLst>
          </a:prstGeom>
          <a:solidFill>
            <a:srgbClr val="7044DA"/>
          </a:solidFill>
          <a:ln w="12700">
            <a:solidFill>
              <a:srgbClr val="7044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37360" y="5605272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01–12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737360" y="63185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слайд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737360" y="689457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формата, двенадцать вариантов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629400" y="5349240"/>
            <a:ext cx="4800600" cy="2423160"/>
          </a:xfrm>
          <a:prstGeom prst="roundRect">
            <a:avLst>
              <a:gd name="adj" fmla="val 6792"/>
            </a:avLst>
          </a:prstGeom>
          <a:solidFill>
            <a:srgbClr val="35244F"/>
          </a:solidFill>
          <a:ln w="12700">
            <a:solidFill>
              <a:srgbClr val="3524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5605272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13–16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903720" y="63185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форматов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903720" y="689457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оформления плотной таблицы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795760" y="5349240"/>
            <a:ext cx="4800600" cy="2423160"/>
          </a:xfrm>
          <a:prstGeom prst="roundRect">
            <a:avLst>
              <a:gd name="adj" fmla="val 6792"/>
            </a:avLst>
          </a:prstGeom>
          <a:solidFill>
            <a:srgbClr val="35244F"/>
          </a:solidFill>
          <a:ln w="12700">
            <a:solidFill>
              <a:srgbClr val="3524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0" y="5605272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17–18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2070080" y="63185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2070080" y="689457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варианта распределения задач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81328" y="8238744"/>
            <a:ext cx="1527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D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 варианты и выбери номера, которые нравятся.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Чистая классика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Контрастная шапка, свободные поля и спокойные строки.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31720"/>
            <a:ext cx="16550640" cy="5321808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4712" y="2615184"/>
          <a:ext cx="16038576" cy="4599432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  <a:gridCol w="7991856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Строки-карточки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строка отделена от соседних; форматы видны сразу.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23408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06240" y="23408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738360" y="23408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68680" y="2880360"/>
            <a:ext cx="16550640" cy="128016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80160" y="3273552"/>
            <a:ext cx="2103120" cy="457200"/>
          </a:xfrm>
          <a:prstGeom prst="roundRect">
            <a:avLst>
              <a:gd name="adj" fmla="val 44000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89888" y="33284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4206240" y="3044952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738360" y="3044952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500" dirty="0"/>
          </a:p>
        </p:txBody>
      </p:sp>
      <p:sp>
        <p:nvSpPr>
          <p:cNvPr id="18" name="Shape 14"/>
          <p:cNvSpPr/>
          <p:nvPr/>
        </p:nvSpPr>
        <p:spPr>
          <a:xfrm>
            <a:off x="868680" y="4389120"/>
            <a:ext cx="16550640" cy="128016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280160" y="4782312"/>
            <a:ext cx="2103120" cy="457200"/>
          </a:xfrm>
          <a:prstGeom prst="roundRect">
            <a:avLst>
              <a:gd name="adj" fmla="val 44000"/>
            </a:avLst>
          </a:prstGeom>
          <a:solidFill>
            <a:srgbClr val="FFE1EE"/>
          </a:solidFill>
          <a:ln w="12700">
            <a:solidFill>
              <a:srgbClr val="FFE1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89888" y="48371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2500" dirty="0"/>
          </a:p>
        </p:txBody>
      </p:sp>
      <p:sp>
        <p:nvSpPr>
          <p:cNvPr id="21" name="Text 17"/>
          <p:cNvSpPr/>
          <p:nvPr/>
        </p:nvSpPr>
        <p:spPr>
          <a:xfrm>
            <a:off x="4206240" y="4553712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738360" y="4553712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500" dirty="0"/>
          </a:p>
        </p:txBody>
      </p:sp>
      <p:sp>
        <p:nvSpPr>
          <p:cNvPr id="23" name="Shape 19"/>
          <p:cNvSpPr/>
          <p:nvPr/>
        </p:nvSpPr>
        <p:spPr>
          <a:xfrm>
            <a:off x="868680" y="5897880"/>
            <a:ext cx="16550640" cy="128016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80160" y="6291072"/>
            <a:ext cx="2103120" cy="457200"/>
          </a:xfrm>
          <a:prstGeom prst="roundRect">
            <a:avLst>
              <a:gd name="adj" fmla="val 44000"/>
            </a:avLst>
          </a:prstGeom>
          <a:solidFill>
            <a:srgbClr val="D8F5E8"/>
          </a:solidFill>
          <a:ln w="12700">
            <a:solidFill>
              <a:srgbClr val="D8F5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389888" y="63459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2500" dirty="0"/>
          </a:p>
        </p:txBody>
      </p:sp>
      <p:sp>
        <p:nvSpPr>
          <p:cNvPr id="26" name="Text 22"/>
          <p:cNvSpPr/>
          <p:nvPr/>
        </p:nvSpPr>
        <p:spPr>
          <a:xfrm>
            <a:off x="4206240" y="6062472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9738360" y="6062472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500" dirty="0"/>
          </a:p>
        </p:txBody>
      </p:sp>
      <p:sp>
        <p:nvSpPr>
          <p:cNvPr id="28" name="Shape 24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Пастельные колонки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формат — одна цветная колонка.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31720"/>
            <a:ext cx="16550640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33472"/>
          <a:ext cx="16002000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187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5E8"/>
                    </a:solidFill>
                  </a:tcPr>
                </a:tc>
              </a:tr>
              <a:tr h="187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5E8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Три карточки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 и применение собраны в трёх независимых карточках.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450592"/>
            <a:ext cx="5303520" cy="525780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" y="2450592"/>
            <a:ext cx="5303520" cy="1170432"/>
          </a:xfrm>
          <a:prstGeom prst="roundRect">
            <a:avLst>
              <a:gd name="adj" fmla="val 18750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07008" y="27614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207008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207008" y="4489704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1207008" y="5650992"/>
            <a:ext cx="4553712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07008" y="596188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207008" y="6464808"/>
            <a:ext cx="4553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6492240" y="2450592"/>
            <a:ext cx="5303520" cy="525780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2450592"/>
            <a:ext cx="5303520" cy="1170432"/>
          </a:xfrm>
          <a:prstGeom prst="roundRect">
            <a:avLst>
              <a:gd name="adj" fmla="val 18750"/>
            </a:avLst>
          </a:prstGeom>
          <a:solidFill>
            <a:srgbClr val="FFE1EE"/>
          </a:solidFill>
          <a:ln w="12700">
            <a:solidFill>
              <a:srgbClr val="FFE1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30568" y="27614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6830568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830568" y="4489704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700" dirty="0"/>
          </a:p>
        </p:txBody>
      </p:sp>
      <p:sp>
        <p:nvSpPr>
          <p:cNvPr id="23" name="Shape 19"/>
          <p:cNvSpPr/>
          <p:nvPr/>
        </p:nvSpPr>
        <p:spPr>
          <a:xfrm>
            <a:off x="6830568" y="5650992"/>
            <a:ext cx="4553712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30568" y="596188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830568" y="6464808"/>
            <a:ext cx="4553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12115800" y="2450592"/>
            <a:ext cx="5303520" cy="525780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115800" y="2450592"/>
            <a:ext cx="5303520" cy="1170432"/>
          </a:xfrm>
          <a:prstGeom prst="roundRect">
            <a:avLst>
              <a:gd name="adj" fmla="val 18750"/>
            </a:avLst>
          </a:prstGeom>
          <a:solidFill>
            <a:srgbClr val="D8F5E8"/>
          </a:solidFill>
          <a:ln w="12700">
            <a:solidFill>
              <a:srgbClr val="D8F5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2454128" y="27614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3600" dirty="0"/>
          </a:p>
        </p:txBody>
      </p:sp>
      <p:sp>
        <p:nvSpPr>
          <p:cNvPr id="29" name="Text 25"/>
          <p:cNvSpPr/>
          <p:nvPr/>
        </p:nvSpPr>
        <p:spPr>
          <a:xfrm>
            <a:off x="12454128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12454128" y="4489704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700" dirty="0"/>
          </a:p>
        </p:txBody>
      </p:sp>
      <p:sp>
        <p:nvSpPr>
          <p:cNvPr id="31" name="Shape 27"/>
          <p:cNvSpPr/>
          <p:nvPr/>
        </p:nvSpPr>
        <p:spPr>
          <a:xfrm>
            <a:off x="12454128" y="5650992"/>
            <a:ext cx="4553712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2454128" y="596188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12454128" y="6464808"/>
            <a:ext cx="4553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400" dirty="0"/>
          </a:p>
        </p:txBody>
      </p:sp>
      <p:sp>
        <p:nvSpPr>
          <p:cNvPr id="34" name="Shape 30"/>
          <p:cNvSpPr/>
          <p:nvPr/>
        </p:nvSpPr>
        <p:spPr>
          <a:xfrm>
            <a:off x="1042416" y="7882128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88720" y="7973568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Акцент на WebP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Выделена колонка формата, выбранного для проекта.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40864"/>
            <a:ext cx="16550640" cy="5358384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33472"/>
          <a:ext cx="16002000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1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1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1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0AD"/>
                    </a:solidFill>
                  </a:tcPr>
                </a:tc>
              </a:tr>
              <a:tr h="187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187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Тонкие линии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Лёгкая таблица без вертикальной сетки.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40864"/>
            <a:ext cx="16550640" cy="5358384"/>
          </a:xfrm>
          <a:prstGeom prst="roundRect">
            <a:avLst>
              <a:gd name="adj" fmla="val 204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25880" y="2724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70248" y="27249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802368" y="27249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325880" y="3310128"/>
            <a:ext cx="15636240" cy="0"/>
          </a:xfrm>
          <a:prstGeom prst="line">
            <a:avLst/>
          </a:prstGeom>
          <a:noFill/>
          <a:ln w="21590">
            <a:solidFill>
              <a:srgbClr val="2820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25880" y="3493008"/>
            <a:ext cx="2468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270248" y="3493008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9802368" y="3493008"/>
            <a:ext cx="6949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500" dirty="0"/>
          </a:p>
        </p:txBody>
      </p:sp>
      <p:sp>
        <p:nvSpPr>
          <p:cNvPr id="18" name="Shape 14"/>
          <p:cNvSpPr/>
          <p:nvPr/>
        </p:nvSpPr>
        <p:spPr>
          <a:xfrm>
            <a:off x="1325880" y="4553712"/>
            <a:ext cx="1563624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325880" y="4700016"/>
            <a:ext cx="2468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4270248" y="4700016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500" dirty="0"/>
          </a:p>
        </p:txBody>
      </p:sp>
      <p:sp>
        <p:nvSpPr>
          <p:cNvPr id="21" name="Text 17"/>
          <p:cNvSpPr/>
          <p:nvPr/>
        </p:nvSpPr>
        <p:spPr>
          <a:xfrm>
            <a:off x="9802368" y="4700016"/>
            <a:ext cx="6949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500" dirty="0"/>
          </a:p>
        </p:txBody>
      </p:sp>
      <p:sp>
        <p:nvSpPr>
          <p:cNvPr id="22" name="Shape 18"/>
          <p:cNvSpPr/>
          <p:nvPr/>
        </p:nvSpPr>
        <p:spPr>
          <a:xfrm>
            <a:off x="1325880" y="5760720"/>
            <a:ext cx="1563624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325880" y="5907024"/>
            <a:ext cx="2468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4270248" y="5907024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500" dirty="0"/>
          </a:p>
        </p:txBody>
      </p:sp>
      <p:sp>
        <p:nvSpPr>
          <p:cNvPr id="25" name="Text 21"/>
          <p:cNvSpPr/>
          <p:nvPr/>
        </p:nvSpPr>
        <p:spPr>
          <a:xfrm>
            <a:off x="9802368" y="5907024"/>
            <a:ext cx="6949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500" dirty="0"/>
          </a:p>
        </p:txBody>
      </p:sp>
      <p:sp>
        <p:nvSpPr>
          <p:cNvPr id="26" name="Shape 22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Тёмная таблица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Светлый текст и бирюзовые детали на тёмной поверхности.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40864"/>
            <a:ext cx="16550640" cy="5358384"/>
          </a:xfrm>
          <a:prstGeom prst="roundRect">
            <a:avLst>
              <a:gd name="adj" fmla="val 4266"/>
            </a:avLst>
          </a:prstGeom>
          <a:solidFill>
            <a:srgbClr val="20133E">
              <a:alpha val="98000"/>
            </a:srgbClr>
          </a:solidFill>
          <a:ln w="12700">
            <a:solidFill>
              <a:srgbClr val="20133E">
                <a:alpha val="9800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33472"/>
          <a:ext cx="16002000" cy="4626864"/>
        </p:xfrm>
        <a:graphic>
          <a:graphicData uri="http://schemas.openxmlformats.org/drawingml/2006/table">
            <a:tbl>
              <a:tblPr/>
              <a:tblGrid>
                <a:gridCol w="2377440"/>
                <a:gridCol w="5623560"/>
                <a:gridCol w="80010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31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31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3185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756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4A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1143000" y="3374136"/>
            <a:ext cx="16002000" cy="0"/>
          </a:xfrm>
          <a:prstGeom prst="line">
            <a:avLst/>
          </a:prstGeom>
          <a:noFill/>
          <a:ln w="27940">
            <a:solidFill>
              <a:srgbClr val="84E8E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Пиксельное окно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внутри окна в стиле исходного пиксельного фона.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05256" y="2404872"/>
            <a:ext cx="16514064" cy="5404104"/>
          </a:xfrm>
          <a:prstGeom prst="rect">
            <a:avLst/>
          </a:prstGeom>
          <a:solidFill>
            <a:srgbClr val="190D35"/>
          </a:solidFill>
          <a:ln w="12700">
            <a:solidFill>
              <a:srgbClr val="190D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32104" y="2331720"/>
            <a:ext cx="16514064" cy="5404104"/>
          </a:xfrm>
          <a:prstGeom prst="rect">
            <a:avLst/>
          </a:prstGeom>
          <a:solidFill>
            <a:srgbClr val="C9B7F1"/>
          </a:solidFill>
          <a:ln w="12700">
            <a:solidFill>
              <a:srgbClr val="C9B7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2688" y="2432304"/>
            <a:ext cx="16312896" cy="5202936"/>
          </a:xfrm>
          <a:prstGeom prst="rect">
            <a:avLst/>
          </a:prstGeom>
          <a:solidFill>
            <a:srgbClr val="F6F0FF"/>
          </a:solidFill>
          <a:ln w="12700">
            <a:solidFill>
              <a:srgbClr val="F6F0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2688" y="2432304"/>
            <a:ext cx="16312896" cy="594360"/>
          </a:xfrm>
          <a:prstGeom prst="rect">
            <a:avLst/>
          </a:prstGeom>
          <a:solidFill>
            <a:srgbClr val="51328C"/>
          </a:solidFill>
          <a:ln w="12700">
            <a:solidFill>
              <a:srgbClr val="5132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2578608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MEDIA_FORMATS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15901416" y="2606040"/>
            <a:ext cx="219456" cy="219456"/>
          </a:xfrm>
          <a:prstGeom prst="rect">
            <a:avLst/>
          </a:prstGeom>
          <a:solidFill>
            <a:srgbClr val="93E8ED"/>
          </a:solidFill>
          <a:ln w="12700">
            <a:solidFill>
              <a:srgbClr val="93E8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294608" y="2606040"/>
            <a:ext cx="219456" cy="219456"/>
          </a:xfrm>
          <a:prstGeom prst="rect">
            <a:avLst/>
          </a:prstGeom>
          <a:solidFill>
            <a:srgbClr val="FFD5E6"/>
          </a:solidFill>
          <a:ln w="12700">
            <a:solidFill>
              <a:srgbClr val="FFD5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687800" y="2606040"/>
            <a:ext cx="219456" cy="219456"/>
          </a:xfrm>
          <a:prstGeom prst="rect">
            <a:avLst/>
          </a:prstGeom>
          <a:solidFill>
            <a:srgbClr val="EED9A4"/>
          </a:solidFill>
          <a:ln w="12700">
            <a:solidFill>
              <a:srgbClr val="EED9A4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3264408"/>
          <a:ext cx="15727680" cy="4005072"/>
        </p:xfrm>
        <a:graphic>
          <a:graphicData uri="http://schemas.openxmlformats.org/drawingml/2006/table">
            <a:tbl>
              <a:tblPr/>
              <a:tblGrid>
                <a:gridCol w="2331720"/>
                <a:gridCol w="5577840"/>
                <a:gridCol w="781812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1042416" y="7927848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88720" y="8019288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Отдельные ячейки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Мягкие ячейки с промежутками вместо сплошной сетки.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423160"/>
            <a:ext cx="2651760" cy="713232"/>
          </a:xfrm>
          <a:prstGeom prst="roundRect">
            <a:avLst>
              <a:gd name="adj" fmla="val 20513"/>
            </a:avLst>
          </a:prstGeom>
          <a:solidFill>
            <a:srgbClr val="7044DA"/>
          </a:solidFill>
          <a:ln w="12700">
            <a:solidFill>
              <a:srgbClr val="7044D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69848" y="259689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749040" y="2423160"/>
            <a:ext cx="5577840" cy="713232"/>
          </a:xfrm>
          <a:prstGeom prst="roundRect">
            <a:avLst>
              <a:gd name="adj" fmla="val 20513"/>
            </a:avLst>
          </a:prstGeom>
          <a:solidFill>
            <a:srgbClr val="7044DA"/>
          </a:solidFill>
          <a:ln w="12700">
            <a:solidFill>
              <a:srgbClr val="7044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50208" y="2596896"/>
            <a:ext cx="5175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555480" y="2423160"/>
            <a:ext cx="7863840" cy="713232"/>
          </a:xfrm>
          <a:prstGeom prst="roundRect">
            <a:avLst>
              <a:gd name="adj" fmla="val 20513"/>
            </a:avLst>
          </a:prstGeom>
          <a:solidFill>
            <a:srgbClr val="7044DA"/>
          </a:solidFill>
          <a:ln w="12700">
            <a:solidFill>
              <a:srgbClr val="7044D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56648" y="2596896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68680" y="3337560"/>
            <a:ext cx="2651760" cy="1179576"/>
          </a:xfrm>
          <a:prstGeom prst="roundRect">
            <a:avLst>
              <a:gd name="adj" fmla="val 12403"/>
            </a:avLst>
          </a:prstGeom>
          <a:solidFill>
            <a:srgbClr val="E3D4FF"/>
          </a:solidFill>
          <a:ln w="12700">
            <a:solidFill>
              <a:srgbClr val="E3D4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97280" y="3502152"/>
            <a:ext cx="2194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3749040" y="3337560"/>
            <a:ext cx="5577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77640" y="3502152"/>
            <a:ext cx="5120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500" dirty="0"/>
          </a:p>
        </p:txBody>
      </p:sp>
      <p:sp>
        <p:nvSpPr>
          <p:cNvPr id="20" name="Shape 16"/>
          <p:cNvSpPr/>
          <p:nvPr/>
        </p:nvSpPr>
        <p:spPr>
          <a:xfrm>
            <a:off x="9555480" y="3337560"/>
            <a:ext cx="7863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784080" y="3502152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500" dirty="0"/>
          </a:p>
        </p:txBody>
      </p:sp>
      <p:sp>
        <p:nvSpPr>
          <p:cNvPr id="22" name="Shape 18"/>
          <p:cNvSpPr/>
          <p:nvPr/>
        </p:nvSpPr>
        <p:spPr>
          <a:xfrm>
            <a:off x="868680" y="4718304"/>
            <a:ext cx="2651760" cy="1179576"/>
          </a:xfrm>
          <a:prstGeom prst="roundRect">
            <a:avLst>
              <a:gd name="adj" fmla="val 12403"/>
            </a:avLst>
          </a:prstGeom>
          <a:solidFill>
            <a:srgbClr val="FFDEED"/>
          </a:solidFill>
          <a:ln w="12700">
            <a:solidFill>
              <a:srgbClr val="FFDE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97280" y="4882896"/>
            <a:ext cx="2194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3000" dirty="0"/>
          </a:p>
        </p:txBody>
      </p:sp>
      <p:sp>
        <p:nvSpPr>
          <p:cNvPr id="24" name="Shape 20"/>
          <p:cNvSpPr/>
          <p:nvPr/>
        </p:nvSpPr>
        <p:spPr>
          <a:xfrm>
            <a:off x="3749040" y="4718304"/>
            <a:ext cx="5577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77640" y="4882896"/>
            <a:ext cx="5120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500" dirty="0"/>
          </a:p>
        </p:txBody>
      </p:sp>
      <p:sp>
        <p:nvSpPr>
          <p:cNvPr id="26" name="Shape 22"/>
          <p:cNvSpPr/>
          <p:nvPr/>
        </p:nvSpPr>
        <p:spPr>
          <a:xfrm>
            <a:off x="9555480" y="4718304"/>
            <a:ext cx="7863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784080" y="4882896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500" dirty="0"/>
          </a:p>
        </p:txBody>
      </p:sp>
      <p:sp>
        <p:nvSpPr>
          <p:cNvPr id="28" name="Shape 24"/>
          <p:cNvSpPr/>
          <p:nvPr/>
        </p:nvSpPr>
        <p:spPr>
          <a:xfrm>
            <a:off x="868680" y="6099048"/>
            <a:ext cx="2651760" cy="1179576"/>
          </a:xfrm>
          <a:prstGeom prst="roundRect">
            <a:avLst>
              <a:gd name="adj" fmla="val 12403"/>
            </a:avLst>
          </a:prstGeom>
          <a:solidFill>
            <a:srgbClr val="D6F4E5"/>
          </a:solidFill>
          <a:ln w="12700">
            <a:solidFill>
              <a:srgbClr val="D6F4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97280" y="6263640"/>
            <a:ext cx="2194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3000" dirty="0"/>
          </a:p>
        </p:txBody>
      </p:sp>
      <p:sp>
        <p:nvSpPr>
          <p:cNvPr id="30" name="Shape 26"/>
          <p:cNvSpPr/>
          <p:nvPr/>
        </p:nvSpPr>
        <p:spPr>
          <a:xfrm>
            <a:off x="3749040" y="6099048"/>
            <a:ext cx="5577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77640" y="6263640"/>
            <a:ext cx="5120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500" dirty="0"/>
          </a:p>
        </p:txBody>
      </p:sp>
      <p:sp>
        <p:nvSpPr>
          <p:cNvPr id="32" name="Shape 28"/>
          <p:cNvSpPr/>
          <p:nvPr/>
        </p:nvSpPr>
        <p:spPr>
          <a:xfrm>
            <a:off x="9555480" y="6099048"/>
            <a:ext cx="7863840" cy="1179576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784080" y="6263640"/>
            <a:ext cx="7406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500" dirty="0"/>
          </a:p>
        </p:txBody>
      </p:sp>
      <p:sp>
        <p:nvSpPr>
          <p:cNvPr id="34" name="Shape 30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Цветные вкладки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Форматы вынесены в цветные вкладки слева.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468880"/>
            <a:ext cx="16550640" cy="1444752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" y="2468880"/>
            <a:ext cx="2834640" cy="1444752"/>
          </a:xfrm>
          <a:prstGeom prst="roundRect">
            <a:avLst>
              <a:gd name="adj" fmla="val 13924"/>
            </a:avLst>
          </a:prstGeom>
          <a:solidFill>
            <a:srgbClr val="6936C8"/>
          </a:solidFill>
          <a:ln w="12700">
            <a:solidFill>
              <a:srgbClr val="6936C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70432" y="289864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105656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105656" y="309981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9756648" y="2670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756648" y="3099816"/>
            <a:ext cx="7159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868680" y="4160520"/>
            <a:ext cx="16550640" cy="1444752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" y="4160520"/>
            <a:ext cx="2834640" cy="1444752"/>
          </a:xfrm>
          <a:prstGeom prst="roundRect">
            <a:avLst>
              <a:gd name="adj" fmla="val 13924"/>
            </a:avLst>
          </a:prstGeom>
          <a:solidFill>
            <a:srgbClr val="B84678"/>
          </a:solidFill>
          <a:ln w="12700">
            <a:solidFill>
              <a:srgbClr val="B846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432" y="459028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4105656" y="4361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105656" y="479145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500" dirty="0"/>
          </a:p>
        </p:txBody>
      </p:sp>
      <p:sp>
        <p:nvSpPr>
          <p:cNvPr id="22" name="Text 18"/>
          <p:cNvSpPr/>
          <p:nvPr/>
        </p:nvSpPr>
        <p:spPr>
          <a:xfrm>
            <a:off x="9756648" y="43616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756648" y="4791456"/>
            <a:ext cx="7159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868680" y="5852160"/>
            <a:ext cx="16550640" cy="1444752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8680" y="5852160"/>
            <a:ext cx="2834640" cy="1444752"/>
          </a:xfrm>
          <a:prstGeom prst="roundRect">
            <a:avLst>
              <a:gd name="adj" fmla="val 13924"/>
            </a:avLst>
          </a:prstGeom>
          <a:solidFill>
            <a:srgbClr val="177D6B"/>
          </a:solidFill>
          <a:ln w="12700">
            <a:solidFill>
              <a:srgbClr val="177D6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70432" y="628192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3400" dirty="0"/>
          </a:p>
        </p:txBody>
      </p:sp>
      <p:sp>
        <p:nvSpPr>
          <p:cNvPr id="27" name="Text 23"/>
          <p:cNvSpPr/>
          <p:nvPr/>
        </p:nvSpPr>
        <p:spPr>
          <a:xfrm>
            <a:off x="4105656" y="6053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TRAIT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105656" y="648309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9756648" y="60533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756648" y="6483096"/>
            <a:ext cx="7159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400" dirty="0"/>
          </a:p>
        </p:txBody>
      </p:sp>
      <p:sp>
        <p:nvSpPr>
          <p:cNvPr id="31" name="Shape 27"/>
          <p:cNvSpPr/>
          <p:nvPr/>
        </p:nvSpPr>
        <p:spPr>
          <a:xfrm>
            <a:off x="1042416" y="781812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88720" y="790956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Таблица с пояснением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Краткий вывод слева, компактное сравнение справа.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4617720" cy="5358384"/>
          </a:xfrm>
          <a:prstGeom prst="roundRect">
            <a:avLst>
              <a:gd name="adj" fmla="val 4356"/>
            </a:avLst>
          </a:prstGeom>
          <a:solidFill>
            <a:srgbClr val="20133E"/>
          </a:solidFill>
          <a:ln w="12700">
            <a:solidFill>
              <a:srgbClr val="2013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34440" y="2825496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files.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jobs.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1234440" y="4599432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8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format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E8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content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E8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its use.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234440" y="6684264"/>
            <a:ext cx="3703320" cy="457200"/>
          </a:xfrm>
          <a:prstGeom prst="roundRect">
            <a:avLst>
              <a:gd name="adj" fmla="val 44000"/>
            </a:avLst>
          </a:prstGeom>
          <a:solidFill>
            <a:srgbClr val="7051B3"/>
          </a:solidFill>
          <a:ln w="12700">
            <a:solidFill>
              <a:srgbClr val="7051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44168" y="6739128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 IN OUR APP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715000" y="2377440"/>
            <a:ext cx="11704320" cy="5358384"/>
          </a:xfrm>
          <a:prstGeom prst="roundRect">
            <a:avLst>
              <a:gd name="adj" fmla="val 37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633472"/>
          <a:ext cx="11247120" cy="4736592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  <a:gridCol w="5349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TRAIT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Lossless; supports transparency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 and graphics with crisp text or edges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Lossy; compact for photographs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where a smaller file matters more than perfect detail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9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 or lossless; compact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images and the attendance preview in our prototype</a:t>
                      </a:r>
                      <a:endParaRPr lang="en-US" sz="2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1042416" y="786384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88720" y="795528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Крупная нумерация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Multimedia formats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1645920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 /  JPEG  /  WebP — same content, different table layouts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номера задают порядок чтения.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16550640" cy="5358384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34440" y="2871216"/>
            <a:ext cx="1261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AA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2743200" y="29443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5486400" y="2825496"/>
            <a:ext cx="4709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Lossless; supports transparency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10771632" y="2825496"/>
            <a:ext cx="6062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graphics with crisp text or edges</a:t>
            </a:r>
            <a:endParaRPr lang="en-US" sz="2500" dirty="0"/>
          </a:p>
        </p:txBody>
      </p:sp>
      <p:sp>
        <p:nvSpPr>
          <p:cNvPr id="15" name="Shape 11"/>
          <p:cNvSpPr/>
          <p:nvPr/>
        </p:nvSpPr>
        <p:spPr>
          <a:xfrm>
            <a:off x="2743200" y="3995928"/>
            <a:ext cx="1412748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34440" y="4416552"/>
            <a:ext cx="1261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AA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7" name="Text 13"/>
          <p:cNvSpPr/>
          <p:nvPr/>
        </p:nvSpPr>
        <p:spPr>
          <a:xfrm>
            <a:off x="2743200" y="448970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5486400" y="4370832"/>
            <a:ext cx="4709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Lossy; compact for photographs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10771632" y="4370832"/>
            <a:ext cx="6062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where a smaller file matters more than perfect detail</a:t>
            </a:r>
            <a:endParaRPr lang="en-US" sz="2500" dirty="0"/>
          </a:p>
        </p:txBody>
      </p:sp>
      <p:sp>
        <p:nvSpPr>
          <p:cNvPr id="20" name="Shape 16"/>
          <p:cNvSpPr/>
          <p:nvPr/>
        </p:nvSpPr>
        <p:spPr>
          <a:xfrm>
            <a:off x="2743200" y="5541264"/>
            <a:ext cx="1412748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234440" y="5961888"/>
            <a:ext cx="1261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AA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22" name="Text 18"/>
          <p:cNvSpPr/>
          <p:nvPr/>
        </p:nvSpPr>
        <p:spPr>
          <a:xfrm>
            <a:off x="2743200" y="60350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5486400" y="5916168"/>
            <a:ext cx="4709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or lossless; compact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10771632" y="5916168"/>
            <a:ext cx="6062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images and the attendance preview in our prototype</a:t>
            </a:r>
            <a:endParaRPr lang="en-US" sz="2500" dirty="0"/>
          </a:p>
        </p:txBody>
      </p:sp>
      <p:sp>
        <p:nvSpPr>
          <p:cNvPr id="25" name="Shape 21"/>
          <p:cNvSpPr/>
          <p:nvPr/>
        </p:nvSpPr>
        <p:spPr>
          <a:xfrm>
            <a:off x="1042416" y="7726680"/>
            <a:ext cx="16203168" cy="548640"/>
          </a:xfrm>
          <a:prstGeom prst="roundRect">
            <a:avLst>
              <a:gd name="adj" fmla="val 23333"/>
            </a:avLst>
          </a:prstGeom>
          <a:solidFill>
            <a:srgbClr val="20133E">
              <a:alpha val="90000"/>
            </a:srgbClr>
          </a:solidFill>
          <a:ln w="12700">
            <a:solidFill>
              <a:srgbClr val="20133E">
                <a:alpha val="9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88720" y="7818120"/>
            <a:ext cx="1591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prototype: WebP preview + inline SVG interface icons.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Плотная: светлая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 Format comparison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10 форматов и 7 исходных полей на одном слайде.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1920240"/>
            <a:ext cx="16550640" cy="6053328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48840"/>
          <a:ext cx="16093440" cy="5550408"/>
        </p:xfrm>
        <a:graphic>
          <a:graphicData uri="http://schemas.openxmlformats.org/drawingml/2006/table">
            <a:tbl>
              <a:tblPr/>
              <a:tblGrid>
                <a:gridCol w="2057400"/>
                <a:gridCol w="1188720"/>
                <a:gridCol w="2286000"/>
                <a:gridCol w="2651760"/>
                <a:gridCol w="2286000"/>
                <a:gridCol w="160020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/ MOTION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SIZE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USE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Alpha; APNG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evidence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Neither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modes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preview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/ text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MP3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/ music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AAC (M4A)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 (PCM)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Uncompressed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master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MP4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delivery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WebM VP9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alpha*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playback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web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/ transfer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1005840" y="8147304"/>
            <a:ext cx="16276320" cy="859536"/>
          </a:xfrm>
          <a:prstGeom prst="roundRect">
            <a:avLst>
              <a:gd name="adj" fmla="val 13830"/>
            </a:avLst>
          </a:prstGeom>
          <a:solidFill>
            <a:srgbClr val="20133E">
              <a:alpha val="92000"/>
            </a:srgbClr>
          </a:solidFill>
          <a:ln w="12700">
            <a:solidFill>
              <a:srgbClr val="20133E">
                <a:alpha val="92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88720" y="8238744"/>
            <a:ext cx="1591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= package. Codec = how the media is encoded.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188720" y="8659368"/>
            <a:ext cx="1591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*Support varies by codec, OS and device. File size depends on content and encoding.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Плотная: по группам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 Format comparison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Изображения, аудио и видео разделены внутри одной таблицы.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1920240"/>
            <a:ext cx="16550640" cy="6053328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8720" y="210312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246120" y="2103120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34840" y="210312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20840" y="21031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/ MOTION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372600" y="2103120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SIZE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658600" y="210312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258800" y="2103120"/>
            <a:ext cx="3831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USE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15568" y="2665476"/>
            <a:ext cx="16047720" cy="64008"/>
          </a:xfrm>
          <a:prstGeom prst="rect">
            <a:avLst/>
          </a:prstGeom>
          <a:solidFill>
            <a:srgbClr val="BAA3E3"/>
          </a:solidFill>
          <a:ln w="12700">
            <a:solidFill>
              <a:srgbClr val="BAA3E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88720" y="28346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3246120" y="283464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434840" y="28346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6720840" y="28346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Alpha; APNG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9372600" y="28346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photos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11658600" y="28346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13258800" y="28346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evidence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1115568" y="3227832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88720" y="3282696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3246120" y="328269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4434840" y="328269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6720840" y="32826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9372600" y="328269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photos</a:t>
            </a:r>
            <a:endParaRPr lang="en-US" sz="1900" dirty="0"/>
          </a:p>
        </p:txBody>
      </p:sp>
      <p:sp>
        <p:nvSpPr>
          <p:cNvPr id="31" name="Text 27"/>
          <p:cNvSpPr/>
          <p:nvPr/>
        </p:nvSpPr>
        <p:spPr>
          <a:xfrm>
            <a:off x="11658600" y="3282696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13258800" y="3282696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1115568" y="3675888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188720" y="3730752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</a:t>
            </a:r>
            <a:endParaRPr lang="en-US" sz="1900" dirty="0"/>
          </a:p>
        </p:txBody>
      </p:sp>
      <p:sp>
        <p:nvSpPr>
          <p:cNvPr id="35" name="Text 31"/>
          <p:cNvSpPr/>
          <p:nvPr/>
        </p:nvSpPr>
        <p:spPr>
          <a:xfrm>
            <a:off x="3246120" y="373075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900" dirty="0"/>
          </a:p>
        </p:txBody>
      </p:sp>
      <p:sp>
        <p:nvSpPr>
          <p:cNvPr id="36" name="Text 32"/>
          <p:cNvSpPr/>
          <p:nvPr/>
        </p:nvSpPr>
        <p:spPr>
          <a:xfrm>
            <a:off x="4434840" y="373075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modes</a:t>
            </a:r>
            <a:endParaRPr lang="en-US" sz="1900" dirty="0"/>
          </a:p>
        </p:txBody>
      </p:sp>
      <p:sp>
        <p:nvSpPr>
          <p:cNvPr id="37" name="Text 33"/>
          <p:cNvSpPr/>
          <p:nvPr/>
        </p:nvSpPr>
        <p:spPr>
          <a:xfrm>
            <a:off x="6720840" y="3730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+ motion</a:t>
            </a:r>
            <a:endParaRPr lang="en-US" sz="1900" dirty="0"/>
          </a:p>
        </p:txBody>
      </p:sp>
      <p:sp>
        <p:nvSpPr>
          <p:cNvPr id="38" name="Text 34"/>
          <p:cNvSpPr/>
          <p:nvPr/>
        </p:nvSpPr>
        <p:spPr>
          <a:xfrm>
            <a:off x="9372600" y="373075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</a:t>
            </a:r>
            <a:endParaRPr lang="en-US" sz="1900" dirty="0"/>
          </a:p>
        </p:txBody>
      </p:sp>
      <p:sp>
        <p:nvSpPr>
          <p:cNvPr id="39" name="Text 35"/>
          <p:cNvSpPr/>
          <p:nvPr/>
        </p:nvSpPr>
        <p:spPr>
          <a:xfrm>
            <a:off x="11658600" y="373075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13258800" y="3730752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preview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1115568" y="4123944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188720" y="417880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900" dirty="0"/>
          </a:p>
        </p:txBody>
      </p:sp>
      <p:sp>
        <p:nvSpPr>
          <p:cNvPr id="43" name="Text 39"/>
          <p:cNvSpPr/>
          <p:nvPr/>
        </p:nvSpPr>
        <p:spPr>
          <a:xfrm>
            <a:off x="3246120" y="417880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900" dirty="0"/>
          </a:p>
        </p:txBody>
      </p:sp>
      <p:sp>
        <p:nvSpPr>
          <p:cNvPr id="44" name="Text 40"/>
          <p:cNvSpPr/>
          <p:nvPr/>
        </p:nvSpPr>
        <p:spPr>
          <a:xfrm>
            <a:off x="4434840" y="41788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/ text</a:t>
            </a:r>
            <a:endParaRPr lang="en-US" sz="1900" dirty="0"/>
          </a:p>
        </p:txBody>
      </p:sp>
      <p:sp>
        <p:nvSpPr>
          <p:cNvPr id="45" name="Text 41"/>
          <p:cNvSpPr/>
          <p:nvPr/>
        </p:nvSpPr>
        <p:spPr>
          <a:xfrm>
            <a:off x="6720840" y="417880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+ motion</a:t>
            </a:r>
            <a:endParaRPr lang="en-US" sz="1900" dirty="0"/>
          </a:p>
        </p:txBody>
      </p:sp>
      <p:sp>
        <p:nvSpPr>
          <p:cNvPr id="46" name="Text 42"/>
          <p:cNvSpPr/>
          <p:nvPr/>
        </p:nvSpPr>
        <p:spPr>
          <a:xfrm>
            <a:off x="9372600" y="41788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icons</a:t>
            </a:r>
            <a:endParaRPr lang="en-US" sz="1900" dirty="0"/>
          </a:p>
        </p:txBody>
      </p:sp>
      <p:sp>
        <p:nvSpPr>
          <p:cNvPr id="47" name="Text 43"/>
          <p:cNvSpPr/>
          <p:nvPr/>
        </p:nvSpPr>
        <p:spPr>
          <a:xfrm>
            <a:off x="11658600" y="417880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</a:t>
            </a:r>
            <a:endParaRPr lang="en-US" sz="1900" dirty="0"/>
          </a:p>
        </p:txBody>
      </p:sp>
      <p:sp>
        <p:nvSpPr>
          <p:cNvPr id="48" name="Text 44"/>
          <p:cNvSpPr/>
          <p:nvPr/>
        </p:nvSpPr>
        <p:spPr>
          <a:xfrm>
            <a:off x="13258800" y="417880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icons</a:t>
            </a:r>
            <a:endParaRPr lang="en-US" sz="1900" dirty="0"/>
          </a:p>
        </p:txBody>
      </p:sp>
      <p:sp>
        <p:nvSpPr>
          <p:cNvPr id="49" name="Shape 45"/>
          <p:cNvSpPr/>
          <p:nvPr/>
        </p:nvSpPr>
        <p:spPr>
          <a:xfrm>
            <a:off x="1115568" y="4572000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115568" y="4567428"/>
            <a:ext cx="16047720" cy="64008"/>
          </a:xfrm>
          <a:prstGeom prst="rect">
            <a:avLst/>
          </a:prstGeom>
          <a:solidFill>
            <a:srgbClr val="72C9BC"/>
          </a:solidFill>
          <a:ln w="12700">
            <a:solidFill>
              <a:srgbClr val="72C9B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188720" y="4736592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</a:t>
            </a:r>
            <a:endParaRPr lang="en-US" sz="1900" dirty="0"/>
          </a:p>
        </p:txBody>
      </p:sp>
      <p:sp>
        <p:nvSpPr>
          <p:cNvPr id="52" name="Text 48"/>
          <p:cNvSpPr/>
          <p:nvPr/>
        </p:nvSpPr>
        <p:spPr>
          <a:xfrm>
            <a:off x="3246120" y="4736592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900" dirty="0"/>
          </a:p>
        </p:txBody>
      </p:sp>
      <p:sp>
        <p:nvSpPr>
          <p:cNvPr id="53" name="Text 49"/>
          <p:cNvSpPr/>
          <p:nvPr/>
        </p:nvSpPr>
        <p:spPr>
          <a:xfrm>
            <a:off x="4434840" y="47365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</a:t>
            </a:r>
            <a:endParaRPr lang="en-US" sz="1900" dirty="0"/>
          </a:p>
        </p:txBody>
      </p:sp>
      <p:sp>
        <p:nvSpPr>
          <p:cNvPr id="54" name="Text 50"/>
          <p:cNvSpPr/>
          <p:nvPr/>
        </p:nvSpPr>
        <p:spPr>
          <a:xfrm>
            <a:off x="6720840" y="473659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00" dirty="0"/>
          </a:p>
        </p:txBody>
      </p:sp>
      <p:sp>
        <p:nvSpPr>
          <p:cNvPr id="55" name="Text 51"/>
          <p:cNvSpPr/>
          <p:nvPr/>
        </p:nvSpPr>
        <p:spPr>
          <a:xfrm>
            <a:off x="9372600" y="47365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900" dirty="0"/>
          </a:p>
        </p:txBody>
      </p:sp>
      <p:sp>
        <p:nvSpPr>
          <p:cNvPr id="56" name="Text 52"/>
          <p:cNvSpPr/>
          <p:nvPr/>
        </p:nvSpPr>
        <p:spPr>
          <a:xfrm>
            <a:off x="11658600" y="4736592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</a:t>
            </a:r>
            <a:endParaRPr lang="en-US" sz="1900" dirty="0"/>
          </a:p>
        </p:txBody>
      </p:sp>
      <p:sp>
        <p:nvSpPr>
          <p:cNvPr id="57" name="Text 53"/>
          <p:cNvSpPr/>
          <p:nvPr/>
        </p:nvSpPr>
        <p:spPr>
          <a:xfrm>
            <a:off x="13258800" y="4736592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/ music</a:t>
            </a:r>
            <a:endParaRPr lang="en-US" sz="1900" dirty="0"/>
          </a:p>
        </p:txBody>
      </p:sp>
      <p:sp>
        <p:nvSpPr>
          <p:cNvPr id="58" name="Shape 54"/>
          <p:cNvSpPr/>
          <p:nvPr/>
        </p:nvSpPr>
        <p:spPr>
          <a:xfrm>
            <a:off x="1115568" y="5129784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1188720" y="518464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AAC (M4A)</a:t>
            </a:r>
            <a:endParaRPr lang="en-US" sz="1900" dirty="0"/>
          </a:p>
        </p:txBody>
      </p:sp>
      <p:sp>
        <p:nvSpPr>
          <p:cNvPr id="60" name="Text 56"/>
          <p:cNvSpPr/>
          <p:nvPr/>
        </p:nvSpPr>
        <p:spPr>
          <a:xfrm>
            <a:off x="3246120" y="518464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900" dirty="0"/>
          </a:p>
        </p:txBody>
      </p:sp>
      <p:sp>
        <p:nvSpPr>
          <p:cNvPr id="61" name="Text 57"/>
          <p:cNvSpPr/>
          <p:nvPr/>
        </p:nvSpPr>
        <p:spPr>
          <a:xfrm>
            <a:off x="4434840" y="51846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</a:t>
            </a:r>
            <a:endParaRPr lang="en-US" sz="1900" dirty="0"/>
          </a:p>
        </p:txBody>
      </p:sp>
      <p:sp>
        <p:nvSpPr>
          <p:cNvPr id="62" name="Text 58"/>
          <p:cNvSpPr/>
          <p:nvPr/>
        </p:nvSpPr>
        <p:spPr>
          <a:xfrm>
            <a:off x="6720840" y="518464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00" dirty="0"/>
          </a:p>
        </p:txBody>
      </p:sp>
      <p:sp>
        <p:nvSpPr>
          <p:cNvPr id="63" name="Text 59"/>
          <p:cNvSpPr/>
          <p:nvPr/>
        </p:nvSpPr>
        <p:spPr>
          <a:xfrm>
            <a:off x="9372600" y="51846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900" dirty="0"/>
          </a:p>
        </p:txBody>
      </p:sp>
      <p:sp>
        <p:nvSpPr>
          <p:cNvPr id="64" name="Text 60"/>
          <p:cNvSpPr/>
          <p:nvPr/>
        </p:nvSpPr>
        <p:spPr>
          <a:xfrm>
            <a:off x="11658600" y="518464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Broad*</a:t>
            </a:r>
            <a:endParaRPr lang="en-US" sz="1900" dirty="0"/>
          </a:p>
        </p:txBody>
      </p:sp>
      <p:sp>
        <p:nvSpPr>
          <p:cNvPr id="65" name="Text 61"/>
          <p:cNvSpPr/>
          <p:nvPr/>
        </p:nvSpPr>
        <p:spPr>
          <a:xfrm>
            <a:off x="13258800" y="518464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Narration</a:t>
            </a:r>
            <a:endParaRPr lang="en-US" sz="1900" dirty="0"/>
          </a:p>
        </p:txBody>
      </p:sp>
      <p:sp>
        <p:nvSpPr>
          <p:cNvPr id="66" name="Shape 62"/>
          <p:cNvSpPr/>
          <p:nvPr/>
        </p:nvSpPr>
        <p:spPr>
          <a:xfrm>
            <a:off x="1115568" y="5577840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188720" y="5632704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 (PCM)</a:t>
            </a:r>
            <a:endParaRPr lang="en-US" sz="1900" dirty="0"/>
          </a:p>
        </p:txBody>
      </p:sp>
      <p:sp>
        <p:nvSpPr>
          <p:cNvPr id="68" name="Text 64"/>
          <p:cNvSpPr/>
          <p:nvPr/>
        </p:nvSpPr>
        <p:spPr>
          <a:xfrm>
            <a:off x="3246120" y="5632704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900" dirty="0"/>
          </a:p>
        </p:txBody>
      </p:sp>
      <p:sp>
        <p:nvSpPr>
          <p:cNvPr id="69" name="Text 65"/>
          <p:cNvSpPr/>
          <p:nvPr/>
        </p:nvSpPr>
        <p:spPr>
          <a:xfrm>
            <a:off x="4434840" y="56327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Uncompressed</a:t>
            </a:r>
            <a:endParaRPr lang="en-US" sz="1900" dirty="0"/>
          </a:p>
        </p:txBody>
      </p:sp>
      <p:sp>
        <p:nvSpPr>
          <p:cNvPr id="70" name="Text 66"/>
          <p:cNvSpPr/>
          <p:nvPr/>
        </p:nvSpPr>
        <p:spPr>
          <a:xfrm>
            <a:off x="6720840" y="56327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00" dirty="0"/>
          </a:p>
        </p:txBody>
      </p:sp>
      <p:sp>
        <p:nvSpPr>
          <p:cNvPr id="71" name="Text 67"/>
          <p:cNvSpPr/>
          <p:nvPr/>
        </p:nvSpPr>
        <p:spPr>
          <a:xfrm>
            <a:off x="9372600" y="56327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1900" dirty="0"/>
          </a:p>
        </p:txBody>
      </p:sp>
      <p:sp>
        <p:nvSpPr>
          <p:cNvPr id="72" name="Text 68"/>
          <p:cNvSpPr/>
          <p:nvPr/>
        </p:nvSpPr>
        <p:spPr>
          <a:xfrm>
            <a:off x="11658600" y="5632704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Broad*</a:t>
            </a:r>
            <a:endParaRPr lang="en-US" sz="1900" dirty="0"/>
          </a:p>
        </p:txBody>
      </p:sp>
      <p:sp>
        <p:nvSpPr>
          <p:cNvPr id="73" name="Text 69"/>
          <p:cNvSpPr/>
          <p:nvPr/>
        </p:nvSpPr>
        <p:spPr>
          <a:xfrm>
            <a:off x="13258800" y="5632704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master</a:t>
            </a:r>
            <a:endParaRPr lang="en-US" sz="1900" dirty="0"/>
          </a:p>
        </p:txBody>
      </p:sp>
      <p:sp>
        <p:nvSpPr>
          <p:cNvPr id="74" name="Shape 70"/>
          <p:cNvSpPr/>
          <p:nvPr/>
        </p:nvSpPr>
        <p:spPr>
          <a:xfrm>
            <a:off x="1115568" y="6025896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115568" y="6021324"/>
            <a:ext cx="16047720" cy="64008"/>
          </a:xfrm>
          <a:prstGeom prst="rect">
            <a:avLst/>
          </a:prstGeom>
          <a:solidFill>
            <a:srgbClr val="E6A3C0"/>
          </a:solidFill>
          <a:ln w="12700">
            <a:solidFill>
              <a:srgbClr val="E6A3C0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188720" y="619048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H.264</a:t>
            </a:r>
            <a:endParaRPr lang="en-US" sz="1900" dirty="0"/>
          </a:p>
        </p:txBody>
      </p:sp>
      <p:sp>
        <p:nvSpPr>
          <p:cNvPr id="77" name="Text 73"/>
          <p:cNvSpPr/>
          <p:nvPr/>
        </p:nvSpPr>
        <p:spPr>
          <a:xfrm>
            <a:off x="3246120" y="619048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900" dirty="0"/>
          </a:p>
        </p:txBody>
      </p:sp>
      <p:sp>
        <p:nvSpPr>
          <p:cNvPr id="78" name="Text 74"/>
          <p:cNvSpPr/>
          <p:nvPr/>
        </p:nvSpPr>
        <p:spPr>
          <a:xfrm>
            <a:off x="4434840" y="61904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lossy</a:t>
            </a:r>
            <a:endParaRPr lang="en-US" sz="1900" dirty="0"/>
          </a:p>
        </p:txBody>
      </p:sp>
      <p:sp>
        <p:nvSpPr>
          <p:cNvPr id="79" name="Text 75"/>
          <p:cNvSpPr/>
          <p:nvPr/>
        </p:nvSpPr>
        <p:spPr>
          <a:xfrm>
            <a:off x="6720840" y="61904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Motion; no alpha</a:t>
            </a:r>
            <a:endParaRPr lang="en-US" sz="1900" dirty="0"/>
          </a:p>
        </p:txBody>
      </p:sp>
      <p:sp>
        <p:nvSpPr>
          <p:cNvPr id="80" name="Text 76"/>
          <p:cNvSpPr/>
          <p:nvPr/>
        </p:nvSpPr>
        <p:spPr>
          <a:xfrm>
            <a:off x="9372600" y="61904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Bitrate-based</a:t>
            </a:r>
            <a:endParaRPr lang="en-US" sz="1900" dirty="0"/>
          </a:p>
        </p:txBody>
      </p:sp>
      <p:sp>
        <p:nvSpPr>
          <p:cNvPr id="81" name="Text 77"/>
          <p:cNvSpPr/>
          <p:nvPr/>
        </p:nvSpPr>
        <p:spPr>
          <a:xfrm>
            <a:off x="11658600" y="619048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Broad*</a:t>
            </a:r>
            <a:endParaRPr lang="en-US" sz="1900" dirty="0"/>
          </a:p>
        </p:txBody>
      </p:sp>
      <p:sp>
        <p:nvSpPr>
          <p:cNvPr id="82" name="Text 78"/>
          <p:cNvSpPr/>
          <p:nvPr/>
        </p:nvSpPr>
        <p:spPr>
          <a:xfrm>
            <a:off x="13258800" y="619048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delivery</a:t>
            </a:r>
            <a:endParaRPr lang="en-US" sz="1900" dirty="0"/>
          </a:p>
        </p:txBody>
      </p:sp>
      <p:sp>
        <p:nvSpPr>
          <p:cNvPr id="83" name="Shape 79"/>
          <p:cNvSpPr/>
          <p:nvPr/>
        </p:nvSpPr>
        <p:spPr>
          <a:xfrm>
            <a:off x="1115568" y="6583680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1188720" y="6638544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WebM VP9</a:t>
            </a:r>
            <a:endParaRPr lang="en-US" sz="1900" dirty="0"/>
          </a:p>
        </p:txBody>
      </p:sp>
      <p:sp>
        <p:nvSpPr>
          <p:cNvPr id="85" name="Text 81"/>
          <p:cNvSpPr/>
          <p:nvPr/>
        </p:nvSpPr>
        <p:spPr>
          <a:xfrm>
            <a:off x="3246120" y="6638544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900" dirty="0"/>
          </a:p>
        </p:txBody>
      </p:sp>
      <p:sp>
        <p:nvSpPr>
          <p:cNvPr id="86" name="Text 82"/>
          <p:cNvSpPr/>
          <p:nvPr/>
        </p:nvSpPr>
        <p:spPr>
          <a:xfrm>
            <a:off x="4434840" y="663854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lossy</a:t>
            </a:r>
            <a:endParaRPr lang="en-US" sz="1900" dirty="0"/>
          </a:p>
        </p:txBody>
      </p:sp>
      <p:sp>
        <p:nvSpPr>
          <p:cNvPr id="87" name="Text 83"/>
          <p:cNvSpPr/>
          <p:nvPr/>
        </p:nvSpPr>
        <p:spPr>
          <a:xfrm>
            <a:off x="6720840" y="663854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Motion; alpha*</a:t>
            </a:r>
            <a:endParaRPr lang="en-US" sz="1900" dirty="0"/>
          </a:p>
        </p:txBody>
      </p:sp>
      <p:sp>
        <p:nvSpPr>
          <p:cNvPr id="88" name="Text 84"/>
          <p:cNvSpPr/>
          <p:nvPr/>
        </p:nvSpPr>
        <p:spPr>
          <a:xfrm>
            <a:off x="9372600" y="663854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Bitrate-based</a:t>
            </a:r>
            <a:endParaRPr lang="en-US" sz="1900" dirty="0"/>
          </a:p>
        </p:txBody>
      </p:sp>
      <p:sp>
        <p:nvSpPr>
          <p:cNvPr id="89" name="Text 85"/>
          <p:cNvSpPr/>
          <p:nvPr/>
        </p:nvSpPr>
        <p:spPr>
          <a:xfrm>
            <a:off x="11658600" y="6638544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Modern*</a:t>
            </a:r>
            <a:endParaRPr lang="en-US" sz="1900" dirty="0"/>
          </a:p>
        </p:txBody>
      </p:sp>
      <p:sp>
        <p:nvSpPr>
          <p:cNvPr id="90" name="Text 86"/>
          <p:cNvSpPr/>
          <p:nvPr/>
        </p:nvSpPr>
        <p:spPr>
          <a:xfrm>
            <a:off x="13258800" y="6638544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playback</a:t>
            </a:r>
            <a:endParaRPr lang="en-US" sz="1900" dirty="0"/>
          </a:p>
        </p:txBody>
      </p:sp>
      <p:sp>
        <p:nvSpPr>
          <p:cNvPr id="91" name="Shape 87"/>
          <p:cNvSpPr/>
          <p:nvPr/>
        </p:nvSpPr>
        <p:spPr>
          <a:xfrm>
            <a:off x="1115568" y="7031736"/>
            <a:ext cx="16047720" cy="0"/>
          </a:xfrm>
          <a:prstGeom prst="line">
            <a:avLst/>
          </a:prstGeom>
          <a:noFill/>
          <a:ln w="7620">
            <a:solidFill>
              <a:srgbClr val="ECE5F5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1188720" y="70866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 H.264</a:t>
            </a:r>
            <a:endParaRPr lang="en-US" sz="1900" dirty="0"/>
          </a:p>
        </p:txBody>
      </p:sp>
      <p:sp>
        <p:nvSpPr>
          <p:cNvPr id="93" name="Text 89"/>
          <p:cNvSpPr/>
          <p:nvPr/>
        </p:nvSpPr>
        <p:spPr>
          <a:xfrm>
            <a:off x="3246120" y="708660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900" dirty="0"/>
          </a:p>
        </p:txBody>
      </p:sp>
      <p:sp>
        <p:nvSpPr>
          <p:cNvPr id="94" name="Text 90"/>
          <p:cNvSpPr/>
          <p:nvPr/>
        </p:nvSpPr>
        <p:spPr>
          <a:xfrm>
            <a:off x="4434840" y="7086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lossy</a:t>
            </a:r>
            <a:endParaRPr lang="en-US" sz="1900" dirty="0"/>
          </a:p>
        </p:txBody>
      </p:sp>
      <p:sp>
        <p:nvSpPr>
          <p:cNvPr id="95" name="Text 91"/>
          <p:cNvSpPr/>
          <p:nvPr/>
        </p:nvSpPr>
        <p:spPr>
          <a:xfrm>
            <a:off x="6720840" y="70866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Motion; no alpha</a:t>
            </a:r>
            <a:endParaRPr lang="en-US" sz="1900" dirty="0"/>
          </a:p>
        </p:txBody>
      </p:sp>
      <p:sp>
        <p:nvSpPr>
          <p:cNvPr id="96" name="Text 92"/>
          <p:cNvSpPr/>
          <p:nvPr/>
        </p:nvSpPr>
        <p:spPr>
          <a:xfrm>
            <a:off x="9372600" y="7086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Bitrate-based</a:t>
            </a:r>
            <a:endParaRPr lang="en-US" sz="1900" dirty="0"/>
          </a:p>
        </p:txBody>
      </p:sp>
      <p:sp>
        <p:nvSpPr>
          <p:cNvPr id="97" name="Text 93"/>
          <p:cNvSpPr/>
          <p:nvPr/>
        </p:nvSpPr>
        <p:spPr>
          <a:xfrm>
            <a:off x="11658600" y="708660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web</a:t>
            </a:r>
            <a:endParaRPr lang="en-US" sz="1900" dirty="0"/>
          </a:p>
        </p:txBody>
      </p:sp>
      <p:sp>
        <p:nvSpPr>
          <p:cNvPr id="98" name="Text 94"/>
          <p:cNvSpPr/>
          <p:nvPr/>
        </p:nvSpPr>
        <p:spPr>
          <a:xfrm>
            <a:off x="13258800" y="708660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/ transfer</a:t>
            </a:r>
            <a:endParaRPr lang="en-US" sz="1900" dirty="0"/>
          </a:p>
        </p:txBody>
      </p:sp>
      <p:sp>
        <p:nvSpPr>
          <p:cNvPr id="99" name="Shape 95"/>
          <p:cNvSpPr/>
          <p:nvPr/>
        </p:nvSpPr>
        <p:spPr>
          <a:xfrm>
            <a:off x="1005840" y="8147304"/>
            <a:ext cx="16276320" cy="859536"/>
          </a:xfrm>
          <a:prstGeom prst="roundRect">
            <a:avLst>
              <a:gd name="adj" fmla="val 13830"/>
            </a:avLst>
          </a:prstGeom>
          <a:solidFill>
            <a:srgbClr val="20133E">
              <a:alpha val="92000"/>
            </a:srgbClr>
          </a:solidFill>
          <a:ln w="12700">
            <a:solidFill>
              <a:srgbClr val="20133E">
                <a:alpha val="9200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1188720" y="8238744"/>
            <a:ext cx="1591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= package. Codec = how the media is encoded.</a:t>
            </a:r>
            <a:endParaRPr lang="en-US" sz="2100" dirty="0"/>
          </a:p>
        </p:txBody>
      </p:sp>
      <p:sp>
        <p:nvSpPr>
          <p:cNvPr id="101" name="Text 97"/>
          <p:cNvSpPr/>
          <p:nvPr/>
        </p:nvSpPr>
        <p:spPr>
          <a:xfrm>
            <a:off x="1188720" y="8659368"/>
            <a:ext cx="1591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*Support varies by codec, OS and device. File size depends on content and encoding.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Плотная: акцент на применении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 Format comparison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Колонка применения выделена; остальные поля сохранены.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1920240"/>
            <a:ext cx="16550640" cy="6053328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48840"/>
          <a:ext cx="16093440" cy="5550408"/>
        </p:xfrm>
        <a:graphic>
          <a:graphicData uri="http://schemas.openxmlformats.org/drawingml/2006/table">
            <a:tbl>
              <a:tblPr/>
              <a:tblGrid>
                <a:gridCol w="2057400"/>
                <a:gridCol w="1188720"/>
                <a:gridCol w="2286000"/>
                <a:gridCol w="2651760"/>
                <a:gridCol w="2286000"/>
                <a:gridCol w="160020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/ MOTION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SIZE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USE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0AD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Alpha; APNG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evidence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Neither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modes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preview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/ text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MP3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/ music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AAC (M4A)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 (PCM)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Uncompressed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master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MP4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delivery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WebM VP9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alpha*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playback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web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/ transfer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1005840" y="8147304"/>
            <a:ext cx="16276320" cy="859536"/>
          </a:xfrm>
          <a:prstGeom prst="roundRect">
            <a:avLst>
              <a:gd name="adj" fmla="val 13830"/>
            </a:avLst>
          </a:prstGeom>
          <a:solidFill>
            <a:srgbClr val="20133E">
              <a:alpha val="92000"/>
            </a:srgbClr>
          </a:solidFill>
          <a:ln w="12700">
            <a:solidFill>
              <a:srgbClr val="20133E">
                <a:alpha val="92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88720" y="8238744"/>
            <a:ext cx="1591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= package. Codec = how the media is encoded.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188720" y="8659368"/>
            <a:ext cx="1591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*Support varies by codec, OS and device. File size depends on content and encoding.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Плотная: тёмная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868680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 Format comparison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таблица с тёмным фоном и спокойной сеткой.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1920240"/>
            <a:ext cx="16550640" cy="6053328"/>
          </a:xfrm>
          <a:prstGeom prst="roundRect">
            <a:avLst>
              <a:gd name="adj" fmla="val 2719"/>
            </a:avLst>
          </a:prstGeom>
          <a:solidFill>
            <a:srgbClr val="20133E"/>
          </a:solidFill>
          <a:ln w="12700">
            <a:solidFill>
              <a:srgbClr val="20133E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48840"/>
          <a:ext cx="16093440" cy="5550408"/>
        </p:xfrm>
        <a:graphic>
          <a:graphicData uri="http://schemas.openxmlformats.org/drawingml/2006/table">
            <a:tbl>
              <a:tblPr/>
              <a:tblGrid>
                <a:gridCol w="2057400"/>
                <a:gridCol w="1188720"/>
                <a:gridCol w="2286000"/>
                <a:gridCol w="2651760"/>
                <a:gridCol w="2286000"/>
                <a:gridCol w="160020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/ MOTION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SIZE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USE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7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Lossless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Alpha; APNG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evidence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Neither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WebP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modes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preview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3065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/ text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+ motion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icons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MP3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/ music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AAC (M4A)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 (PCM)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Uncompressed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master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MP4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delivery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WebM VP9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alpha*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Modern*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playback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46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 H.264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lossy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Motion; no alpha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Bitrate-based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web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0E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/ transfer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74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750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1005840" y="8147304"/>
            <a:ext cx="16276320" cy="859536"/>
          </a:xfrm>
          <a:prstGeom prst="roundRect">
            <a:avLst>
              <a:gd name="adj" fmla="val 13830"/>
            </a:avLst>
          </a:prstGeom>
          <a:solidFill>
            <a:srgbClr val="20133E">
              <a:alpha val="92000"/>
            </a:srgbClr>
          </a:solidFill>
          <a:ln w="12700">
            <a:solidFill>
              <a:srgbClr val="20133E">
                <a:alpha val="92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88720" y="8238744"/>
            <a:ext cx="1591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= package. Codec = how the media is encoded.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188720" y="8659368"/>
            <a:ext cx="1591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*Support varies by codec, OS and device. File size depends on content and encoding.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Команда: карточки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1261872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D3. Team contributions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человека — три самостоятельные карточки.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34440" y="2852928"/>
            <a:ext cx="1325880" cy="457200"/>
          </a:xfrm>
          <a:prstGeom prst="roundRect">
            <a:avLst>
              <a:gd name="adj" fmla="val 44000"/>
            </a:avLst>
          </a:prstGeom>
          <a:solidFill>
            <a:srgbClr val="EEE7FC"/>
          </a:solidFill>
          <a:ln w="12700">
            <a:solidFill>
              <a:srgbClr val="EEE7F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44168" y="290779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234440" y="36667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Salima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1234440" y="4617720"/>
            <a:ext cx="457200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234440" y="551383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the video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649224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0" y="2852928"/>
            <a:ext cx="1325880" cy="457200"/>
          </a:xfrm>
          <a:prstGeom prst="roundRect">
            <a:avLst>
              <a:gd name="adj" fmla="val 44000"/>
            </a:avLst>
          </a:prstGeom>
          <a:solidFill>
            <a:srgbClr val="FFE1EE"/>
          </a:solidFill>
          <a:ln w="12700">
            <a:solidFill>
              <a:srgbClr val="FFE1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67728" y="290779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D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858000" y="36667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Azhar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6858000" y="4617720"/>
            <a:ext cx="457200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858000" y="551383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formats</a:t>
            </a:r>
            <a:endParaRPr lang="en-US" sz="2700" dirty="0"/>
          </a:p>
        </p:txBody>
      </p:sp>
      <p:sp>
        <p:nvSpPr>
          <p:cNvPr id="23" name="Shape 19"/>
          <p:cNvSpPr/>
          <p:nvPr/>
        </p:nvSpPr>
        <p:spPr>
          <a:xfrm>
            <a:off x="1211580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481560" y="2852928"/>
            <a:ext cx="1325880" cy="457200"/>
          </a:xfrm>
          <a:prstGeom prst="roundRect">
            <a:avLst>
              <a:gd name="adj" fmla="val 44000"/>
            </a:avLst>
          </a:prstGeom>
          <a:solidFill>
            <a:srgbClr val="D8F5E8"/>
          </a:solidFill>
          <a:ln w="12700">
            <a:solidFill>
              <a:srgbClr val="D8F5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2591288" y="2907792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04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B, D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12481560" y="36667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Nurassyl</a:t>
            </a:r>
            <a:endParaRPr lang="en-US" sz="3400" dirty="0"/>
          </a:p>
        </p:txBody>
      </p:sp>
      <p:sp>
        <p:nvSpPr>
          <p:cNvPr id="27" name="Shape 23"/>
          <p:cNvSpPr/>
          <p:nvPr/>
        </p:nvSpPr>
        <p:spPr>
          <a:xfrm>
            <a:off x="12481560" y="4617720"/>
            <a:ext cx="4572000" cy="0"/>
          </a:xfrm>
          <a:prstGeom prst="line">
            <a:avLst/>
          </a:prstGeom>
          <a:noFill/>
          <a:ln w="12700">
            <a:solidFill>
              <a:srgbClr val="DED5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24815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12481560" y="551383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Multimedia integration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uras/Documents/AITU/endterm/assignment4/presentation/table-variants/background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10896"/>
            <a:ext cx="1609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Команда: таблица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68680" y="1261872"/>
            <a:ext cx="16550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D3. Team contributions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68680" y="9555480"/>
            <a:ext cx="16550640" cy="429768"/>
          </a:xfrm>
          <a:prstGeom prst="roundRect">
            <a:avLst>
              <a:gd name="adj" fmla="val 31915"/>
            </a:avLst>
          </a:prstGeom>
          <a:solidFill>
            <a:srgbClr val="20133E">
              <a:alpha val="85000"/>
            </a:srgbClr>
          </a:solidFill>
          <a:ln w="12700">
            <a:solidFill>
              <a:srgbClr val="20133E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9619488"/>
            <a:ext cx="149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таблица с хорошими отступами и выравниванием.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367760" y="96194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" y="2496312"/>
            <a:ext cx="16550640" cy="4462272"/>
          </a:xfrm>
          <a:prstGeom prst="roundRect">
            <a:avLst>
              <a:gd name="adj" fmla="val 47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70632"/>
          <a:ext cx="16002000" cy="370332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960120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44DA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Salima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D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 the video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Azhar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 D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Comparing formats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Nurassyl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B, D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2820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Multimedia integration</a:t>
                      </a:r>
                      <a:endParaRPr lang="en-US" sz="2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52400" marB="15240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Technologies — 18 table variations</dc:title>
  <dc:subject>PptxGenJS Presentation</dc:subject>
  <dc:creator>ICT presentation</dc:creator>
  <cp:lastModifiedBy>ICT presentation</cp:lastModifiedBy>
  <cp:revision>1</cp:revision>
  <dcterms:created xsi:type="dcterms:W3CDTF">2026-10-25T14:11:47Z</dcterms:created>
  <dcterms:modified xsi:type="dcterms:W3CDTF">2026-10-25T14:11:47Z</dcterms:modified>
</cp:coreProperties>
</file>