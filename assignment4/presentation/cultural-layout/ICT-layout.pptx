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Arial Bold" charset="1" panose="020B0704020202020204"/>
      <p:regular r:id="rId25"/>
    </p:embeddedFont>
    <p:embeddedFont>
      <p:font typeface="Arial" charset="1" panose="020B060402020202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font" Target="fonts/font25.fntdata"/><Relationship Id="rId26" Type="http://schemas.openxmlformats.org/officeDocument/2006/relationships/font" Target="fonts/font26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hyperlink" Target="https://github.com/d30mantcoder/ICTProject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527393" y="1842516"/>
            <a:ext cx="11233118" cy="2982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1" sz="7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Multimedia Technologies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775865" y="760095"/>
            <a:ext cx="6735985" cy="770001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4500"/>
              </a:lnSpc>
            </a:pPr>
            <a:r>
              <a:rPr lang="en-US" sz="3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Assignment 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15334" y="5095399"/>
            <a:ext cx="10656951" cy="1073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Team: Salima Zimbekkyzy, Azhar Saparzholova, Nurassyl Oralbekov Group: SE-2623 Course: ICT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id="4" name="TextBox 3"/>
          <p:cNvSpPr txBox="1"/>
          <p:nvPr/>
        </p:nvSpPr>
        <p:spPr>
          <a:xfrm>
            <a:off x="914400" y="1645920"/>
            <a:ext cx="4572000" cy="8046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Part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4846320" cy="1901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Arial"/>
              </a:rPr>
              <a:t>Multimedia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Arial"/>
              </a:rPr>
              <a:t>formats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617720"/>
            <a:ext cx="489204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4892040"/>
            <a:ext cx="4251959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7044DA"/>
                </a:solidFill>
                <a:latin typeface="Arial"/>
              </a:rPr>
              <a:t>In our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623560"/>
            <a:ext cx="4251959" cy="14447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>
                <a:solidFill>
                  <a:srgbClr val="282043"/>
                </a:solidFill>
                <a:latin typeface="Arial"/>
              </a:rPr>
              <a:t>WebP for the attendance preview; inline SVG for interface icons.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1463040" cy="594360"/>
          </a:xfrm>
          <a:prstGeom prst="roundRect">
            <a:avLst>
              <a:gd name="adj" fmla="val 6000"/>
            </a:avLst>
          </a:prstGeom>
          <a:solidFill>
            <a:srgbClr val="7044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773936"/>
            <a:ext cx="1170432" cy="5394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FORMAT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645920"/>
            <a:ext cx="3657600" cy="594360"/>
          </a:xfrm>
          <a:prstGeom prst="roundRect">
            <a:avLst>
              <a:gd name="adj" fmla="val 6000"/>
            </a:avLst>
          </a:prstGeom>
          <a:solidFill>
            <a:srgbClr val="7044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83296" y="1773936"/>
            <a:ext cx="3364992" cy="5394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KEY TRAIT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759184" y="1645920"/>
            <a:ext cx="4892040" cy="594360"/>
          </a:xfrm>
          <a:prstGeom prst="roundRect">
            <a:avLst>
              <a:gd name="adj" fmla="val 6000"/>
            </a:avLst>
          </a:prstGeom>
          <a:solidFill>
            <a:srgbClr val="7044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905488" y="1773936"/>
            <a:ext cx="4599431" cy="5394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BEST FIT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423160"/>
            <a:ext cx="1463040" cy="1554480"/>
          </a:xfrm>
          <a:prstGeom prst="roundRect">
            <a:avLst>
              <a:gd name="adj" fmla="val 6000"/>
            </a:avLst>
          </a:prstGeom>
          <a:solidFill>
            <a:srgbClr val="EEE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2551176"/>
            <a:ext cx="1170432" cy="1499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282043"/>
                </a:solidFill>
                <a:latin typeface="Arial"/>
              </a:rPr>
              <a:t>PNG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36992" y="2423160"/>
            <a:ext cx="36576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2551176"/>
            <a:ext cx="3364992" cy="1499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>
                <a:solidFill>
                  <a:srgbClr val="282043"/>
                </a:solidFill>
                <a:latin typeface="Arial"/>
              </a:rPr>
              <a:t>Lossless; supports transparency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759184" y="2423160"/>
            <a:ext cx="48920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05488" y="2551176"/>
            <a:ext cx="4599431" cy="1499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>
                <a:solidFill>
                  <a:srgbClr val="282043"/>
                </a:solidFill>
                <a:latin typeface="Arial"/>
              </a:rPr>
              <a:t>Screenshots and graphics where crisp text or edges matter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160520"/>
            <a:ext cx="1463040" cy="1554480"/>
          </a:xfrm>
          <a:prstGeom prst="roundRect">
            <a:avLst>
              <a:gd name="adj" fmla="val 6000"/>
            </a:avLst>
          </a:prstGeom>
          <a:solidFill>
            <a:srgbClr val="FFDE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4288536"/>
            <a:ext cx="1170432" cy="1499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282043"/>
                </a:solidFill>
                <a:latin typeface="Arial"/>
              </a:rPr>
              <a:t>JPEG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36992" y="4160520"/>
            <a:ext cx="36576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3296" y="4288536"/>
            <a:ext cx="3364992" cy="1499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>
                <a:solidFill>
                  <a:srgbClr val="282043"/>
                </a:solidFill>
                <a:latin typeface="Arial"/>
              </a:rPr>
              <a:t>Lossy; compact for photographs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759184" y="4160520"/>
            <a:ext cx="48920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905488" y="4288536"/>
            <a:ext cx="4599431" cy="1499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>
                <a:solidFill>
                  <a:srgbClr val="282043"/>
                </a:solidFill>
                <a:latin typeface="Arial"/>
              </a:rPr>
              <a:t>Photos and images where a smaller file is more important than perfect detail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5897880"/>
            <a:ext cx="1463040" cy="1554480"/>
          </a:xfrm>
          <a:prstGeom prst="roundRect">
            <a:avLst>
              <a:gd name="adj" fmla="val 6000"/>
            </a:avLst>
          </a:prstGeom>
          <a:solidFill>
            <a:srgbClr val="D6F4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55664" y="6025896"/>
            <a:ext cx="1170432" cy="1499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282043"/>
                </a:solidFill>
                <a:latin typeface="Arial"/>
              </a:rPr>
              <a:t>WebP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36992" y="5897880"/>
            <a:ext cx="36576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3296" y="6025896"/>
            <a:ext cx="3364992" cy="1499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>
                <a:solidFill>
                  <a:srgbClr val="282043"/>
                </a:solidFill>
                <a:latin typeface="Arial"/>
              </a:rPr>
              <a:t>Lossy or lossless; compact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759184" y="5897880"/>
            <a:ext cx="48920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905488" y="6025896"/>
            <a:ext cx="4599431" cy="1499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>
                <a:solidFill>
                  <a:srgbClr val="282043"/>
                </a:solidFill>
                <a:latin typeface="Arial"/>
              </a:rPr>
              <a:t>Web images and the attendance preview used in our prototype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4" id="4"/>
          <p:cNvSpPr txBox="true"/>
          <p:nvPr/>
        </p:nvSpPr>
        <p:spPr>
          <a:xfrm rot="0">
            <a:off x="495300" y="409575"/>
            <a:ext cx="1714500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1" sz="4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A1. Format comparison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762000" y="6693408"/>
            <a:ext cx="16764000" cy="1498092"/>
          </a:xfrm>
          <a:prstGeom prst="rect">
            <a:avLst/>
          </a:prstGeom>
          <a:solidFill>
            <a:srgbClr val="F0E9FF"/>
          </a:solidFill>
        </p:spPr>
        <p:txBody>
          <a:bodyPr/>
          <a:p/>
        </p:txBody>
      </p:sp>
      <p:sp>
        <p:nvSpPr>
          <p:cNvPr name="TextBox 100" id="100"/>
          <p:cNvSpPr txBox="true"/>
          <p:nvPr/>
        </p:nvSpPr>
        <p:spPr>
          <a:xfrm rot="0">
            <a:off x="1104900" y="6753225"/>
            <a:ext cx="11675745" cy="338137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437"/>
              </a:lnSpc>
            </a:pPr>
            <a:r>
              <a:rPr lang="en-US" b="1" sz="1947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 container (MP4) packages tracks and metadata; a codec (H.264) encodes and decodes the media.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104900" y="7219950"/>
            <a:ext cx="9580054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22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*Codec, OS and device support vary. File size depends on content, resolution, bitrate and duration.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104900" y="7515225"/>
            <a:ext cx="6465856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21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Sources: MDN, Image file type guide and Media container formats.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68680" y="1600200"/>
            <a:ext cx="1920240" cy="548640"/>
          </a:xfrm>
          <a:prstGeom prst="roundRect">
            <a:avLst>
              <a:gd name="adj" fmla="val 11666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Arial"/>
              </a:rPr>
              <a:t>Format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2839212" y="1600200"/>
            <a:ext cx="1051560" cy="548640"/>
          </a:xfrm>
          <a:prstGeom prst="roundRect">
            <a:avLst>
              <a:gd name="adj" fmla="val 11666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Arial"/>
              </a:rPr>
              <a:t>Type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3941064" y="1600200"/>
            <a:ext cx="2240280" cy="548640"/>
          </a:xfrm>
          <a:prstGeom prst="roundRect">
            <a:avLst>
              <a:gd name="adj" fmla="val 11666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Arial"/>
              </a:rPr>
              <a:t>Compression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6231636" y="1600200"/>
            <a:ext cx="2423160" cy="548640"/>
          </a:xfrm>
          <a:prstGeom prst="roundRect">
            <a:avLst>
              <a:gd name="adj" fmla="val 11666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Arial"/>
              </a:rPr>
              <a:t>Alpha / motion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8705088" y="1600200"/>
            <a:ext cx="2148840" cy="548640"/>
          </a:xfrm>
          <a:prstGeom prst="roundRect">
            <a:avLst>
              <a:gd name="adj" fmla="val 11666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Arial"/>
              </a:rPr>
              <a:t>Typical size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0904220" y="1600200"/>
            <a:ext cx="1645920" cy="548640"/>
          </a:xfrm>
          <a:prstGeom prst="roundRect">
            <a:avLst>
              <a:gd name="adj" fmla="val 11666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Arial"/>
              </a:rPr>
              <a:t>Support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2600432" y="1600200"/>
            <a:ext cx="4572000" cy="548640"/>
          </a:xfrm>
          <a:prstGeom prst="roundRect">
            <a:avLst>
              <a:gd name="adj" fmla="val 11666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Arial"/>
              </a:rPr>
              <a:t>Project use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868680" y="2199132"/>
            <a:ext cx="1920240" cy="388620"/>
          </a:xfrm>
          <a:prstGeom prst="roundRect">
            <a:avLst>
              <a:gd name="adj" fmla="val 16470"/>
            </a:avLst>
          </a:prstGeom>
          <a:solidFill>
            <a:srgbClr val="E3D4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PNG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2839212" y="2199132"/>
            <a:ext cx="105156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Image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3941064" y="2199132"/>
            <a:ext cx="224028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Lossless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6231636" y="2199132"/>
            <a:ext cx="242316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Alpha; APNG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705088" y="2199132"/>
            <a:ext cx="214884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Large photos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10904220" y="2199132"/>
            <a:ext cx="164592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Broad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2600432" y="2199132"/>
            <a:ext cx="457200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UI evidence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868680" y="2638044"/>
            <a:ext cx="1920240" cy="388620"/>
          </a:xfrm>
          <a:prstGeom prst="roundRect">
            <a:avLst>
              <a:gd name="adj" fmla="val 16470"/>
            </a:avLst>
          </a:prstGeom>
          <a:solidFill>
            <a:srgbClr val="FFDEED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JPEG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2839212" y="2638044"/>
            <a:ext cx="105156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Image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3941064" y="2638044"/>
            <a:ext cx="224028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Lossy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231636" y="2638044"/>
            <a:ext cx="242316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Neither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8705088" y="2638044"/>
            <a:ext cx="214884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Small photos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0904220" y="2638044"/>
            <a:ext cx="164592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Broad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12600432" y="2638044"/>
            <a:ext cx="457200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Photos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868680" y="3076956"/>
            <a:ext cx="1920240" cy="388620"/>
          </a:xfrm>
          <a:prstGeom prst="roundRect">
            <a:avLst>
              <a:gd name="adj" fmla="val 16470"/>
            </a:avLst>
          </a:prstGeom>
          <a:solidFill>
            <a:srgbClr val="D6F4E5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WebP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2839212" y="3076956"/>
            <a:ext cx="105156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Image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3941064" y="3076956"/>
            <a:ext cx="224028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Both modes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6231636" y="3076956"/>
            <a:ext cx="242316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Alpha + motion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8705088" y="3076956"/>
            <a:ext cx="214884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Compact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0904220" y="3076956"/>
            <a:ext cx="164592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Modern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12600432" y="3076956"/>
            <a:ext cx="457200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App preview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868680" y="3515868"/>
            <a:ext cx="1920240" cy="388620"/>
          </a:xfrm>
          <a:prstGeom prst="roundRect">
            <a:avLst>
              <a:gd name="adj" fmla="val 16470"/>
            </a:avLst>
          </a:prstGeom>
          <a:solidFill>
            <a:srgbClr val="E3D4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SVG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2839212" y="3515868"/>
            <a:ext cx="105156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Image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3941064" y="3515868"/>
            <a:ext cx="224028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Vector / text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231636" y="3515868"/>
            <a:ext cx="242316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Alpha + motion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8705088" y="3515868"/>
            <a:ext cx="214884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Tiny icons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0904220" y="3515868"/>
            <a:ext cx="164592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Broad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2600432" y="3515868"/>
            <a:ext cx="457200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UI icons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868680" y="3954780"/>
            <a:ext cx="1920240" cy="388620"/>
          </a:xfrm>
          <a:prstGeom prst="roundRect">
            <a:avLst>
              <a:gd name="adj" fmla="val 16470"/>
            </a:avLst>
          </a:prstGeom>
          <a:solidFill>
            <a:srgbClr val="FFDEED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MP3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2839212" y="3954780"/>
            <a:ext cx="105156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Audio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3941064" y="3954780"/>
            <a:ext cx="224028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Lossy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6231636" y="3954780"/>
            <a:ext cx="242316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N/A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8705088" y="3954780"/>
            <a:ext cx="214884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Small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0904220" y="3954780"/>
            <a:ext cx="164592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Broad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12600432" y="3954780"/>
            <a:ext cx="457200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Speech / music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868680" y="4393692"/>
            <a:ext cx="1920240" cy="388620"/>
          </a:xfrm>
          <a:prstGeom prst="roundRect">
            <a:avLst>
              <a:gd name="adj" fmla="val 16470"/>
            </a:avLst>
          </a:prstGeom>
          <a:solidFill>
            <a:srgbClr val="D6F4E5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AAC (M4A)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2839212" y="4393692"/>
            <a:ext cx="105156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Audio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3941064" y="4393692"/>
            <a:ext cx="224028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Lossy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6231636" y="4393692"/>
            <a:ext cx="242316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N/A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8705088" y="4393692"/>
            <a:ext cx="214884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Small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10904220" y="4393692"/>
            <a:ext cx="164592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Broad*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2600432" y="4393692"/>
            <a:ext cx="457200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Narration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868680" y="4832604"/>
            <a:ext cx="1920240" cy="388620"/>
          </a:xfrm>
          <a:prstGeom prst="roundRect">
            <a:avLst>
              <a:gd name="adj" fmla="val 16470"/>
            </a:avLst>
          </a:prstGeom>
          <a:solidFill>
            <a:srgbClr val="E3D4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WAV (PCM)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2839212" y="4832604"/>
            <a:ext cx="105156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Audio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3941064" y="4832604"/>
            <a:ext cx="224028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Uncompressed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231636" y="4832604"/>
            <a:ext cx="242316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N/A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8705088" y="4832604"/>
            <a:ext cx="214884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Large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0904220" y="4832604"/>
            <a:ext cx="164592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Broad*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12600432" y="4832604"/>
            <a:ext cx="457200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Editing master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868680" y="5271516"/>
            <a:ext cx="1920240" cy="388620"/>
          </a:xfrm>
          <a:prstGeom prst="roundRect">
            <a:avLst>
              <a:gd name="adj" fmla="val 16470"/>
            </a:avLst>
          </a:prstGeom>
          <a:solidFill>
            <a:srgbClr val="FFDEED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MP4 H.264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2839212" y="5271516"/>
            <a:ext cx="105156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Video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3941064" y="5271516"/>
            <a:ext cx="224028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Usually lossy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6231636" y="5271516"/>
            <a:ext cx="242316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Motion; no alpha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8705088" y="5271516"/>
            <a:ext cx="214884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Bitrate-based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10904220" y="5271516"/>
            <a:ext cx="164592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Broad*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12600432" y="5271516"/>
            <a:ext cx="457200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Demo delivery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868680" y="5710428"/>
            <a:ext cx="1920240" cy="388620"/>
          </a:xfrm>
          <a:prstGeom prst="roundRect">
            <a:avLst>
              <a:gd name="adj" fmla="val 16470"/>
            </a:avLst>
          </a:prstGeom>
          <a:solidFill>
            <a:srgbClr val="D6F4E5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WebM VP9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2839212" y="5710428"/>
            <a:ext cx="105156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Video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3941064" y="5710428"/>
            <a:ext cx="224028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Usually lossy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6231636" y="5710428"/>
            <a:ext cx="242316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Motion; alpha*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8705088" y="5710428"/>
            <a:ext cx="214884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Bitrate-based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10904220" y="5710428"/>
            <a:ext cx="164592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Modern*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12600432" y="5710428"/>
            <a:ext cx="457200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Web playback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868680" y="6149340"/>
            <a:ext cx="1920240" cy="388620"/>
          </a:xfrm>
          <a:prstGeom prst="roundRect">
            <a:avLst>
              <a:gd name="adj" fmla="val 16470"/>
            </a:avLst>
          </a:prstGeom>
          <a:solidFill>
            <a:srgbClr val="E3D4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MOV H.264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2839212" y="6149340"/>
            <a:ext cx="105156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Video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3941064" y="6149340"/>
            <a:ext cx="224028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Usually lossy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6231636" y="6149340"/>
            <a:ext cx="242316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Motion; no alpha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8705088" y="6149340"/>
            <a:ext cx="214884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Bitrate-based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10904220" y="6149340"/>
            <a:ext cx="164592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Limited web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12600432" y="6149340"/>
            <a:ext cx="4572000" cy="3886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Editing / transfer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id="4" name="TextBox 3"/>
          <p:cNvSpPr txBox="1"/>
          <p:nvPr/>
        </p:nvSpPr>
        <p:spPr>
          <a:xfrm>
            <a:off x="868680" y="457200"/>
            <a:ext cx="16550640" cy="850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500" b="1">
                <a:solidFill>
                  <a:srgbClr val="FFFFFF"/>
                </a:solidFill>
                <a:latin typeface="Arial"/>
              </a:rPr>
              <a:t>A2. Measured experiment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786384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901952"/>
            <a:ext cx="7223760" cy="576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7044DA"/>
                </a:solidFill>
                <a:latin typeface="Arial"/>
              </a:rPr>
              <a:t>PNG · original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423160"/>
            <a:ext cx="7223760" cy="10332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5500" b="1">
                <a:solidFill>
                  <a:srgbClr val="282043"/>
                </a:solidFill>
                <a:latin typeface="Arial"/>
              </a:rPr>
              <a:t>58.39 KiB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37560"/>
            <a:ext cx="722376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282043"/>
                </a:solidFill>
                <a:latin typeface="Arial"/>
              </a:rPr>
              <a:t>attendance-preview.png · 390 × 844 px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64040" y="2194560"/>
            <a:ext cx="7863840" cy="2240280"/>
          </a:xfrm>
          <a:prstGeom prst="roundRect">
            <a:avLst>
              <a:gd name="adj" fmla="val 6000"/>
            </a:avLst>
          </a:prstGeom>
          <a:solidFill>
            <a:srgbClr val="D6F4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0" y="2450592"/>
            <a:ext cx="7223760" cy="576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7044DA"/>
                </a:solidFill>
                <a:latin typeface="Arial"/>
              </a:rPr>
              <a:t>WebP Q80 · in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2971800"/>
            <a:ext cx="7223760" cy="10332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5500" b="1">
                <a:solidFill>
                  <a:srgbClr val="282043"/>
                </a:solidFill>
                <a:latin typeface="Arial"/>
              </a:rPr>
              <a:t>15.75 KiB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3886200"/>
            <a:ext cx="722376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282043"/>
                </a:solidFill>
                <a:latin typeface="Arial"/>
              </a:rPr>
              <a:t>attendance-preview.webp · 390 × 844 px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42232"/>
            <a:ext cx="7863840" cy="749808"/>
          </a:xfrm>
          <a:prstGeom prst="roundRect">
            <a:avLst>
              <a:gd name="adj" fmla="val 6000"/>
            </a:avLst>
          </a:prstGeom>
          <a:solidFill>
            <a:srgbClr val="7044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315968"/>
            <a:ext cx="7315200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42.64 KiB saved · 73.0% smaller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303520"/>
            <a:ext cx="786384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5577840"/>
            <a:ext cx="7223759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7044DA"/>
                </a:solidFill>
                <a:latin typeface="Arial"/>
              </a:rPr>
              <a:t>JPEG exports · pending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6309360"/>
            <a:ext cx="7223759" cy="1353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0">
                <a:solidFill>
                  <a:srgbClr val="282043"/>
                </a:solidFill>
                <a:latin typeface="Arial"/>
              </a:rPr>
              <a:t>attendance-preview.jpg — JPEG Q80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0">
                <a:solidFill>
                  <a:srgbClr val="282043"/>
                </a:solidFill>
                <a:latin typeface="Arial"/>
              </a:rPr>
              <a:t>attendance-preview-low.jpg — JPEG Q40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0">
                <a:solidFill>
                  <a:srgbClr val="282043"/>
                </a:solidFill>
                <a:latin typeface="Arial"/>
              </a:rPr>
              <a:t>Both: 390 × 844 px. Files not supplied; export and inspect.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4800600"/>
            <a:ext cx="786384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5074920"/>
            <a:ext cx="7223759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7044DA"/>
                </a:solidFill>
                <a:latin typeface="Arial"/>
              </a:rPr>
              <a:t>10-second clip · pending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5806440"/>
            <a:ext cx="7223759" cy="1856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282043"/>
                </a:solidFill>
                <a:latin typeface="Arial"/>
              </a:rPr>
              <a:t>Version 1: proposed MP4 H.264, 720p.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282043"/>
                </a:solidFill>
                <a:latin typeface="Arial"/>
              </a:rPr>
              <a:t>Version 2: same clip, lower video bitrate.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282043"/>
                </a:solidFill>
                <a:latin typeface="Arial"/>
              </a:rPr>
              <a:t>Files not supplied; compare text and motion.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7955279"/>
            <a:ext cx="16413480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8138159"/>
            <a:ext cx="15956280" cy="704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282043"/>
                </a:solidFill>
                <a:latin typeface="Arial"/>
              </a:rPr>
              <a:t>Visual quality checks are still pending. JPEG and clip entries are a test plan, not completed measurements.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282043"/>
                </a:solidFill>
                <a:latin typeface="Arial"/>
              </a:rPr>
              <a:t>Source: supplied project inventory, 23 Oct 2026. 1 KiB = 1024 bytes.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id="4" name="TextBox 3"/>
          <p:cNvSpPr txBox="1"/>
          <p:nvPr/>
        </p:nvSpPr>
        <p:spPr>
          <a:xfrm>
            <a:off x="868680" y="457200"/>
            <a:ext cx="16550640" cy="850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500" b="1">
                <a:solidFill>
                  <a:srgbClr val="FFFFFF"/>
                </a:solidFill>
                <a:latin typeface="Arial"/>
              </a:rPr>
              <a:t>A2. Visual quality 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950976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8869680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7044DA"/>
                </a:solidFill>
                <a:latin typeface="Arial"/>
              </a:rPr>
              <a:t>Compare like for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834640"/>
            <a:ext cx="8869680" cy="2816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0">
                <a:solidFill>
                  <a:srgbClr val="282043"/>
                </a:solidFill>
                <a:latin typeface="Arial"/>
              </a:rPr>
              <a:t>Use the same attendance screen in all four exports. Compare an identical crop at 100% zoom so text edges and calendar lines remain comparable.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0" y="2560320"/>
            <a:ext cx="6355080" cy="3886200"/>
          </a:xfrm>
          <a:prstGeom prst="roundRect">
            <a:avLst>
              <a:gd name="adj" fmla="val 6000"/>
            </a:avLst>
          </a:prstGeom>
          <a:solidFill>
            <a:srgbClr val="EEE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92840" y="2834639"/>
            <a:ext cx="5715000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7044DA"/>
                </a:solidFill>
                <a:latin typeface="Arial"/>
              </a:rPr>
              <a:t>Four exports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3566160"/>
            <a:ext cx="5715000" cy="2770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282043"/>
                </a:solidFill>
                <a:latin typeface="Arial"/>
              </a:rPr>
              <a:t>PNG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282043"/>
                </a:solidFill>
                <a:latin typeface="Arial"/>
              </a:rPr>
              <a:t>JPEG Q80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282043"/>
                </a:solidFill>
                <a:latin typeface="Arial"/>
              </a:rPr>
              <a:t>JPEG Q40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282043"/>
                </a:solidFill>
                <a:latin typeface="Arial"/>
              </a:rPr>
              <a:t>WebP Q80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6080760"/>
            <a:ext cx="950976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6355080"/>
            <a:ext cx="8869680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7044DA"/>
                </a:solidFill>
                <a:latin typeface="Arial"/>
              </a:rPr>
              <a:t>Evidence still needed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7086600"/>
            <a:ext cx="8869680" cy="12161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282043"/>
                </a:solidFill>
                <a:latin typeface="Arial"/>
              </a:rPr>
              <a:t>One side-by-side screenshot, JPEG file sizes, and two exports of the same 10-second clip. Rate each result as sharp, acceptable or poor after inspection.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0" y="6766560"/>
            <a:ext cx="63550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01400" y="6949440"/>
            <a:ext cx="5897880" cy="14447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282043"/>
                </a:solidFill>
                <a:latin typeface="Arial"/>
              </a:rPr>
              <a:t>Comparison images and recording are not included in this deck. Quality ratings remain pending.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id="4" name="TextBox 3"/>
          <p:cNvSpPr txBox="1"/>
          <p:nvPr/>
        </p:nvSpPr>
        <p:spPr>
          <a:xfrm>
            <a:off x="868680" y="457200"/>
            <a:ext cx="16550640" cy="850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500" b="1">
                <a:solidFill>
                  <a:srgbClr val="FFFFFF"/>
                </a:solidFill>
                <a:latin typeface="Arial"/>
              </a:rPr>
              <a:t>A2. Our format choices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9235440" cy="4251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920240"/>
            <a:ext cx="8595360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7044DA"/>
                </a:solidFill>
                <a:latin typeface="Arial"/>
              </a:rPr>
              <a:t>For the My AITU / LMS bridge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51760"/>
            <a:ext cx="8595360" cy="3136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0">
                <a:solidFill>
                  <a:srgbClr val="282043"/>
                </a:solidFill>
                <a:latin typeface="Arial"/>
              </a:rPr>
              <a:t>WebP Q80 supplies the attendance preview at 390 × 844 px. PNG remains the original evidence image because it preserves text and edges without lossy compression.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0">
                <a:solidFill>
                  <a:srgbClr val="282043"/>
                </a:solidFill>
                <a:latin typeface="Arial"/>
              </a:rPr>
              <a:t>Inline SVG keeps icons sharp at different sizes and shares the HTML response. CSS provides the login pulse without a separate video download.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6217920"/>
            <a:ext cx="92354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6492240"/>
            <a:ext cx="8595360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7044DA"/>
                </a:solidFill>
                <a:latin typeface="Arial"/>
              </a:rPr>
              <a:t>Planned demonstration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7223760"/>
            <a:ext cx="8595360" cy="1261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>
                <a:solidFill>
                  <a:srgbClr val="282043"/>
                </a:solidFill>
                <a:latin typeface="Arial"/>
              </a:rPr>
              <a:t>MP4 with H.264 video and AAC audio for broad playback support. JPEG settings and the ten-second clip still need measured comparison before we can report their quality or size.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1965960"/>
            <a:ext cx="6309360" cy="1627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>
                <a:solidFill>
                  <a:srgbClr val="FFFFFF"/>
                </a:solidFill>
                <a:latin typeface="Arial"/>
              </a:rPr>
              <a:t>73%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3611880"/>
            <a:ext cx="6217920" cy="8046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>
                <a:solidFill>
                  <a:srgbClr val="FFFFFF"/>
                </a:solidFill>
                <a:latin typeface="Arial"/>
              </a:rPr>
              <a:t>smaller preview 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744200" y="4663440"/>
            <a:ext cx="6583680" cy="2423160"/>
          </a:xfrm>
          <a:prstGeom prst="roundRect">
            <a:avLst>
              <a:gd name="adj" fmla="val 6000"/>
            </a:avLst>
          </a:prstGeom>
          <a:solidFill>
            <a:srgbClr val="D6F4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64240" y="4937759"/>
            <a:ext cx="5943600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7044DA"/>
                </a:solidFill>
                <a:latin typeface="Arial"/>
              </a:rPr>
              <a:t>Same pixels. Less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5669279"/>
            <a:ext cx="5943600" cy="1307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0">
                <a:solidFill>
                  <a:srgbClr val="282043"/>
                </a:solidFill>
                <a:latin typeface="Arial"/>
              </a:rPr>
              <a:t>PNG 58.39 KiB → WebP 15.75 KiB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0">
                <a:solidFill>
                  <a:srgbClr val="282043"/>
                </a:solidFill>
                <a:latin typeface="Arial"/>
              </a:rPr>
              <a:t>42.64 KiB saved at the same resolution.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744200" y="7406640"/>
            <a:ext cx="658368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7589519"/>
            <a:ext cx="6126480" cy="10332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282043"/>
                </a:solidFill>
                <a:latin typeface="Arial"/>
              </a:rPr>
              <a:t>Measured file sizes only.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282043"/>
                </a:solidFill>
                <a:latin typeface="Arial"/>
              </a:rPr>
              <a:t>Network speed needs its own test.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4" id="4"/>
          <p:cNvSpPr txBox="true"/>
          <p:nvPr/>
        </p:nvSpPr>
        <p:spPr>
          <a:xfrm rot="0">
            <a:off x="495300" y="409575"/>
            <a:ext cx="1714500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1" sz="4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B1. Interface icons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762000" y="7150608"/>
            <a:ext cx="16764000" cy="1040892"/>
          </a:xfrm>
          <a:prstGeom prst="rect">
            <a:avLst/>
          </a:prstGeom>
          <a:solidFill>
            <a:srgbClr val="F0E9FF"/>
          </a:solidFill>
        </p:spPr>
        <p:txBody>
          <a:bodyPr/>
          <a:p/>
        </p:txBody>
      </p:sp>
      <p:sp>
        <p:nvSpPr>
          <p:cNvPr name="TextBox 88" id="88"/>
          <p:cNvSpPr txBox="true"/>
          <p:nvPr/>
        </p:nvSpPr>
        <p:spPr>
          <a:xfrm rot="0">
            <a:off x="1104900" y="7210425"/>
            <a:ext cx="9079706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72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All icons: Flaticon Uicons Regular Rounded. Free licence with visible footer attribution.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104900" y="7524750"/>
            <a:ext cx="9335738" cy="33575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343"/>
              </a:lnSpc>
            </a:pPr>
            <a:r>
              <a:rPr lang="en-US" sz="1872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Inline symbols share the HTML response; these are source sizes, not separate requests.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68680" y="1600200"/>
            <a:ext cx="576072" cy="475488"/>
          </a:xfrm>
          <a:prstGeom prst="roundRect">
            <a:avLst>
              <a:gd name="adj" fmla="val 13461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Arial"/>
              </a:rPr>
              <a:t>#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495044" y="1600200"/>
            <a:ext cx="3337560" cy="475488"/>
          </a:xfrm>
          <a:prstGeom prst="roundRect">
            <a:avLst>
              <a:gd name="adj" fmla="val 13461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Arial"/>
              </a:rPr>
              <a:t>Asset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882896" y="1600200"/>
            <a:ext cx="5029200" cy="475488"/>
          </a:xfrm>
          <a:prstGeom prst="roundRect">
            <a:avLst>
              <a:gd name="adj" fmla="val 13461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Arial"/>
              </a:rPr>
              <a:t>Where used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962388" y="1600200"/>
            <a:ext cx="3657600" cy="475488"/>
          </a:xfrm>
          <a:prstGeom prst="roundRect">
            <a:avLst>
              <a:gd name="adj" fmla="val 13461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Arial"/>
              </a:rPr>
              <a:t>Vector viewBox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3670280" y="1600200"/>
            <a:ext cx="3794760" cy="475488"/>
          </a:xfrm>
          <a:prstGeom prst="roundRect">
            <a:avLst>
              <a:gd name="adj" fmla="val 13461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Arial"/>
              </a:rPr>
              <a:t>Markup size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68680" y="2125980"/>
            <a:ext cx="576072" cy="365760"/>
          </a:xfrm>
          <a:prstGeom prst="roundRect">
            <a:avLst>
              <a:gd name="adj" fmla="val 17500"/>
            </a:avLst>
          </a:prstGeom>
          <a:solidFill>
            <a:srgbClr val="E3D4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3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495044" y="2125980"/>
            <a:ext cx="33375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Book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882896" y="2125980"/>
            <a:ext cx="50292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Courses / navigation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962388" y="2125980"/>
            <a:ext cx="36576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SVG 300 × 300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3670280" y="2125980"/>
            <a:ext cx="37947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740 B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68680" y="2542032"/>
            <a:ext cx="576072" cy="365760"/>
          </a:xfrm>
          <a:prstGeom prst="roundRect">
            <a:avLst>
              <a:gd name="adj" fmla="val 17500"/>
            </a:avLst>
          </a:prstGeom>
          <a:solidFill>
            <a:srgbClr val="FFDEED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4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495044" y="2542032"/>
            <a:ext cx="33375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Calendar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882896" y="2542032"/>
            <a:ext cx="50292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Tasks / attendance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962388" y="2542032"/>
            <a:ext cx="36576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SVG 300 × 300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3670280" y="2542032"/>
            <a:ext cx="37947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1,162 B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68680" y="2958084"/>
            <a:ext cx="576072" cy="365760"/>
          </a:xfrm>
          <a:prstGeom prst="roundRect">
            <a:avLst>
              <a:gd name="adj" fmla="val 17500"/>
            </a:avLst>
          </a:prstGeom>
          <a:solidFill>
            <a:srgbClr val="D6F4E5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5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495044" y="2958084"/>
            <a:ext cx="33375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Graduation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4882896" y="2958084"/>
            <a:ext cx="50292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Grades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962388" y="2958084"/>
            <a:ext cx="36576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SVG 300 × 300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3670280" y="2958084"/>
            <a:ext cx="37947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857 B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868680" y="3374136"/>
            <a:ext cx="576072" cy="365760"/>
          </a:xfrm>
          <a:prstGeom prst="roundRect">
            <a:avLst>
              <a:gd name="adj" fmla="val 17500"/>
            </a:avLst>
          </a:prstGeom>
          <a:solidFill>
            <a:srgbClr val="E3D4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6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1495044" y="3374136"/>
            <a:ext cx="33375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User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882896" y="3374136"/>
            <a:ext cx="50292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Account button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9962388" y="3374136"/>
            <a:ext cx="36576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SVG 300 × 300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3670280" y="3374136"/>
            <a:ext cx="37947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869 B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68680" y="3790188"/>
            <a:ext cx="576072" cy="365760"/>
          </a:xfrm>
          <a:prstGeom prst="roundRect">
            <a:avLst>
              <a:gd name="adj" fmla="val 17500"/>
            </a:avLst>
          </a:prstGeom>
          <a:solidFill>
            <a:srgbClr val="FFDEED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7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495044" y="3790188"/>
            <a:ext cx="33375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Menu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4882896" y="3790188"/>
            <a:ext cx="50292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Navigation button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9962388" y="3790188"/>
            <a:ext cx="36576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SVG 300 × 300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3670280" y="3790188"/>
            <a:ext cx="37947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561 B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868680" y="4206240"/>
            <a:ext cx="576072" cy="365760"/>
          </a:xfrm>
          <a:prstGeom prst="roundRect">
            <a:avLst>
              <a:gd name="adj" fmla="val 17500"/>
            </a:avLst>
          </a:prstGeom>
          <a:solidFill>
            <a:srgbClr val="D6F4E5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8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1495044" y="4206240"/>
            <a:ext cx="33375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Close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4882896" y="4206240"/>
            <a:ext cx="50292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Navigation controls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9962388" y="4206240"/>
            <a:ext cx="36576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SVG 300 × 300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3670280" y="4206240"/>
            <a:ext cx="37947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441 B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868680" y="4622292"/>
            <a:ext cx="576072" cy="365760"/>
          </a:xfrm>
          <a:prstGeom prst="roundRect">
            <a:avLst>
              <a:gd name="adj" fmla="val 17500"/>
            </a:avLst>
          </a:prstGeom>
          <a:solidFill>
            <a:srgbClr val="E3D4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9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495044" y="4622292"/>
            <a:ext cx="33375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Down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4882896" y="4622292"/>
            <a:ext cx="50292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Account menu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9962388" y="4622292"/>
            <a:ext cx="36576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SVG 300 × 300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3670280" y="4622292"/>
            <a:ext cx="37947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391 B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868680" y="5038344"/>
            <a:ext cx="576072" cy="365760"/>
          </a:xfrm>
          <a:prstGeom prst="roundRect">
            <a:avLst>
              <a:gd name="adj" fmla="val 17500"/>
            </a:avLst>
          </a:prstGeom>
          <a:solidFill>
            <a:srgbClr val="FFDEED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10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495044" y="5038344"/>
            <a:ext cx="33375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Sign-out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4882896" y="5038344"/>
            <a:ext cx="50292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Account menu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9962388" y="5038344"/>
            <a:ext cx="36576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SVG 300 × 300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13670280" y="5038344"/>
            <a:ext cx="37947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906 B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868680" y="5454396"/>
            <a:ext cx="576072" cy="365760"/>
          </a:xfrm>
          <a:prstGeom prst="roundRect">
            <a:avLst>
              <a:gd name="adj" fmla="val 17500"/>
            </a:avLst>
          </a:prstGeom>
          <a:solidFill>
            <a:srgbClr val="D6F4E5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11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495044" y="5454396"/>
            <a:ext cx="33375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Refresh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4882896" y="5454396"/>
            <a:ext cx="50292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Reload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9962388" y="5454396"/>
            <a:ext cx="36576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SVG 300 × 300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13670280" y="5454396"/>
            <a:ext cx="37947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945 B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868680" y="5870448"/>
            <a:ext cx="576072" cy="365760"/>
          </a:xfrm>
          <a:prstGeom prst="roundRect">
            <a:avLst>
              <a:gd name="adj" fmla="val 17500"/>
            </a:avLst>
          </a:prstGeom>
          <a:solidFill>
            <a:srgbClr val="E3D4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12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1495044" y="5870448"/>
            <a:ext cx="33375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Search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4882896" y="5870448"/>
            <a:ext cx="50292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Course search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9962388" y="5870448"/>
            <a:ext cx="36576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SVG 300 × 300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13670280" y="5870448"/>
            <a:ext cx="37947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669 B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868680" y="6286500"/>
            <a:ext cx="576072" cy="365760"/>
          </a:xfrm>
          <a:prstGeom prst="roundRect">
            <a:avLst>
              <a:gd name="adj" fmla="val 17500"/>
            </a:avLst>
          </a:prstGeom>
          <a:solidFill>
            <a:srgbClr val="FFDEED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13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1495044" y="6286500"/>
            <a:ext cx="33375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Eye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4882896" y="6286500"/>
            <a:ext cx="50292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Password visibility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9962388" y="6286500"/>
            <a:ext cx="36576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SVG 300 × 300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3670280" y="6286500"/>
            <a:ext cx="37947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935 B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868680" y="6702552"/>
            <a:ext cx="576072" cy="365760"/>
          </a:xfrm>
          <a:prstGeom prst="roundRect">
            <a:avLst>
              <a:gd name="adj" fmla="val 17500"/>
            </a:avLst>
          </a:prstGeom>
          <a:solidFill>
            <a:srgbClr val="D6F4E5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14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495044" y="6702552"/>
            <a:ext cx="33375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82043"/>
                </a:solidFill>
                <a:latin typeface="Arial"/>
              </a:rPr>
              <a:t>Check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4882896" y="6702552"/>
            <a:ext cx="50292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Attendance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9962388" y="6702552"/>
            <a:ext cx="36576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SVG 300 × 300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13670280" y="6702552"/>
            <a:ext cx="37947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82043"/>
                </a:solidFill>
                <a:latin typeface="Arial"/>
              </a:rPr>
              <a:t>366 B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4" id="4"/>
          <p:cNvSpPr txBox="true"/>
          <p:nvPr/>
        </p:nvSpPr>
        <p:spPr>
          <a:xfrm rot="0">
            <a:off x="495300" y="409575"/>
            <a:ext cx="1714500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1" sz="4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B1. Media asset inventory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762000" y="7104888"/>
            <a:ext cx="16764000" cy="1086612"/>
          </a:xfrm>
          <a:prstGeom prst="rect">
            <a:avLst/>
          </a:prstGeom>
          <a:solidFill>
            <a:srgbClr val="F0E9FF"/>
          </a:solidFill>
        </p:spPr>
        <p:txBody>
          <a:bodyPr/>
          <a:p/>
        </p:txBody>
      </p:sp>
      <p:sp>
        <p:nvSpPr>
          <p:cNvPr name="TextBox 109" id="109"/>
          <p:cNvSpPr txBox="true"/>
          <p:nvPr/>
        </p:nvSpPr>
        <p:spPr>
          <a:xfrm rot="0">
            <a:off x="1104900" y="7134225"/>
            <a:ext cx="8280178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22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¹ Flaticon attribution in footer. ² github.com/Yuujiso/aitumap (MIT), author beside map.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104900" y="7429500"/>
            <a:ext cx="9553766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22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³ github.com/rsms/inter (SIL OFL 1.1). Remote session views must stay out of the submitted demo.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104900" y="7724775"/>
            <a:ext cx="8597646" cy="302419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156"/>
              </a:lnSpc>
            </a:pPr>
            <a:r>
              <a:rPr lang="en-US" sz="1722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Unused ui-right / ui-stats and evidence PNG files are not loaded by the running interface.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68680" y="1600200"/>
            <a:ext cx="576072" cy="457200"/>
          </a:xfrm>
          <a:prstGeom prst="roundRect">
            <a:avLst>
              <a:gd name="adj" fmla="val 14000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#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485900" y="1600200"/>
            <a:ext cx="3108960" cy="457200"/>
          </a:xfrm>
          <a:prstGeom prst="roundRect">
            <a:avLst>
              <a:gd name="adj" fmla="val 14000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Asset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636008" y="1600200"/>
            <a:ext cx="2880360" cy="457200"/>
          </a:xfrm>
          <a:prstGeom prst="roundRect">
            <a:avLst>
              <a:gd name="adj" fmla="val 14000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Where used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7557516" y="1600200"/>
            <a:ext cx="4023360" cy="457200"/>
          </a:xfrm>
          <a:prstGeom prst="roundRect">
            <a:avLst>
              <a:gd name="adj" fmla="val 14000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Format / dimensions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1622024" y="1600200"/>
            <a:ext cx="1874519" cy="457200"/>
          </a:xfrm>
          <a:prstGeom prst="roundRect">
            <a:avLst>
              <a:gd name="adj" fmla="val 14000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Size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13537692" y="1600200"/>
            <a:ext cx="3881628" cy="457200"/>
          </a:xfrm>
          <a:prstGeom prst="roundRect">
            <a:avLst>
              <a:gd name="adj" fmla="val 14000"/>
            </a:avLst>
          </a:prstGeom>
          <a:solidFill>
            <a:srgbClr val="7044DA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Source / licence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868680" y="2098548"/>
            <a:ext cx="576072" cy="338328"/>
          </a:xfrm>
          <a:prstGeom prst="roundRect">
            <a:avLst>
              <a:gd name="adj" fmla="val 18000"/>
            </a:avLst>
          </a:prstGeom>
          <a:solidFill>
            <a:srgbClr val="E3D4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15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485900" y="2098548"/>
            <a:ext cx="31089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82043"/>
                </a:solidFill>
                <a:latin typeface="Arial"/>
              </a:rPr>
              <a:t>Absent icon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636008" y="2098548"/>
            <a:ext cx="2880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Attendance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7557516" y="2098548"/>
            <a:ext cx="4023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SVG 300 × 300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1622024" y="2098548"/>
            <a:ext cx="1874519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442 B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13537692" y="2098548"/>
            <a:ext cx="3881628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Flaticon¹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868680" y="2478024"/>
            <a:ext cx="576072" cy="338328"/>
          </a:xfrm>
          <a:prstGeom prst="roundRect">
            <a:avLst>
              <a:gd name="adj" fmla="val 18000"/>
            </a:avLst>
          </a:prstGeom>
          <a:solidFill>
            <a:srgbClr val="FFDEED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16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1485900" y="2478024"/>
            <a:ext cx="31089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82043"/>
                </a:solidFill>
                <a:latin typeface="Arial"/>
              </a:rPr>
              <a:t>Clock icon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4636008" y="2478024"/>
            <a:ext cx="2880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Attendance time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7557516" y="2478024"/>
            <a:ext cx="4023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SVG 300 × 300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11622024" y="2478024"/>
            <a:ext cx="1874519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777 B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3537692" y="2478024"/>
            <a:ext cx="3881628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Flaticon¹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868680" y="2857500"/>
            <a:ext cx="576072" cy="338328"/>
          </a:xfrm>
          <a:prstGeom prst="roundRect">
            <a:avLst>
              <a:gd name="adj" fmla="val 18000"/>
            </a:avLst>
          </a:prstGeom>
          <a:solidFill>
            <a:srgbClr val="D6F4E5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17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485900" y="2857500"/>
            <a:ext cx="31089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82043"/>
                </a:solidFill>
                <a:latin typeface="Arial"/>
              </a:rPr>
              <a:t>Minus icon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4636008" y="2857500"/>
            <a:ext cx="2880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Unmarked attendance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7557516" y="2857500"/>
            <a:ext cx="4023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SVG 300 × 300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11622024" y="2857500"/>
            <a:ext cx="1874519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284 B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13537692" y="2857500"/>
            <a:ext cx="3881628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Flaticon¹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868680" y="3236976"/>
            <a:ext cx="576072" cy="338328"/>
          </a:xfrm>
          <a:prstGeom prst="roundRect">
            <a:avLst>
              <a:gd name="adj" fmla="val 18000"/>
            </a:avLst>
          </a:prstGeom>
          <a:solidFill>
            <a:srgbClr val="E3D4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18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485900" y="3236976"/>
            <a:ext cx="31089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82043"/>
                </a:solidFill>
                <a:latin typeface="Arial"/>
              </a:rPr>
              <a:t>Left arrow icon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4636008" y="3236976"/>
            <a:ext cx="2880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Previous month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557516" y="3236976"/>
            <a:ext cx="4023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SVG 300 × 300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11622024" y="3236976"/>
            <a:ext cx="1874519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416 B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13537692" y="3236976"/>
            <a:ext cx="3881628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Flaticon¹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868680" y="3616452"/>
            <a:ext cx="576072" cy="338328"/>
          </a:xfrm>
          <a:prstGeom prst="roundRect">
            <a:avLst>
              <a:gd name="adj" fmla="val 18000"/>
            </a:avLst>
          </a:prstGeom>
          <a:solidFill>
            <a:srgbClr val="FFDEED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19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485900" y="3616452"/>
            <a:ext cx="31089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82043"/>
                </a:solidFill>
                <a:latin typeface="Arial"/>
              </a:rPr>
              <a:t>Next arrow icon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4636008" y="3616452"/>
            <a:ext cx="2880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Next month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7557516" y="3616452"/>
            <a:ext cx="4023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SVG 300 × 300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11622024" y="3616452"/>
            <a:ext cx="1874519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404 B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13537692" y="3616452"/>
            <a:ext cx="3881628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Flaticon¹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868680" y="3995928"/>
            <a:ext cx="576072" cy="338328"/>
          </a:xfrm>
          <a:prstGeom prst="roundRect">
            <a:avLst>
              <a:gd name="adj" fmla="val 18000"/>
            </a:avLst>
          </a:prstGeom>
          <a:solidFill>
            <a:srgbClr val="D6F4E5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20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485900" y="3995928"/>
            <a:ext cx="31089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82043"/>
                </a:solidFill>
                <a:latin typeface="Arial"/>
              </a:rPr>
              <a:t>List icon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4636008" y="3995928"/>
            <a:ext cx="2880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Attendance status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7557516" y="3995928"/>
            <a:ext cx="4023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SVG 300 × 300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11622024" y="3995928"/>
            <a:ext cx="1874519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1,010 B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13537692" y="3995928"/>
            <a:ext cx="3881628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Flaticon¹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868680" y="4375404"/>
            <a:ext cx="576072" cy="338328"/>
          </a:xfrm>
          <a:prstGeom prst="roundRect">
            <a:avLst>
              <a:gd name="adj" fmla="val 18000"/>
            </a:avLst>
          </a:prstGeom>
          <a:solidFill>
            <a:srgbClr val="E3D4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1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1485900" y="4375404"/>
            <a:ext cx="31089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82043"/>
                </a:solidFill>
                <a:latin typeface="Arial"/>
              </a:rPr>
              <a:t>Attendance preview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4636008" y="4375404"/>
            <a:ext cx="2880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Sign-in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7557516" y="4375404"/>
            <a:ext cx="4023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WebP 390 × 844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11622024" y="4375404"/>
            <a:ext cx="1874519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15.75 KiB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3537692" y="4375404"/>
            <a:ext cx="3881628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Own + icons¹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868680" y="4754880"/>
            <a:ext cx="576072" cy="338328"/>
          </a:xfrm>
          <a:prstGeom prst="roundRect">
            <a:avLst>
              <a:gd name="adj" fmla="val 18000"/>
            </a:avLst>
          </a:prstGeom>
          <a:solidFill>
            <a:srgbClr val="FFDEED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2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1485900" y="4754880"/>
            <a:ext cx="31089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82043"/>
                </a:solidFill>
                <a:latin typeface="Arial"/>
              </a:rPr>
              <a:t>LMS wordmark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4636008" y="4754880"/>
            <a:ext cx="2880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Sign-in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7557516" y="4754880"/>
            <a:ext cx="4023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CSS / text, 68 × 68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11622024" y="4754880"/>
            <a:ext cx="1874519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Embedded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13537692" y="4754880"/>
            <a:ext cx="3881628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Own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868680" y="5134356"/>
            <a:ext cx="576072" cy="338328"/>
          </a:xfrm>
          <a:prstGeom prst="roundRect">
            <a:avLst>
              <a:gd name="adj" fmla="val 18000"/>
            </a:avLst>
          </a:prstGeom>
          <a:solidFill>
            <a:srgbClr val="D6F4E5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21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1485900" y="5134356"/>
            <a:ext cx="31089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82043"/>
                </a:solidFill>
                <a:latin typeface="Arial"/>
              </a:rPr>
              <a:t>Login pulse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4636008" y="5134356"/>
            <a:ext cx="2880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Login progress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7557516" y="5134356"/>
            <a:ext cx="4023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CSS, 2 s loop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11622024" y="5134356"/>
            <a:ext cx="1874519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Embedded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13537692" y="5134356"/>
            <a:ext cx="3881628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Own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868680" y="5513832"/>
            <a:ext cx="576072" cy="338328"/>
          </a:xfrm>
          <a:prstGeom prst="roundRect">
            <a:avLst>
              <a:gd name="adj" fmla="val 18000"/>
            </a:avLst>
          </a:prstGeom>
          <a:solidFill>
            <a:srgbClr val="E3D4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22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1485900" y="5513832"/>
            <a:ext cx="31089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82043"/>
                </a:solidFill>
                <a:latin typeface="Arial"/>
              </a:rPr>
              <a:t>Entrance motion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4636008" y="5513832"/>
            <a:ext cx="2880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Transitions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7557516" y="5513832"/>
            <a:ext cx="4023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CSS, 0.4 s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11622024" y="5513832"/>
            <a:ext cx="1874519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Embedded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13537692" y="5513832"/>
            <a:ext cx="3881628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Own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868680" y="5893308"/>
            <a:ext cx="576072" cy="338328"/>
          </a:xfrm>
          <a:prstGeom prst="roundRect">
            <a:avLst>
              <a:gd name="adj" fmla="val 18000"/>
            </a:avLst>
          </a:prstGeom>
          <a:solidFill>
            <a:srgbClr val="FFDEED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23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1485900" y="5893308"/>
            <a:ext cx="31089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82043"/>
                </a:solidFill>
                <a:latin typeface="Arial"/>
              </a:rPr>
              <a:t>Campus map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4636008" y="5893308"/>
            <a:ext cx="2880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Map section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7557516" y="5893308"/>
            <a:ext cx="4023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Responsive iframe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11622024" y="5893308"/>
            <a:ext cx="1874519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Variable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13537692" y="5893308"/>
            <a:ext cx="3881628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Yuujiso / MIT²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868680" y="6272784"/>
            <a:ext cx="576072" cy="338328"/>
          </a:xfrm>
          <a:prstGeom prst="roundRect">
            <a:avLst>
              <a:gd name="adj" fmla="val 18000"/>
            </a:avLst>
          </a:prstGeom>
          <a:solidFill>
            <a:srgbClr val="D6F4E5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24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1485900" y="6272784"/>
            <a:ext cx="31089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82043"/>
                </a:solidFill>
                <a:latin typeface="Arial"/>
              </a:rPr>
              <a:t>Inter font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4636008" y="6272784"/>
            <a:ext cx="2880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Interface text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7557516" y="6272784"/>
            <a:ext cx="4023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Web font / weights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11622024" y="6272784"/>
            <a:ext cx="1874519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Variable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13537692" y="6272784"/>
            <a:ext cx="3881628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Inter / OFL³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868680" y="6652260"/>
            <a:ext cx="576072" cy="338328"/>
          </a:xfrm>
          <a:prstGeom prst="roundRect">
            <a:avLst>
              <a:gd name="adj" fmla="val 18000"/>
            </a:avLst>
          </a:prstGeom>
          <a:solidFill>
            <a:srgbClr val="E3D4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25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1485900" y="6652260"/>
            <a:ext cx="31089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82043"/>
                </a:solidFill>
                <a:latin typeface="Arial"/>
              </a:rPr>
              <a:t>Remote view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4636008" y="6652260"/>
            <a:ext cx="2880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Optional support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7557516" y="6652260"/>
            <a:ext cx="4023360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JPEG Q70, 1100 × 800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11622024" y="6652260"/>
            <a:ext cx="1874519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Variable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13537692" y="6652260"/>
            <a:ext cx="3881628" cy="3383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82043"/>
                </a:solidFill>
                <a:latin typeface="Arial"/>
              </a:rPr>
              <a:t>Private session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id="4" name="TextBox 3"/>
          <p:cNvSpPr txBox="1"/>
          <p:nvPr/>
        </p:nvSpPr>
        <p:spPr>
          <a:xfrm>
            <a:off x="868680" y="457200"/>
            <a:ext cx="16550640" cy="850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500" b="1">
                <a:solidFill>
                  <a:srgbClr val="FFFFFF"/>
                </a:solidFill>
                <a:latin typeface="Arial"/>
              </a:rPr>
              <a:t>B2. Integration and optimisation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91640"/>
            <a:ext cx="758952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965960"/>
            <a:ext cx="6949440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7044DA"/>
                </a:solidFill>
                <a:latin typeface="Arial"/>
              </a:rPr>
              <a:t>What is integrated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97480"/>
            <a:ext cx="6949440" cy="3364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0">
                <a:solidFill>
                  <a:srgbClr val="282043"/>
                </a:solidFill>
                <a:latin typeface="Arial"/>
              </a:rPr>
              <a:t>WebP preview: 390 × 844 px, displayed at 250 px wide.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0">
                <a:solidFill>
                  <a:srgbClr val="282043"/>
                </a:solidFill>
                <a:latin typeface="Arial"/>
              </a:rPr>
              <a:t>18 inline SVG icons and a CSS login pulse.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0">
                <a:solidFill>
                  <a:srgbClr val="282043"/>
                </a:solidFill>
                <a:latin typeface="Arial"/>
              </a:rPr>
              <a:t>Reduced-motion preference disables animation.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0">
                <a:solidFill>
                  <a:srgbClr val="282043"/>
                </a:solidFill>
                <a:latin typeface="Arial"/>
              </a:rPr>
              <a:t>The full page still needs a 360 px browser check.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2148840"/>
            <a:ext cx="8229600" cy="1965960"/>
          </a:xfrm>
          <a:prstGeom prst="roundRect">
            <a:avLst>
              <a:gd name="adj" fmla="val 6000"/>
            </a:avLst>
          </a:prstGeom>
          <a:solidFill>
            <a:srgbClr val="D6F4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0" y="2468880"/>
            <a:ext cx="3017520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4300" b="1">
                <a:solidFill>
                  <a:srgbClr val="7044DA"/>
                </a:solidFill>
                <a:latin typeface="Arial"/>
              </a:rPr>
              <a:t>−73.0%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0" y="2423160"/>
            <a:ext cx="4114800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282043"/>
                </a:solidFill>
                <a:latin typeface="Arial"/>
              </a:rPr>
              <a:t>Preview 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0" y="3063240"/>
            <a:ext cx="4114800" cy="8046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0">
                <a:solidFill>
                  <a:srgbClr val="282043"/>
                </a:solidFill>
                <a:latin typeface="Arial"/>
              </a:rPr>
              <a:t>59,787 B → 16,126 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0" y="4434840"/>
            <a:ext cx="7543800" cy="1965960"/>
          </a:xfrm>
          <a:prstGeom prst="roundRect">
            <a:avLst>
              <a:gd name="adj" fmla="val 6000"/>
            </a:avLst>
          </a:prstGeom>
          <a:solidFill>
            <a:srgbClr val="EEE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04120" y="4754880"/>
            <a:ext cx="3017520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4300" b="1">
                <a:solidFill>
                  <a:srgbClr val="7044DA"/>
                </a:solidFill>
                <a:latin typeface="Arial"/>
              </a:rPr>
              <a:t>−30.8%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0" y="4663440"/>
            <a:ext cx="3566160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282043"/>
                </a:solidFill>
                <a:latin typeface="Arial"/>
              </a:rPr>
              <a:t>4 front-end files + preview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0" y="5513832"/>
            <a:ext cx="3566160" cy="7589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282043"/>
                </a:solidFill>
                <a:latin typeface="Arial"/>
              </a:rPr>
              <a:t>141,601 B → 97,941 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6537960"/>
            <a:ext cx="106984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6812280"/>
            <a:ext cx="10058400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7044DA"/>
                </a:solidFill>
                <a:latin typeface="Arial"/>
              </a:rPr>
              <a:t>DevTools measurements: still required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7543800"/>
            <a:ext cx="10058400" cy="1078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0">
                <a:solidFill>
                  <a:srgbClr val="282043"/>
                </a:solidFill>
                <a:latin typeface="Arial"/>
              </a:rPr>
              <a:t>Disable cache, select Fast 4G and reload the same screen before and after. Capture transferred bytes, request count and Finish/Load time. Image-request delta should be 0; verify the total.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932920" y="6766560"/>
            <a:ext cx="539496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161520" y="6949440"/>
            <a:ext cx="4937760" cy="18105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282043"/>
                </a:solidFill>
                <a:latin typeface="Arial"/>
              </a:rPr>
              <a:t>Controlled local payload excludes headers, compression, API, fonts and map traffic. Stage 1: &lt;3 s per request at 1,000 users remains unverified.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id="4" name="TextBox 3"/>
          <p:cNvSpPr txBox="1"/>
          <p:nvPr/>
        </p:nvSpPr>
        <p:spPr>
          <a:xfrm>
            <a:off x="868680" y="457200"/>
            <a:ext cx="16550640" cy="850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500" b="1">
                <a:solidFill>
                  <a:srgbClr val="FFFFFF"/>
                </a:solidFill>
                <a:latin typeface="Arial"/>
              </a:rPr>
              <a:t>B3. Accessibility of media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822960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920240"/>
            <a:ext cx="7589520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7044DA"/>
                </a:solidFill>
                <a:latin typeface="Arial"/>
              </a:rPr>
              <a:t>Meaningful images have alt 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51760"/>
            <a:ext cx="7589520" cy="1627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>
                <a:solidFill>
                  <a:srgbClr val="282043"/>
                </a:solidFill>
                <a:latin typeface="Arial"/>
              </a:rPr>
              <a:t>The test attendance preview describes the month and status counts. Decorative SVGs use aria-hidden="true"; controls retain text or accessible labels.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663440"/>
            <a:ext cx="8229600" cy="2514600"/>
          </a:xfrm>
          <a:prstGeom prst="roundRect">
            <a:avLst>
              <a:gd name="adj" fmla="val 6000"/>
            </a:avLst>
          </a:prstGeom>
          <a:solidFill>
            <a:srgbClr val="EEE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937760"/>
            <a:ext cx="7680960" cy="21305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282043"/>
                </a:solidFill>
                <a:latin typeface="Arial"/>
              </a:rPr>
              <a:t>&lt;img src="/attendance-preview.webp"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282043"/>
                </a:solidFill>
                <a:latin typeface="Arial"/>
              </a:rPr>
              <a:t>width="390" height="844"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282043"/>
                </a:solidFill>
                <a:latin typeface="Arial"/>
              </a:rPr>
              <a:t>alt="Тестовый экран посещаемости: календарь за октябрь 2026 года и счётчики — 0 присутствий, 1 пропуск, 0 опозданий, 1 запись без отметки."&gt;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92640" y="2423160"/>
            <a:ext cx="763524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12680" y="2697479"/>
            <a:ext cx="6995159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7044DA"/>
                </a:solidFill>
                <a:latin typeface="Arial"/>
              </a:rPr>
              <a:t>Motion follows user preference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12680" y="3429000"/>
            <a:ext cx="6995159" cy="1353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>
                <a:solidFill>
                  <a:srgbClr val="282043"/>
                </a:solidFill>
                <a:latin typeface="Arial"/>
              </a:rPr>
              <a:t>Progress is visible as text and a pulse. Animation and transitions are disabled when reduced motion is requested.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5166360"/>
            <a:ext cx="7635240" cy="2011680"/>
          </a:xfrm>
          <a:prstGeom prst="roundRect">
            <a:avLst>
              <a:gd name="adj" fmla="val 6000"/>
            </a:avLst>
          </a:prstGeom>
          <a:solidFill>
            <a:srgbClr val="EEE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0" y="5440680"/>
            <a:ext cx="7086600" cy="1627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282043"/>
                </a:solidFill>
                <a:latin typeface="Arial"/>
              </a:rPr>
              <a:t>@media (prefers-reduced-motion: reduce) {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282043"/>
                </a:solidFill>
                <a:latin typeface="Arial"/>
              </a:rPr>
              <a:t>  *, *::before, *::after { animation: none !important;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282043"/>
                </a:solidFill>
                <a:latin typeface="Arial"/>
              </a:rPr>
              <a:t>  transition: none !important;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282043"/>
                </a:solidFill>
                <a:latin typeface="Arial"/>
              </a:rPr>
              <a:t>  scroll-behavior: auto !important; } 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7589520"/>
            <a:ext cx="164134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7772400"/>
            <a:ext cx="15956280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282043"/>
                </a:solidFill>
                <a:latin typeface="Arial"/>
              </a:rPr>
              <a:t>No speech media or sound playback: captions and sound equivalents are currently N/A. No live text sits over raster images, so the 4.5:1 text-over-image test is N/A. Source: supplied part_b.md, B3.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38689" y="2480119"/>
            <a:ext cx="16320516" cy="4123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1" sz="7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C — Multimedia presentation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id="4" name="TextBox 3"/>
          <p:cNvSpPr txBox="1"/>
          <p:nvPr/>
        </p:nvSpPr>
        <p:spPr>
          <a:xfrm>
            <a:off x="868680" y="457200"/>
            <a:ext cx="16550640" cy="850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500" b="1">
                <a:solidFill>
                  <a:srgbClr val="FFFFFF"/>
                </a:solidFill>
                <a:latin typeface="Arial"/>
              </a:rPr>
              <a:t>C1. Storyboard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731520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847088"/>
            <a:ext cx="6766560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7044DA"/>
                </a:solidFill>
                <a:latin typeface="Arial"/>
              </a:rPr>
              <a:t>01  ·  0:00–0:30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450592"/>
            <a:ext cx="6766560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282043"/>
                </a:solidFill>
                <a:latin typeface="Arial"/>
              </a:rPr>
              <a:t>Login screen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337560"/>
            <a:ext cx="6766560" cy="6035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282043"/>
                </a:solidFill>
                <a:latin typeface="Arial"/>
              </a:rPr>
              <a:t>Nurassyl: how the login process looks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2788920"/>
            <a:ext cx="7315200" cy="2240280"/>
          </a:xfrm>
          <a:prstGeom prst="roundRect">
            <a:avLst>
              <a:gd name="adj" fmla="val 6000"/>
            </a:avLst>
          </a:prstGeom>
          <a:solidFill>
            <a:srgbClr val="EEE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23960" y="2990088"/>
            <a:ext cx="6766560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7044DA"/>
                </a:solidFill>
                <a:latin typeface="Arial"/>
              </a:rPr>
              <a:t>02  ·  0:30–1:10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3593591"/>
            <a:ext cx="6766560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282043"/>
                </a:solidFill>
                <a:latin typeface="Arial"/>
              </a:rPr>
              <a:t>Main pages, burger menu and references from Stage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4480560"/>
            <a:ext cx="6766560" cy="6035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282043"/>
                </a:solidFill>
                <a:latin typeface="Arial"/>
              </a:rPr>
              <a:t>Salima: website content and design decisions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029200"/>
            <a:ext cx="7315200" cy="2240280"/>
          </a:xfrm>
          <a:prstGeom prst="roundRect">
            <a:avLst>
              <a:gd name="adj" fmla="val 6000"/>
            </a:avLst>
          </a:prstGeom>
          <a:solidFill>
            <a:srgbClr val="D6F4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230368"/>
            <a:ext cx="6766560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7044DA"/>
                </a:solidFill>
                <a:latin typeface="Arial"/>
              </a:rPr>
              <a:t>03  ·  1:10–1:40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833872"/>
            <a:ext cx="6766560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282043"/>
                </a:solidFill>
                <a:latin typeface="Arial"/>
              </a:rPr>
              <a:t>Statistics and survey from Stage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6720840"/>
            <a:ext cx="6766560" cy="6035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282043"/>
                </a:solidFill>
                <a:latin typeface="Arial"/>
              </a:rPr>
              <a:t>Azhar: the purpose of the project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6172200"/>
            <a:ext cx="7315200" cy="2240280"/>
          </a:xfrm>
          <a:prstGeom prst="roundRect">
            <a:avLst>
              <a:gd name="adj" fmla="val 6000"/>
            </a:avLst>
          </a:prstGeom>
          <a:solidFill>
            <a:srgbClr val="FFDE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6373368"/>
            <a:ext cx="6766560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7044DA"/>
                </a:solidFill>
                <a:latin typeface="Arial"/>
              </a:rPr>
              <a:t>04  ·  1:40–2:10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6976872"/>
            <a:ext cx="6766560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282043"/>
                </a:solidFill>
                <a:latin typeface="Arial"/>
              </a:rPr>
              <a:t>Demo sketches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7863840"/>
            <a:ext cx="6766560" cy="6035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282043"/>
                </a:solidFill>
                <a:latin typeface="Arial"/>
              </a:rPr>
              <a:t>Azhar: the future of the project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846570" y="2145316"/>
            <a:ext cx="7849457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1" sz="40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C2. The video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45866" y="3883628"/>
            <a:ext cx="8550878" cy="1372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https://drive.google.com/drive/folders/1izH4jyb1Ooi-pvghCGhOfCXmk6A6rqKn?usp=sharing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366838" y="1367314"/>
            <a:ext cx="6952107" cy="165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1" sz="405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C3. Production note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69459" y="3369659"/>
            <a:ext cx="6147054" cy="2025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0163D"/>
                </a:solidFill>
                <a:latin typeface="Arial"/>
                <a:ea typeface="Arial"/>
                <a:cs typeface="Arial"/>
                <a:sym typeface="Arial"/>
              </a:rPr>
              <a:t>In 80–120 words, state the tools you used to record and edit, and your export settings — container, codec, resolution, frame rate, bitrate and final file size — and explain why you chose them rather than a higher or lower setting.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92008" y="2480119"/>
            <a:ext cx="15103793" cy="4123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1" sz="7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D — Integration with the project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id="4" name="TextBox 3"/>
          <p:cNvSpPr txBox="1"/>
          <p:nvPr/>
        </p:nvSpPr>
        <p:spPr>
          <a:xfrm>
            <a:off x="868680" y="457200"/>
            <a:ext cx="16550640" cy="850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500" b="1">
                <a:solidFill>
                  <a:srgbClr val="FFFFFF"/>
                </a:solidFill>
                <a:latin typeface="Arial"/>
              </a:rPr>
              <a:t>D1. Updated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1737360"/>
            <a:ext cx="10789920" cy="6675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>
                <a:solidFill>
                  <a:srgbClr val="FFFFFF"/>
                </a:solidFill>
                <a:latin typeface="Arial"/>
              </a:rPr>
              <a:t>Run the prototype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359152"/>
            <a:ext cx="1097280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2468880"/>
            <a:ext cx="10607040" cy="6035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0">
                <a:solidFill>
                  <a:srgbClr val="7044DA"/>
                </a:solidFill>
                <a:latin typeface="Arial"/>
                <a:hlinkClick r:id="rId3"/>
              </a:rPr>
              <a:t>github.com/d30mantcoder/ICTProject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3154680"/>
            <a:ext cx="5212080" cy="14447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0">
                <a:solidFill>
                  <a:srgbClr val="FFFFFF"/>
                </a:solidFill>
                <a:latin typeface="Arial"/>
              </a:rPr>
              <a:t>01  Clone the repository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0">
                <a:solidFill>
                  <a:srgbClr val="FFFFFF"/>
                </a:solidFill>
                <a:latin typeface="Arial"/>
              </a:rPr>
              <a:t>02  Create a virtual 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3154680"/>
            <a:ext cx="5394960" cy="14447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0">
                <a:solidFill>
                  <a:srgbClr val="FFFFFF"/>
                </a:solidFill>
                <a:latin typeface="Arial"/>
              </a:rPr>
              <a:t>03  Install requirements.txt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0">
                <a:solidFill>
                  <a:srgbClr val="FFFFFF"/>
                </a:solidFill>
                <a:latin typeface="Arial"/>
              </a:rPr>
              <a:t>04  Run bridge-test/app.py with Python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id="4" name="TextBox 3"/>
          <p:cNvSpPr txBox="1"/>
          <p:nvPr/>
        </p:nvSpPr>
        <p:spPr>
          <a:xfrm>
            <a:off x="868680" y="457200"/>
            <a:ext cx="16550640" cy="8503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500" b="1">
                <a:solidFill>
                  <a:srgbClr val="FFFFFF"/>
                </a:solidFill>
                <a:latin typeface="Arial"/>
              </a:rPr>
              <a:t>D2. Change log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777240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7132320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7044DA"/>
                </a:solidFill>
                <a:latin typeface="Arial"/>
              </a:rPr>
              <a:t>01  Real LMS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834640"/>
            <a:ext cx="7132320" cy="30906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0">
                <a:solidFill>
                  <a:srgbClr val="282043"/>
                </a:solidFill>
                <a:latin typeface="Arial"/>
              </a:rPr>
              <a:t>Added fetching from LMS to make the website usable.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0">
                <a:solidFill>
                  <a:srgbClr val="282043"/>
                </a:solidFill>
                <a:latin typeface="Arial"/>
              </a:rPr>
              <a:t>Status: using real LMS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2514600"/>
            <a:ext cx="8001000" cy="2514600"/>
          </a:xfrm>
          <a:prstGeom prst="roundRect">
            <a:avLst>
              <a:gd name="adj" fmla="val 6000"/>
            </a:avLst>
          </a:prstGeom>
          <a:solidFill>
            <a:srgbClr val="EEE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46919" y="2788920"/>
            <a:ext cx="7360920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7044DA"/>
                </a:solidFill>
                <a:latin typeface="Arial"/>
              </a:rPr>
              <a:t>02  A more usable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19" y="3520440"/>
            <a:ext cx="7360920" cy="1399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0">
                <a:solidFill>
                  <a:srgbClr val="282043"/>
                </a:solidFill>
                <a:latin typeface="Arial"/>
              </a:rPr>
              <a:t>The original LMS UX was uncomfortable. The redesigned interface places the most useful buttons on the main page.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5349240"/>
            <a:ext cx="8001000" cy="2788920"/>
          </a:xfrm>
          <a:prstGeom prst="roundRect">
            <a:avLst>
              <a:gd name="adj" fmla="val 6000"/>
            </a:avLst>
          </a:prstGeom>
          <a:solidFill>
            <a:srgbClr val="D6F4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46919" y="5623559"/>
            <a:ext cx="7360920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7044DA"/>
                </a:solidFill>
                <a:latin typeface="Arial"/>
              </a:rPr>
              <a:t>03  Multi-user sessions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19" y="6355079"/>
            <a:ext cx="7360920" cy="16733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0">
                <a:solidFill>
                  <a:srgbClr val="282043"/>
                </a:solidFill>
                <a:latin typeface="Arial"/>
              </a:rPr>
              <a:t>Previously, more than one person could not work at the same time. Asynchronous sessions now let the server handle multiple users.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6492240"/>
            <a:ext cx="7589520" cy="1261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>
                <a:solidFill>
                  <a:srgbClr val="FFFFFF"/>
                </a:solidFill>
                <a:latin typeface="Arial"/>
              </a:rPr>
              <a:t>Data → interface → concurrent use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47" id="47"/>
          <p:cNvSpPr txBox="true"/>
          <p:nvPr/>
        </p:nvSpPr>
        <p:spPr>
          <a:xfrm rot="0">
            <a:off x="960120" y="1261872"/>
            <a:ext cx="8046720" cy="1051560"/>
          </a:xfrm>
          <a:prstGeom prst="rect">
            <a:avLst/>
          </a:prstGeom>
        </p:spPr>
        <p:txBody>
          <a:bodyPr anchor="t" rtlCol="false" tIns="36576" bIns="36576" wrap="square">
            <a:spAutoFit/>
          </a:bodyPr>
          <a:lstStyle/>
          <a:p>
            <a:pPr algn="l">
              <a:lnSpc>
                <a:spcPts val="4860"/>
              </a:lnSpc>
            </a:pPr>
            <a:r>
              <a:rPr sz="3900" b="1">
                <a:solidFill>
                  <a:srgbClr val="FFFFFF"/>
                </a:solidFill>
                <a:latin typeface="Arial"/>
              </a:rPr>
              <a:t>D3. Team contributions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8680" y="2496312"/>
            <a:ext cx="5303520" cy="4434840"/>
          </a:xfrm>
          <a:prstGeom prst="roundRect">
            <a:avLst>
              <a:gd name="adj" fmla="val 4742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37160" rIns="137160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82043"/>
                </a:solidFill>
                <a:latin typeface="Arial"/>
              </a:rPr>
              <a:t/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234440" y="2852928"/>
            <a:ext cx="1325880" cy="457200"/>
          </a:xfrm>
          <a:prstGeom prst="roundRect">
            <a:avLst>
              <a:gd name="adj" fmla="val 18000"/>
            </a:avLst>
          </a:prstGeom>
          <a:solidFill>
            <a:srgbClr val="EEE7FC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7044DA"/>
                </a:solidFill>
                <a:latin typeface="Arial"/>
              </a:rPr>
              <a:t>C, 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34440" y="3666744"/>
            <a:ext cx="4572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3400" b="1">
                <a:solidFill>
                  <a:srgbClr val="282043"/>
                </a:solidFill>
                <a:latin typeface="Arial"/>
              </a:rPr>
              <a:t>Salima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440" y="4617720"/>
            <a:ext cx="4572000" cy="10972"/>
          </a:xfrm>
          <a:prstGeom prst="rect">
            <a:avLst/>
          </a:prstGeom>
          <a:solidFill>
            <a:srgbClr val="DED5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34440" y="49377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716785"/>
                </a:solidFill>
                <a:latin typeface="Arial"/>
              </a:rPr>
              <a:t>CONTRIBUTION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34440" y="5513832"/>
            <a:ext cx="45720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2700" b="0">
                <a:solidFill>
                  <a:srgbClr val="282043"/>
                </a:solidFill>
                <a:latin typeface="Arial"/>
              </a:rPr>
              <a:t>Editing the video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92240" y="2496312"/>
            <a:ext cx="5303520" cy="4434840"/>
          </a:xfrm>
          <a:prstGeom prst="roundRect">
            <a:avLst>
              <a:gd name="adj" fmla="val 4742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37160" rIns="137160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82043"/>
                </a:solidFill>
                <a:latin typeface="Arial"/>
              </a:rPr>
              <a:t/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58000" y="2852928"/>
            <a:ext cx="1325880" cy="457200"/>
          </a:xfrm>
          <a:prstGeom prst="roundRect">
            <a:avLst>
              <a:gd name="adj" fmla="val 18000"/>
            </a:avLst>
          </a:prstGeom>
          <a:solidFill>
            <a:srgbClr val="FFE1EE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7044DA"/>
                </a:solidFill>
                <a:latin typeface="Arial"/>
              </a:rPr>
              <a:t>A, 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0" y="3666744"/>
            <a:ext cx="4572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3400" b="1">
                <a:solidFill>
                  <a:srgbClr val="282043"/>
                </a:solidFill>
                <a:latin typeface="Arial"/>
              </a:rPr>
              <a:t>Azhar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58000" y="4617720"/>
            <a:ext cx="4572000" cy="10972"/>
          </a:xfrm>
          <a:prstGeom prst="rect">
            <a:avLst/>
          </a:prstGeom>
          <a:solidFill>
            <a:srgbClr val="DED5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58000" y="49377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716785"/>
                </a:solidFill>
                <a:latin typeface="Arial"/>
              </a:rPr>
              <a:t>CONTRIBUTION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0" y="5513832"/>
            <a:ext cx="45720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2700" b="0">
                <a:solidFill>
                  <a:srgbClr val="282043"/>
                </a:solidFill>
                <a:latin typeface="Arial"/>
              </a:rPr>
              <a:t>Comparing formats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2115800" y="2496312"/>
            <a:ext cx="5303520" cy="4434840"/>
          </a:xfrm>
          <a:prstGeom prst="roundRect">
            <a:avLst>
              <a:gd name="adj" fmla="val 4742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square" lIns="137160" rIns="137160" tIns="73152" bIns="73152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82043"/>
                </a:solidFill>
                <a:latin typeface="Arial"/>
              </a:rPr>
              <a:t/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2481560" y="2852928"/>
            <a:ext cx="1325880" cy="457200"/>
          </a:xfrm>
          <a:prstGeom prst="roundRect">
            <a:avLst>
              <a:gd name="adj" fmla="val 18000"/>
            </a:avLst>
          </a:prstGeom>
          <a:solidFill>
            <a:srgbClr val="D8F5E8"/>
          </a:solidFill>
          <a:ln>
            <a:noFill/>
          </a:ln>
        </p:spPr>
        <p:txBody>
          <a:bodyPr rtlCol="0" anchor="ctr" wrap="square" lIns="73152" rIns="73152" tIns="13716" bIns="13716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7044DA"/>
                </a:solidFill>
                <a:latin typeface="Arial"/>
              </a:rPr>
              <a:t>B, 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481560" y="3666744"/>
            <a:ext cx="45720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3400" b="1">
                <a:solidFill>
                  <a:srgbClr val="282043"/>
                </a:solidFill>
                <a:latin typeface="Arial"/>
              </a:rPr>
              <a:t>Nurassyl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2481560" y="4617720"/>
            <a:ext cx="4572000" cy="10972"/>
          </a:xfrm>
          <a:prstGeom prst="rect">
            <a:avLst/>
          </a:prstGeom>
          <a:solidFill>
            <a:srgbClr val="DED5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2481560" y="49377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716785"/>
                </a:solidFill>
                <a:latin typeface="Arial"/>
              </a:rPr>
              <a:t>CONTRIBUTION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481560" y="5513832"/>
            <a:ext cx="45720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0"/>
              </a:spcAft>
            </a:pPr>
            <a:r>
              <a:rPr sz="2700" b="0">
                <a:solidFill>
                  <a:srgbClr val="282043"/>
                </a:solidFill>
                <a:latin typeface="Arial"/>
              </a:rPr>
              <a:t>Multimedia integration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427952" y="2305241"/>
            <a:ext cx="11431810" cy="5266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b="1" sz="1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DAHZBMRjZZk</dc:identifier>
  <dcterms:modified xsi:type="dcterms:W3CDTF">2011-08-01T06:04:30Z</dcterms:modified>
  <cp:revision>1</cp:revision>
  <dc:title>ICT Assignment 4 — Editable text and tables</dc:title>
</cp:coreProperties>
</file>