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27393" y="1842516"/>
            <a:ext cx="11233118" cy="298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Multimedia 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75865" y="760095"/>
            <a:ext cx="6735985" cy="770001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5334" y="5095399"/>
            <a:ext cx="10656951" cy="10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Salima Zimbekkyzy, Azhar Saparzholova, Nurassyl Oralbekov Group: SE-2623 Course: ICT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22960" y="347472"/>
            <a:ext cx="16642080" cy="621792"/>
          </a:xfrm>
          <a:prstGeom prst="rect">
            <a:avLst/>
          </a:prstGeom>
        </p:spPr>
        <p:txBody>
          <a:bodyPr anchor="t" rtlCol="false" tIns="36576" bIns="36576" wrap="none">
            <a:noAutofit/>
          </a:bodyPr>
          <a:lstStyle/>
          <a:p>
            <a:pPr algn="l">
              <a:lnSpc>
                <a:spcPts val="9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Part A — Multimedia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086600"/>
            <a:ext cx="16276320" cy="51206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 our prototype: WebP for the attendance preview; inline SVG for interface icons.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2651760" cy="713232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00200"/>
            <a:ext cx="5577840" cy="713232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KEY TRAIT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600200"/>
            <a:ext cx="7863840" cy="713232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BEST 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42032"/>
            <a:ext cx="2651760" cy="1179576"/>
          </a:xfrm>
          <a:prstGeom prst="roundRect">
            <a:avLst>
              <a:gd name="adj" fmla="val 11627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542032"/>
            <a:ext cx="5577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Lossless; supports transparency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542032"/>
            <a:ext cx="7863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Screenshots and graphics where crisp text or edges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2651760" cy="1179576"/>
          </a:xfrm>
          <a:prstGeom prst="roundRect">
            <a:avLst>
              <a:gd name="adj" fmla="val 11627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JPEG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950208"/>
            <a:ext cx="5577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Lossy; compact for photographs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950208"/>
            <a:ext cx="7863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Photos and images where a smaller file is more important than perfect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58384"/>
            <a:ext cx="2651760" cy="1179576"/>
          </a:xfrm>
          <a:prstGeom prst="roundRect">
            <a:avLst>
              <a:gd name="adj" fmla="val 11627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WebP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58384"/>
            <a:ext cx="5577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Lossy or lossless; compact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5358384"/>
            <a:ext cx="7863840" cy="1179576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Web images and the attendance preview used in our prototype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A1. Format comparison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6693408"/>
            <a:ext cx="16764000" cy="149809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100" id="100"/>
          <p:cNvSpPr txBox="true"/>
          <p:nvPr/>
        </p:nvSpPr>
        <p:spPr>
          <a:xfrm rot="0">
            <a:off x="1104900" y="6753225"/>
            <a:ext cx="11675745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4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 container (MP4) packages tracks and metadata; a codec (H.264) encodes and decodes the media.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4900" y="7219950"/>
            <a:ext cx="958005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*Codec, OS and device support vary. File size depends on content, resolution, bitrate and duration.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04900" y="7515225"/>
            <a:ext cx="64658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Sources: MDN, Image file type guide and Media container formats.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8680" y="1600200"/>
            <a:ext cx="192024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839212" y="1600200"/>
            <a:ext cx="105156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941064" y="1600200"/>
            <a:ext cx="224028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Compression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231636" y="1600200"/>
            <a:ext cx="242316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Alpha / motion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705088" y="1600200"/>
            <a:ext cx="214884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Typical size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904220" y="1600200"/>
            <a:ext cx="164592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2600432" y="1600200"/>
            <a:ext cx="457200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Project use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2199132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PNG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839212" y="2199132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941064" y="2199132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Lossless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1636" y="2199132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Alpha; APNG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05088" y="2199132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Large photos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904220" y="2199132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600432" y="2199132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UI evidence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8680" y="2638044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JPEG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839212" y="2638044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941064" y="2638044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31636" y="2638044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Neither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705088" y="2638044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 photos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904220" y="2638044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2600432" y="2638044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Photos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8680" y="3076956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WebP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839212" y="3076956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941064" y="3076956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Both modes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31636" y="3076956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 + motion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05088" y="3076956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Compact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904220" y="3076956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Modern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2600432" y="3076956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App preview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680" y="3515868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SVG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839212" y="3515868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941064" y="3515868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Vector / text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31636" y="3515868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 + motion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705088" y="3515868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Tiny icons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904220" y="3515868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600432" y="3515868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UI icons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8680" y="3954780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MP3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839212" y="3954780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941064" y="3954780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231636" y="3954780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705088" y="3954780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904220" y="3954780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600432" y="3954780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Speech / music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4393692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AAC (M4A)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839212" y="4393692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941064" y="4393692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231636" y="4393692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705088" y="4393692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904220" y="4393692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600432" y="4393692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Narration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68680" y="4832604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WAV (PCM)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839212" y="4832604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941064" y="4832604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Uncompressed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31636" y="4832604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705088" y="4832604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Large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904220" y="4832604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2600432" y="4832604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Editing master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68680" y="5271516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MP4 H.264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839212" y="5271516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941064" y="5271516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231636" y="5271516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no alpha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705088" y="5271516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904220" y="5271516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2600432" y="5271516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Demo delivery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5710428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WebM VP9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839212" y="5710428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941064" y="5710428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231636" y="5710428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alpha*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705088" y="5710428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904220" y="5710428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Modern*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2600432" y="5710428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Web playback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68680" y="6149340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MOV H.264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839212" y="6149340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941064" y="6149340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231636" y="6149340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no alpha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705088" y="6149340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904220" y="6149340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Limited web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2600432" y="6149340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Editing / transfer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Measured experiment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6199632"/>
            <a:ext cx="16764000" cy="1991868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44" id="44"/>
          <p:cNvSpPr txBox="true"/>
          <p:nvPr/>
        </p:nvSpPr>
        <p:spPr>
          <a:xfrm rot="0">
            <a:off x="1143000" y="6305550"/>
            <a:ext cx="5125212" cy="5048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750"/>
              </a:lnSpc>
            </a:pPr>
            <a:r>
              <a:rPr lang="en-US" b="1" sz="2992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42.64 KiB saved per preview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6896100"/>
            <a:ext cx="6604540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 → 15.75 KiB: 73.0% smaller at the same resolution.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000" y="7239000"/>
            <a:ext cx="7779544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Source: supplied project inventory, 23 Oct 2026. 1 KiB = 1024 bytes.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7581900"/>
            <a:ext cx="7547515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and clip rows are a test plan, not completed measurements.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1600200"/>
            <a:ext cx="438912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Project file / export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49240" y="1600200"/>
            <a:ext cx="475488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Setting and dimensions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95559" y="1600200"/>
            <a:ext cx="205740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Size (KiB)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399" y="1600200"/>
            <a:ext cx="516636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Quality evidence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2240280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attendance-preview.png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49240" y="2240280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PNG, 390 × 844 px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95559" y="2240280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58.39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344399" y="2240280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Original; visual check pending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2898648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attendance-preview.jpg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49240" y="2898648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JPEG Q80, 390 × 844 px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95559" y="2898648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Not supplied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344399" y="2898648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Export + inspect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3557015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attendance-preview-low.jpg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49240" y="3557015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JPEG Q40, 390 × 844 px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95559" y="3557015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Not supplied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344399" y="3557015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Export + inspect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680" y="4215383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attendance-preview.webp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49240" y="4215383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WebP Q80, 390 × 844 px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95559" y="4215383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15.75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344399" y="4215383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In app; visual check pending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" y="4873751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10-second clip, version 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49240" y="4873751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Proposed: MP4 H.264, 720p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95559" y="4873751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Not supplied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344399" y="4873751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Record + export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" y="5532119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10-second clip, version 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49240" y="5532119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Same clip, lower video bitrate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95559" y="5532119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Not supplied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344399" y="5532119"/>
            <a:ext cx="5166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Compare text and motion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Visual quality check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143000" y="1783080"/>
            <a:ext cx="15773400" cy="438912"/>
          </a:xfrm>
          <a:prstGeom prst="rect">
            <a:avLst/>
          </a:prstGeom>
        </p:spPr>
        <p:txBody>
          <a:bodyPr anchor="t" rtlCol="false" tIns="36576" bIns="36576" wrap="none">
            <a:noAutofit/>
          </a:bodyPr>
          <a:lstStyle/>
          <a:p>
            <a:pPr algn="l">
              <a:lnSpc>
                <a:spcPts val="3656"/>
              </a:lnSpc>
            </a:pPr>
            <a:r>
              <a:rPr sz="2500" b="1">
                <a:solidFill>
                  <a:srgbClr val="2B2248"/>
                </a:solidFill>
                <a:latin typeface="Arial"/>
              </a:rPr>
              <a:t>What the quality comparison must show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50592"/>
            <a:ext cx="15773400" cy="68580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812"/>
              </a:lnSpc>
            </a:pPr>
            <a:r>
              <a:rPr sz="1800" b="0">
                <a:solidFill>
                  <a:srgbClr val="2B2248"/>
                </a:solidFill>
                <a:latin typeface="Arial"/>
              </a:rPr>
              <a:t>Use the same attendance screen in all four exports. Compare an identical crop at 100% zoom so text edges and calendar lines remain comparable.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619500"/>
            <a:ext cx="3762375" cy="1885950"/>
            <a:chOff x="0" y="0"/>
            <a:chExt cx="5016500" cy="2514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50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91125" y="3619500"/>
            <a:ext cx="3762375" cy="1885950"/>
            <a:chOff x="0" y="0"/>
            <a:chExt cx="5016500" cy="251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38162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JPEG Q80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162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3619500"/>
            <a:ext cx="3762375" cy="1885950"/>
            <a:chOff x="0" y="0"/>
            <a:chExt cx="5016500" cy="2514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2975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JPEG Q40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75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7375" y="3619500"/>
            <a:ext cx="3762375" cy="1885950"/>
            <a:chOff x="0" y="0"/>
            <a:chExt cx="5016500" cy="251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47787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WebP Q80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7787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829300"/>
            <a:ext cx="3099911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9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Evidence still needed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6353175"/>
            <a:ext cx="13541693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One side-by-side screenshot, JPEG file sizes, and two exports of the same 10-second clip. Rate each result 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6724650"/>
            <a:ext cx="515931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6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sharp, acceptable or poor after inspection.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7458075"/>
            <a:ext cx="1057827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source image and recording were not included in the supplied files. These boxes mark missing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Our format choices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43000" y="1695450"/>
            <a:ext cx="2059019" cy="13525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10125"/>
              </a:lnSpc>
            </a:pPr>
            <a:r>
              <a:rPr lang="en-US" b="1" sz="80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" y="3000375"/>
            <a:ext cx="2812447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smaller preview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4250" y="1876425"/>
            <a:ext cx="792737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For the My AITU / LMS bridge, we use WebP at quality 80 for the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4250" y="2247900"/>
            <a:ext cx="800766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preview. At the same 390 × 844 resolution, its file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4250" y="2619375"/>
            <a:ext cx="802509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falls from 58.39 KiB to 15.75 KiB, saving 42.64 KiB, or 73.0%. We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4250" y="2990850"/>
            <a:ext cx="8321897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retain PNG as the original evidence image because it preserves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0" y="3362325"/>
            <a:ext cx="8567261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and edges without lossy compression. Inline SVG suits interface icons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4250" y="3733800"/>
            <a:ext cx="804033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because vectors stay sharp at different sizes and share the HTML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4250" y="4105275"/>
            <a:ext cx="7907941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response. CSS provides the login pulse without a separate video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250" y="4476750"/>
            <a:ext cx="8076343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download. For the project demonstration, we plan MP4 with H.264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250" y="4848225"/>
            <a:ext cx="8368760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 and AAC audio for broad playback support. JPEG settings 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250" y="5219700"/>
            <a:ext cx="810710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ten-second clip still need measured comparison before we can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4250" y="5591175"/>
            <a:ext cx="317811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report their quality or size.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0625" y="4343400"/>
            <a:ext cx="3957066" cy="46910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468"/>
              </a:lnSpc>
            </a:pPr>
            <a:r>
              <a:rPr lang="en-US" b="1" sz="27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Same pixels. Less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" y="5124450"/>
            <a:ext cx="2196084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sz="25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 58.39 KiB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625" y="5553075"/>
            <a:ext cx="2364581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sz="25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15.75 KiB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625" y="6772275"/>
            <a:ext cx="2693194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4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Measured file sizes only.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" y="7105650"/>
            <a:ext cx="3771710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4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Network speed needs its own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Interface icons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7150608"/>
            <a:ext cx="16764000" cy="104089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88" id="88"/>
          <p:cNvSpPr txBox="true"/>
          <p:nvPr/>
        </p:nvSpPr>
        <p:spPr>
          <a:xfrm rot="0">
            <a:off x="1104900" y="7210425"/>
            <a:ext cx="907970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All icons: Flaticon Uicons Regular Rounded. Free licence with visible footer attribution.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4900" y="7524750"/>
            <a:ext cx="93357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Inline symbols share the HTML response; these are source sizes, not separate requests.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8680" y="1600200"/>
            <a:ext cx="576072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95044" y="1600200"/>
            <a:ext cx="333756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Asset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882896" y="1600200"/>
            <a:ext cx="502920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Where used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62388" y="1600200"/>
            <a:ext cx="365760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Vector viewBox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670280" y="1600200"/>
            <a:ext cx="379476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Markup size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" y="212598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495044" y="212598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Book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82896" y="212598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Courses / navigation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962388" y="212598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670280" y="212598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740 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8680" y="254203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4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5044" y="254203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Calendar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82896" y="254203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Tasks / attendance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62388" y="254203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670280" y="254203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1,162 B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8680" y="2958084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495044" y="2958084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Graduation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882896" y="295808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Grades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962388" y="2958084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3670280" y="2958084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857 B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3374136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6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495044" y="3374136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User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82896" y="3374136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button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962388" y="3374136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670280" y="3374136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869 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68680" y="3790188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7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495044" y="3790188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Menu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882896" y="379018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Navigation button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962388" y="3790188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3670280" y="3790188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561 B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68680" y="420624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95044" y="420624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Close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882896" y="420624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Navigation controls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962388" y="420624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3670280" y="420624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441 B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68680" y="462229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95044" y="462229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Down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882896" y="462229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menu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962388" y="462229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670280" y="462229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391 B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68680" y="5038344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10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495044" y="5038344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Sign-out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882896" y="503834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menu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962388" y="5038344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3670280" y="5038344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906 B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68680" y="5454396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495044" y="5454396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Refresh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882896" y="5454396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Reload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962388" y="5454396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3670280" y="5454396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945 B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68680" y="5870448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12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495044" y="5870448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Search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882896" y="587044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Course search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962388" y="5870448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3670280" y="5870448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669 B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628650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13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495044" y="628650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Eye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882896" y="628650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Password visibility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962388" y="628650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3670280" y="628650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935 B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68680" y="670255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14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495044" y="670255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Check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882896" y="670255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Attendance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962388" y="670255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3670280" y="670255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366 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Media asset inventory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7104888"/>
            <a:ext cx="16764000" cy="108661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109" id="109"/>
          <p:cNvSpPr txBox="true"/>
          <p:nvPr/>
        </p:nvSpPr>
        <p:spPr>
          <a:xfrm rot="0">
            <a:off x="1104900" y="7134225"/>
            <a:ext cx="828017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¹ Flaticon attribution in footer. ² github.com/Yuujiso/aitumap (MIT), author beside map.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4900" y="7429500"/>
            <a:ext cx="955376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³ github.com/rsms/inter (SIL OFL 1.1). Remote session views must stay out of the submitted demo.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900" y="7724775"/>
            <a:ext cx="85976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Unused ui-right / ui-stats and evidence PNG files are not loaded by the running interface.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8680" y="1600200"/>
            <a:ext cx="576072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85900" y="1600200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636008" y="1600200"/>
            <a:ext cx="28803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Where used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557516" y="160020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Format / dimensions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622024" y="160020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Size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3537692" y="1600200"/>
            <a:ext cx="3881628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Source / licence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68680" y="209854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15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485900" y="209854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Absent icon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636008" y="209854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557516" y="209854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1622024" y="209854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442 B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537692" y="209854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8680" y="247802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16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485900" y="247802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Clock icon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36008" y="247802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 time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557516" y="247802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622024" y="247802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777 B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537692" y="247802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68680" y="285750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17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485900" y="285750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Minus icon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636008" y="285750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Unmarked attendance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557516" y="285750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1622024" y="285750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284 B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3537692" y="285750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68680" y="3236976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18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485900" y="3236976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Left arrow icon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636008" y="3236976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Previous month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557516" y="3236976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622024" y="3236976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416 B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3537692" y="3236976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68680" y="3616452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19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485900" y="3616452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Next arrow icon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36008" y="3616452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Next month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557516" y="3616452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1622024" y="3616452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404 B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3537692" y="3616452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68680" y="399592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485900" y="399592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List icon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36008" y="399592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 status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557516" y="399592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622024" y="399592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1,010 B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3537692" y="399592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68680" y="437540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485900" y="437540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Attendance preview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36008" y="437540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Sign-in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557516" y="437540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WebP 390 × 844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622024" y="437540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15.75 KiB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3537692" y="437540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 + icons¹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68680" y="475488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485900" y="475488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LMS wordmark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636008" y="475488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Sign-in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557516" y="475488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 / text, 68 × 68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1622024" y="475488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3537692" y="475488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5134356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21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485900" y="5134356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Login pulse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636008" y="5134356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Login progress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57516" y="5134356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CSS, 2 s loop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1622024" y="5134356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3537692" y="5134356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68680" y="5513832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22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485900" y="5513832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Entrance motion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36008" y="5513832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Transitions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557516" y="5513832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CSS, 0.4 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1622024" y="5513832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3537692" y="5513832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68680" y="589330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23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485900" y="589330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Campus map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636008" y="589330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Map section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557516" y="589330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Responsive iframe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622024" y="589330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537692" y="589330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Yuujiso / MIT²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68680" y="627278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24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485900" y="627278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Inter font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636008" y="627278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Interface text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557516" y="627278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Web font / weights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1622024" y="627278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3537692" y="627278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Inter / OFL³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68680" y="665226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25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485900" y="665226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Remote view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4636008" y="665226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Optional support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557516" y="665226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JPEG Q70, 1100 × 800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1622024" y="665226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3537692" y="665226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Private session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B2. Integration and optimisation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2807017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b="1" sz="253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What is integrated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343150"/>
            <a:ext cx="6550819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preview: 390 × 844 px, displayed at 250 px wide.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95575"/>
            <a:ext cx="5114925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 inline SVG icons and a CSS login pulse.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3048000"/>
            <a:ext cx="5663184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Reduced-motion preference disables animation.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00" y="3400425"/>
            <a:ext cx="5766911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full page still needs a 360 px browser check.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4900" y="5781675"/>
            <a:ext cx="5600986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94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DevTools measurements: still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4900" y="6276975"/>
            <a:ext cx="13380530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Disable cache, select Fast 4G, reload the same screen before and after. Capture transferred bytes, request count 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4900" y="6619875"/>
            <a:ext cx="7533704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Finish/Load time. Image-request delta should be 0; verify the total.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4900" y="7334250"/>
            <a:ext cx="1330537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payload calculation excludes headers, compression, API, fonts and map traffic. Stage 1 requires &lt;3 s per request at 1,000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4900" y="7648575"/>
            <a:ext cx="316315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users; this remains unverified.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023360"/>
            <a:ext cx="653796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Controlled local payload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79792" y="4023360"/>
            <a:ext cx="324612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Before: PNG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99063" y="4023360"/>
            <a:ext cx="324612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After: WebP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18335" y="4023360"/>
            <a:ext cx="3300984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572000"/>
            <a:ext cx="6537960" cy="438912"/>
          </a:xfrm>
          <a:prstGeom prst="roundRect">
            <a:avLst>
              <a:gd name="adj" fmla="val 14583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Preview image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9792" y="4572000"/>
            <a:ext cx="3246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59,787 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99063" y="4572000"/>
            <a:ext cx="3246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16,126 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18335" y="4572000"/>
            <a:ext cx="330098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−73.0%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084064"/>
            <a:ext cx="6537960" cy="438912"/>
          </a:xfrm>
          <a:prstGeom prst="roundRect">
            <a:avLst>
              <a:gd name="adj" fmla="val 14583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2043"/>
                </a:solidFill>
                <a:latin typeface="Arial"/>
              </a:rPr>
              <a:t>4 front-end files + preview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9792" y="5084064"/>
            <a:ext cx="3246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141,601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99063" y="5084064"/>
            <a:ext cx="3246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97,941 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118335" y="5084064"/>
            <a:ext cx="330098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−30.8%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B3. Accessibility of media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6677216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b="1" sz="254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Meaningful images have descriptive alt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286000"/>
            <a:ext cx="12975907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test attendance preview describes the month and status counts. Decorative SVGs use aria-hidden="true";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38425"/>
            <a:ext cx="4654772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controls retain text or accessible labels.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104900" y="3248025"/>
            <a:ext cx="16040100" cy="1495425"/>
          </a:xfrm>
          <a:prstGeom prst="rect">
            <a:avLst/>
          </a:prstGeom>
          <a:solidFill>
            <a:srgbClr val="DDD0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276350" y="3333750"/>
            <a:ext cx="672912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&lt;img src="/attendance-preview.webp" width="390" height="844"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" y="3648075"/>
            <a:ext cx="7604855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alt="Тестовый экран посещаемости: календарь за октябрь 2026 года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50" y="3962400"/>
            <a:ext cx="585844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и счётчики — 0 присутствий, 1 пропуск, 0 опозданий,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350" y="4276725"/>
            <a:ext cx="2608231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 запись без отметки."&gt;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5010150"/>
            <a:ext cx="5135499" cy="39766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906"/>
              </a:lnSpc>
            </a:pPr>
            <a:r>
              <a:rPr lang="en-US" b="1" sz="231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 follows the user’s preference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4900" y="5476875"/>
            <a:ext cx="459628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@media (prefers-reduced-motion: reduce) {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5791200"/>
            <a:ext cx="5056442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*, *::before, *::after { animation: none !important;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6105525"/>
            <a:ext cx="6512243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transition: none !important; scroll-behavior: auto !important; } 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6924675"/>
            <a:ext cx="9239440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 speech media or sound playback: captions and sound equivalents are currently N/A.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7239000"/>
            <a:ext cx="853649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Progress is visible as text and a pulse. No live text sits over raster images, so the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7553325"/>
            <a:ext cx="69354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4.5:1 text-over-image test is N/A. Source: supplied part_b.md, B3.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689" y="2480119"/>
            <a:ext cx="16320516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C — Multimedia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906685" y="348424"/>
            <a:ext cx="8377523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C1. Storyboard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600200"/>
            <a:ext cx="201168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Duration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62656" y="1600200"/>
            <a:ext cx="438912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What is on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88936" y="1600200"/>
            <a:ext cx="429768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Narration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468880"/>
            <a:ext cx="2011680" cy="1463040"/>
          </a:xfrm>
          <a:prstGeom prst="roundRect">
            <a:avLst>
              <a:gd name="adj" fmla="val 9374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0:00-0:30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2468880"/>
            <a:ext cx="438912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Login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88936" y="2468880"/>
            <a:ext cx="429768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Nurassyl: How login proccess looks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4069080"/>
            <a:ext cx="2011680" cy="1463040"/>
          </a:xfrm>
          <a:prstGeom prst="roundRect">
            <a:avLst>
              <a:gd name="adj" fmla="val 9374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0:30-1:10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4069080"/>
            <a:ext cx="438912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Main pages, burger-menu, references from stage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4069080"/>
            <a:ext cx="429768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Salima: Website content and design desecions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" y="5669280"/>
            <a:ext cx="2011680" cy="1463040"/>
          </a:xfrm>
          <a:prstGeom prst="roundRect">
            <a:avLst>
              <a:gd name="adj" fmla="val 9374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1:10-1:40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5669280"/>
            <a:ext cx="438912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Statistics, survey from stage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5669280"/>
            <a:ext cx="429768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Azhar: the purpose of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" y="7269480"/>
            <a:ext cx="2011680" cy="1463040"/>
          </a:xfrm>
          <a:prstGeom prst="roundRect">
            <a:avLst>
              <a:gd name="adj" fmla="val 9374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1:40-2:10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62656" y="7269480"/>
            <a:ext cx="438912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Demo sketches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7269480"/>
            <a:ext cx="429768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Azhar: Future of the project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6570" y="2145316"/>
            <a:ext cx="78494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C2. The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866" y="3883628"/>
            <a:ext cx="8550878" cy="1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https://drive.google.com/drive/folders/1izH4jyb1Ooi-pvghCGhOfCXmk6A6rqKn?usp=sharing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838" y="1367314"/>
            <a:ext cx="6952107" cy="16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C3. Production note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59" y="3369659"/>
            <a:ext cx="6147054" cy="20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80–120 words, state the tools you used to record and edit, and your export settings — container, codec, resolution, frame rate, bitrate and final file size — and explain why you chose them rather than a higher or lower setting.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008" y="2480119"/>
            <a:ext cx="15103793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D — Integration with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66478" y="1860613"/>
            <a:ext cx="12526994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https://github.com/d30mantcoder/ICTProject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4407" y="2476024"/>
            <a:ext cx="12339066" cy="198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Git clone it Create virtual environment Install dependencies (requirements.txt) Run bridge-test/app.py via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7999" y="327565"/>
            <a:ext cx="12398026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D1. Updated prototype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61677" y="692468"/>
            <a:ext cx="9105043" cy="10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D2. Change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502920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57400"/>
            <a:ext cx="548640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Reason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58600" y="2057400"/>
            <a:ext cx="5760720" cy="731520"/>
          </a:xfrm>
          <a:prstGeom prst="roundRect">
            <a:avLst>
              <a:gd name="adj" fmla="val 18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2608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Added fetching from 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926080"/>
            <a:ext cx="54864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To make the website usable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58600" y="2926080"/>
            <a:ext cx="57607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Using real LMS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4340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Redesign of UX of LMS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343400"/>
            <a:ext cx="54864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UX of original LMS was uncomfortable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58600" y="4343400"/>
            <a:ext cx="576072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Most useful buttons takes place on the main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612648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2043"/>
                </a:solidFill>
                <a:latin typeface="Arial"/>
              </a:rPr>
              <a:t>Added asynchronius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6126480"/>
            <a:ext cx="54864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It was impossible to work for more than 1 person at the same time before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8600" y="6126480"/>
            <a:ext cx="576072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73736" rIns="173736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Server handles multi-user sessions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7" id="47"/>
          <p:cNvSpPr txBox="true"/>
          <p:nvPr/>
        </p:nvSpPr>
        <p:spPr>
          <a:xfrm rot="0">
            <a:off x="960120" y="1261872"/>
            <a:ext cx="8046720" cy="105156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4860"/>
              </a:lnSpc>
            </a:pPr>
            <a:r>
              <a:rPr sz="3900" b="1">
                <a:solidFill>
                  <a:srgbClr val="FFFFFF"/>
                </a:solidFill>
                <a:latin typeface="Arial"/>
              </a:rPr>
              <a:t>D3. Team contributions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3444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C,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Salima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44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Editing the video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FFE1EE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A, 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Azhar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Comparing formats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11580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48156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D8F5E8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B,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8156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Nurassyl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48156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48156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8156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Multimedia integration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7952" y="2305241"/>
            <a:ext cx="11431810" cy="52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1" sz="1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