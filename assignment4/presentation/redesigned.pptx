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KiB</c:v>
                </c:pt>
              </c:strCache>
            </c:strRef>
          </c:tx>
          <c:spPr>
            <a:solidFill>
              <a:srgbClr val="B9A8EB"/>
            </a:solidFill>
            <a:effectLst/>
          </c:spPr>
          <c:invertIfNegative val="0"/>
          <c:dLbls>
            <c:numFmt formatCode="0.00" sourceLinked="0"/>
            <c:txPr>
              <a:bodyPr/>
              <a:lstStyle/>
              <a:p>
                <a:pPr>
                  <a:defRPr b="0" i="0" strike="noStrike" sz="1400" u="none">
                    <a:solidFill>
                      <a:srgbClr val="241C3F"/>
                    </a:solidFill>
                    <a:latin typeface="Arial"/>
                  </a:defRPr>
                </a:pPr>
              </a:p>
            </c:txPr>
            <c:showLegendKey val="0"/>
            <c:showVal val="1"/>
            <c:showCatName val="0"/>
            <c:showSerName val="0"/>
            <c:showPercent val="0"/>
            <c:showBubbleSize val="0"/>
            <c:showLeaderLines val="0"/>
          </c:dLbls>
          <c:dPt>
            <c:idx val="0"/>
            <c:invertIfNegative val="0"/>
            <c:bubble3D val="0"/>
            <c:spPr>
              <a:solidFill>
                <a:srgbClr val="B9A8EB"/>
              </a:solidFill>
              <a:effectLst/>
            </c:spPr>
          </c:dPt>
          <c:dPt>
            <c:idx val="1"/>
            <c:invertIfNegative val="0"/>
            <c:bubble3D val="0"/>
            <c:spPr>
              <a:solidFill>
                <a:srgbClr val="6540DB"/>
              </a:solidFill>
              <a:effectLst/>
            </c:spPr>
          </c:dPt>
          <c:cat>
            <c:multiLvlStrRef>
              <c:f>Sheet1!$A$2:$A$3</c:f>
              <c:multiLvlStrCache>
                <c:ptCount val="2"/>
                <c:lvl>
                  <c:pt idx="0">
                    <c:v>PNG</c:v>
                  </c:pt>
                  <c:pt idx="1">
                    <c:v>WebP Q80</c:v>
                  </c:pt>
                </c:lvl>
              </c:multiLvlStrCache>
            </c:multiLvlStrRef>
          </c:cat>
          <c:val>
            <c:numRef>
              <c:f>Sheet1!$B$2:$B$3</c:f>
              <c:numCache>
                <c:formatCode>General</c:formatCode>
                <c:ptCount val="2"/>
                <c:pt idx="0">
                  <c:v>58.39</c:v>
                </c:pt>
                <c:pt idx="1">
                  <c:v>15.75</c:v>
                </c:pt>
              </c:numCache>
            </c:numRef>
          </c:val>
        </c:ser>
        <c:dLbls>
          <c:numFmt formatCode="0.00" sourceLinked="0"/>
          <c:txPr>
            <a:bodyPr/>
            <a:lstStyle/>
            <a:p>
              <a:pPr>
                <a:defRPr b="0" i="0" strike="noStrike" sz="1400" u="none">
                  <a:solidFill>
                    <a:srgbClr val="241C3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5"/>
          <c:min val="0"/>
        </c:scaling>
        <c:delete val="0"/>
        <c:axPos val="b"/>
        <c:majorGridlines>
          <c:spPr>
            <a:ln w="6350" cap="flat">
              <a:solidFill>
                <a:srgbClr val="E8E2F2"/>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1
Multimedia Technologies
Assignment 4
Team: Salima Zimbekkyzy, Azhar Saparzholova, Nurassyl Oralbekov Group: SE-2623 Course: ICT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2
Part A — Multimedia formats
 |  | 
 |  | 
 |  | 
 |  |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3
A1. Format comparison
Format
Type
Compression
Alpha / motion
Typical size
Support
Project use
PNG
Image
Lossless
Alpha; APNG
Large photos
Broad
UI evidence
JPEG
Image
Lossy
Neither
Small photos
Broad
Photos
WebP
Image
Both modes
Alpha + motion
Compact
Modern
App preview
SVG
Image
Vector / text
Alpha + motion
Tiny icons
Broad
UI icons
MP3
Audio
Lossy
N/A
Small
Broad
Speech / music
AAC (M4A)
Audio
Lossy
N/A
Small
Broad*
Narration
WAV (PCM)
Audio
Uncompressed
N/A
Large
Broad*
Editing master
MP4 H.264
Video
Usually lossy
Motion; no alpha
Bitrate-based
Broad*
Demo delivery
WebM VP9
Video
Usually lossy
Motion; alpha*
Bitrate-based
Modern*
Web playback
MOV H.264
Video
Usually lossy
Motion; no alpha
Bitrate-based
Limited web
Editing / transfer
A container (MP4) packages tracks and metadata; a codec (H.264) encodes and decodes the media.
*Codec, OS and device support vary. File size depends on content, resolution, bitrate and duration.
Sources: MDN, Image file type guide and Media container formats.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4
A2. Measured experiment
Project file / export
Setting and dimensions
Size (KiB)
Quality evidence
attendance-preview.png
PNG, 390 × 844 px
58.39
Original; visual check pending
attendance-preview.jpg
JPEG Q80, 390 × 844 px
Not supplied
Export + inspect
attendance-preview-low.jpg
JPEG Q40, 390 × 844 px
Not supplied
Export + inspect
attendance-preview.webp
WebP Q80, 390 × 844 px
15.75
In app; visual check pending
10-second clip, version 1
Proposed: MP4 H.264, 720p
Not supplied
Record + export
10-second clip, version 2
Same clip, lower video bitrate
Not supplied
Compare text and motion
42.64 KiB saved per preview
58.39 → 15.75 KiB: 73.0% smaller at the same resolution.
Source: supplied project inventory, 23 Oct 2026. 1 KiB = 1024 bytes.
JPEG and clip rows are a test plan, not completed measurements.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5
A2. Visual quality check
What the quality comparison must show
Use the same attendance screen in all four exports. Compare an identical crop at 100% zoom so text edges
and calendar lines remain comparable.
PNG
Actual project crop
required here
JPEG Q80
Actual project crop
required here
JPEG Q40
Actual project crop
required here
WebP Q80
Actual project crop
required here
Evidence still needed
One side-by-side screenshot, JPEG file sizes, and two exports of the same 10-second clip. Rate each result as
sharp, acceptable or poor after inspection.
The source image and recording were not included in the supplied files. These boxes mark missing evidence.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6
A2. Our format choices
73%
smaller preview file
For the My AITU / LMS bridge, we use WebP at quality 80 for the
attendance preview. At the same 390 × 844 resolution, its file size
falls from 58.39 KiB to 15.75 KiB, saving 42.64 KiB, or 73.0%. We
retain PNG as the original evidence image because it preserves text
and edges without lossy compression. Inline SVG suits interface icons
because vectors stay sharp at different sizes and share the HTML
response. CSS provides the login pulse without a separate video
download. For the project demonstration, we plan MP4 with H.264
video and AAC audio for broad playback support. JPEG settings and
the ten-second clip still need measured comparison before we can
report their quality or size.
Same pixels. Less data.
PNG 58.39 KiB
WebP 15.75 KiB
Measured file sizes only.
Network speed needs its own test.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7
B1. Interface icons
#
Asset
Where used
Vector viewBox
Markup size
3
Book
Courses / navigation
SVG 300 × 300
740 B
4
Calendar
Tasks / attendance
SVG 300 × 300
1,162 B
5
Graduation
Grades
SVG 300 × 300
857 B
6
User
Account button
SVG 300 × 300
869 B
7
Menu
Navigation button
SVG 300 × 300
561 B
8
Close
Navigation controls
SVG 300 × 300
441 B
9
Down
Account menu
SVG 300 × 300
391 B
10
Sign-out
Account menu
SVG 300 × 300
906 B
11
Refresh
Reload
SVG 300 × 300
945 B
12
Search
Course search
SVG 300 × 300
669 B
13
Eye
Password visibility
SVG 300 × 300
935 B
14
Check
Attendance
SVG 300 × 300
366 B
All icons: Flaticon Uicons Regular Rounded. Free licence with visible footer attribution.
Inline symbols share the HTML response; these are source sizes, not separate requests.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8
B1. Media asset inventory
#
Asset
Where used
Format / dimensions
Size
Source / licence
15
Absent icon
Attendance
SVG 300 × 300
442 B
Flaticon¹
16
Clock icon
Attendance time
SVG 300 × 300
777 B
Flaticon¹
17
Minus icon
Unmarked attendance
SVG 300 × 300
284 B
Flaticon¹
18
Left arrow icon
Previous month
SVG 300 × 300
416 B
Flaticon¹
19
Next arrow icon
Next month
SVG 300 × 300
404 B
Flaticon¹
20
List icon
Attendance status
SVG 300 × 300
1,010 B
Flaticon¹
1
Attendance preview
Sign-in
WebP 390 × 844
15.75 KiB
Own + icons¹
2
LMS wordmark
Sign-in
CSS / text, 68 × 68
Embedded
Own
21
Login pulse
Login progress
CSS, 2 s loop
Embedded
Own
22
Entrance motion
Transitions
CSS, 0.4 s
Embedded
Own
23
Campus map
Map section
Responsive iframe
Variable
Yuujiso / MIT²
24
Inter font
Interface text
Web font / weights
Variable
Inter / OFL³
25
Remote view
Optional support
JPEG Q70, 1100 × 800
Variable
Private session
¹ Flaticon attribution in footer. ² github.com/Yuujiso/aitumap (MIT), author beside map.
³ github.com/rsms/inter (SIL OFL 1.1). Remote session views must stay out of the submitted demo.
Unused ui-right / ui-stats and evidence PNG files are not loaded by the running interface.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9
B2. Integration and optimisation
What is integrated
WebP preview: 390 × 844 px, displayed at 250 px wide.
18 inline SVG icons and a CSS login pulse.
Reduced-motion preference disables animation.
The full page still needs a 360 px browser check.
Controlled local payload
Before: PNG
After: WebP
Change
Preview image
59,787 B
16,126 B
−73.0%
4 front-end files + preview
141,601 B
97,941 B
−30.8%
DevTools measurements: still required
Disable cache, select Fast 4G, reload the same screen before and after. Capture transferred bytes, request count and
Finish/Load time. Image-request delta should be 0; verify the total.
The payload calculation excludes headers, compression, API, fonts and map traffic. Stage 1 requires &lt;3 s per request at 1,000
users; this remains unverified.
Design revision: explicit text areas, stable fonts and editable tables. JPEG measurements added from supplied screenshot.The 30.8% is a controlled local file-payload calculation, not a browser Network measurement. Headers, compression, API calls, Google Fonts and iframe traffic are excluded. The 360 px viewport check and &lt;3 s at 1,000 users remain unverified. See assignment4/part_b.md.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10
B3. Accessibility of media
Meaningful images have descriptive alt text
The test attendance preview describes the month and status counts. Decorative SVGs use aria-hidden="true";
controls retain text or accessible labels.
&lt;img src="/attendance-preview.webp" width="390" height="844"
alt="Тестовый экран посещаемости: календарь за октябрь 2026 года
и счётчики — 0 присутствий, 1 пропуск, 0 опозданий,
1 запись без отметки."&gt;
Motion follows the user’s preference
@media (prefers-reduced-motion: reduce) {
*, *::before, *::after { animation: none !important;
transition: none !important; scroll-behavior: auto !important; } }
No speech media or sound playback: captions and sound equivalents are currently N/A.
Progress is visible as text and a pulse. No live text sits over raster images, so the
4.5:1 text-over-image test is N/A. Source: supplied part_b.md, B3.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11
Part C — Multimedia presentation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12
C1. Storyboard
Duration
What is on screen
Narration
0:00-0:30
Login screen
Nurassyl: How login proccess looks
0:30-1:10
Main pages, burger-menu, references from stage 1
Salima: Website content and design desecions
1:10-1:40
Statistics, survey from stage 1
Azhar: the purpose of project
1:40-2:10
Demo sketches
Azhar: Future of the project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13
C2. The video
https://drive.google.com/drive/folders/1izH4jyb1Ooi-pvghCGhOfCXmk6A6rqKn?usp=sharing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14
C3. Production note
In 80–120 words, state the tools you used to record and edit, and your export settings — container, codec, resolution, frame rate, bitrate and final file size — and explain why you chose them rather than a higher or lower setting.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15
Part D — Integration with the project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16
https://github.com/d30mantcoder/ICTProject
Git clone it Create virtual environment Install dependencies (requirements.txt) Run bridge-test/app.py via python
D1. Updated prototype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17
D2. Change log
Change
Reason
Status
Added fetching from LMS
To make the website usable
Using real LMS data
Redesign of UX of LMS
UX of original LMS was uncomfortable
Most useful buttons takes place on the main page
Added asynchronius sessions
It was impossible to work for more than 1 person at the same time before
Server handles multi-user sessions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18
Members
Parts
Contribution
Salima
C,D
Editing the video
Azhar
A,D
Nurasyl
B,D
contribution table
D3.
Comparing the multimedia formats
Integration and optimization of multimedia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CONTENT FROM ORIGINAL SLIDE 19
Thank You
Design revision: explicit text areas, stable fonts and editable tables. JPEG measurements added from supplied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drive.google.com/drive/folders/1izH4jyb1Ooi-pvghCGhOfCXmk6A6rqKn?usp=sharing" TargetMode="External"/><Relationship Id="rId2" Type="http://schemas.openxmlformats.org/officeDocument/2006/relationships/hyperlink" Target="https://drive.google.com/drive/folders/1izH4jyb1Ooi-pvghCGhOfCXmk6A6rqKn?usp=sharing" TargetMode="External"/><Relationship Id="rId3" Type="http://schemas.openxmlformats.org/officeDocument/2006/relationships/image" Target="../media/image-13-1.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d30mantcoder/ICTProject" TargetMode="External"/><Relationship Id="rId1" Type="http://schemas.openxmlformats.org/officeDocument/2006/relationships/image" Target="../media/image-16-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540DB"/>
        </a:solidFill>
      </p:bgPr>
    </p:bg>
    <p:spTree>
      <p:nvGrpSpPr>
        <p:cNvPr id="1" name=""/>
        <p:cNvGrpSpPr/>
        <p:nvPr/>
      </p:nvGrpSpPr>
      <p:grpSpPr>
        <a:xfrm>
          <a:off x="0" y="0"/>
          <a:ext cx="0" cy="0"/>
          <a:chOff x="0" y="0"/>
          <a:chExt cx="0" cy="0"/>
        </a:xfrm>
      </p:grpSpPr>
      <p:sp>
        <p:nvSpPr>
          <p:cNvPr id="2" name="Text 0"/>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C7B9EC"/>
                </a:solidFill>
                <a:latin typeface="Arial" pitchFamily="34" charset="0"/>
                <a:ea typeface="Arial" pitchFamily="34" charset="-122"/>
                <a:cs typeface="Arial" pitchFamily="34" charset="-120"/>
              </a:rPr>
              <a:t>MY AITU  /  ICT ASSIGNMENT 4</a:t>
            </a:r>
            <a:endParaRPr lang="en-US" sz="930" dirty="0"/>
          </a:p>
        </p:txBody>
      </p:sp>
      <p:sp>
        <p:nvSpPr>
          <p:cNvPr id="3" name="Text 1"/>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C7B9EC"/>
                </a:solidFill>
                <a:latin typeface="Arial" pitchFamily="34" charset="0"/>
                <a:ea typeface="Arial" pitchFamily="34" charset="-122"/>
                <a:cs typeface="Arial" pitchFamily="34" charset="-120"/>
              </a:rPr>
              <a:t>01 / 19</a:t>
            </a:r>
            <a:endParaRPr lang="en-US" sz="930" dirty="0"/>
          </a:p>
        </p:txBody>
      </p:sp>
      <p:sp>
        <p:nvSpPr>
          <p:cNvPr id="5" name="Shape 2"/>
          <p:cNvSpPr/>
          <p:nvPr/>
        </p:nvSpPr>
        <p:spPr>
          <a:xfrm>
            <a:off x="7498080" y="274320"/>
            <a:ext cx="4114800" cy="4114800"/>
          </a:xfrm>
          <a:prstGeom prst="ellipse">
            <a:avLst/>
          </a:prstGeom>
          <a:solidFill>
            <a:srgbClr val="7653E2"/>
          </a:solidFill>
          <a:ln w="12700">
            <a:solidFill>
              <a:srgbClr val="7653E2"/>
            </a:solidFill>
            <a:prstDash val="solid"/>
          </a:ln>
        </p:spPr>
      </p:sp>
      <p:sp>
        <p:nvSpPr>
          <p:cNvPr id="6" name="Shape 3"/>
          <p:cNvSpPr/>
          <p:nvPr/>
        </p:nvSpPr>
        <p:spPr>
          <a:xfrm>
            <a:off x="8778240" y="4343400"/>
            <a:ext cx="1828800" cy="1828800"/>
          </a:xfrm>
          <a:prstGeom prst="ellipse">
            <a:avLst/>
          </a:prstGeom>
          <a:solidFill>
            <a:srgbClr val="825FE8"/>
          </a:solidFill>
          <a:ln w="12700">
            <a:solidFill>
              <a:srgbClr val="825FE8"/>
            </a:solidFill>
            <a:prstDash val="solid"/>
          </a:ln>
        </p:spPr>
      </p:sp>
      <p:sp>
        <p:nvSpPr>
          <p:cNvPr id="7" name="Shape 4"/>
          <p:cNvSpPr/>
          <p:nvPr/>
        </p:nvSpPr>
        <p:spPr>
          <a:xfrm>
            <a:off x="7223760" y="5440680"/>
            <a:ext cx="59436" cy="59436"/>
          </a:xfrm>
          <a:prstGeom prst="rect">
            <a:avLst/>
          </a:prstGeom>
          <a:solidFill>
            <a:srgbClr val="B8A3F4"/>
          </a:solidFill>
          <a:ln w="12700">
            <a:solidFill>
              <a:srgbClr val="B8A3F4"/>
            </a:solidFill>
            <a:prstDash val="solid"/>
          </a:ln>
        </p:spPr>
      </p:sp>
      <p:sp>
        <p:nvSpPr>
          <p:cNvPr id="8" name="Shape 5"/>
          <p:cNvSpPr/>
          <p:nvPr/>
        </p:nvSpPr>
        <p:spPr>
          <a:xfrm>
            <a:off x="7223760" y="5605272"/>
            <a:ext cx="59436" cy="59436"/>
          </a:xfrm>
          <a:prstGeom prst="rect">
            <a:avLst/>
          </a:prstGeom>
          <a:solidFill>
            <a:srgbClr val="B8A3F4"/>
          </a:solidFill>
          <a:ln w="12700">
            <a:solidFill>
              <a:srgbClr val="B8A3F4"/>
            </a:solidFill>
            <a:prstDash val="solid"/>
          </a:ln>
        </p:spPr>
      </p:sp>
      <p:sp>
        <p:nvSpPr>
          <p:cNvPr id="9" name="Shape 6"/>
          <p:cNvSpPr/>
          <p:nvPr/>
        </p:nvSpPr>
        <p:spPr>
          <a:xfrm>
            <a:off x="7223760" y="5769864"/>
            <a:ext cx="59436" cy="59436"/>
          </a:xfrm>
          <a:prstGeom prst="rect">
            <a:avLst/>
          </a:prstGeom>
          <a:solidFill>
            <a:srgbClr val="B8A3F4"/>
          </a:solidFill>
          <a:ln w="12700">
            <a:solidFill>
              <a:srgbClr val="B8A3F4"/>
            </a:solidFill>
            <a:prstDash val="solid"/>
          </a:ln>
        </p:spPr>
      </p:sp>
      <p:sp>
        <p:nvSpPr>
          <p:cNvPr id="10" name="Shape 7"/>
          <p:cNvSpPr/>
          <p:nvPr/>
        </p:nvSpPr>
        <p:spPr>
          <a:xfrm>
            <a:off x="7223760" y="5934456"/>
            <a:ext cx="59436" cy="59436"/>
          </a:xfrm>
          <a:prstGeom prst="rect">
            <a:avLst/>
          </a:prstGeom>
          <a:solidFill>
            <a:srgbClr val="B8A3F4"/>
          </a:solidFill>
          <a:ln w="12700">
            <a:solidFill>
              <a:srgbClr val="B8A3F4"/>
            </a:solidFill>
            <a:prstDash val="solid"/>
          </a:ln>
        </p:spPr>
      </p:sp>
      <p:sp>
        <p:nvSpPr>
          <p:cNvPr id="11" name="Shape 8"/>
          <p:cNvSpPr/>
          <p:nvPr/>
        </p:nvSpPr>
        <p:spPr>
          <a:xfrm>
            <a:off x="7388352" y="5440680"/>
            <a:ext cx="59436" cy="59436"/>
          </a:xfrm>
          <a:prstGeom prst="rect">
            <a:avLst/>
          </a:prstGeom>
          <a:solidFill>
            <a:srgbClr val="B8A3F4"/>
          </a:solidFill>
          <a:ln w="12700">
            <a:solidFill>
              <a:srgbClr val="B8A3F4"/>
            </a:solidFill>
            <a:prstDash val="solid"/>
          </a:ln>
        </p:spPr>
      </p:sp>
      <p:sp>
        <p:nvSpPr>
          <p:cNvPr id="12" name="Shape 9"/>
          <p:cNvSpPr/>
          <p:nvPr/>
        </p:nvSpPr>
        <p:spPr>
          <a:xfrm>
            <a:off x="7388352" y="5605272"/>
            <a:ext cx="59436" cy="59436"/>
          </a:xfrm>
          <a:prstGeom prst="rect">
            <a:avLst/>
          </a:prstGeom>
          <a:solidFill>
            <a:srgbClr val="B8A3F4"/>
          </a:solidFill>
          <a:ln w="12700">
            <a:solidFill>
              <a:srgbClr val="B8A3F4"/>
            </a:solidFill>
            <a:prstDash val="solid"/>
          </a:ln>
        </p:spPr>
      </p:sp>
      <p:sp>
        <p:nvSpPr>
          <p:cNvPr id="13" name="Shape 10"/>
          <p:cNvSpPr/>
          <p:nvPr/>
        </p:nvSpPr>
        <p:spPr>
          <a:xfrm>
            <a:off x="7388352" y="5769864"/>
            <a:ext cx="59436" cy="59436"/>
          </a:xfrm>
          <a:prstGeom prst="rect">
            <a:avLst/>
          </a:prstGeom>
          <a:solidFill>
            <a:srgbClr val="B8A3F4"/>
          </a:solidFill>
          <a:ln w="12700">
            <a:solidFill>
              <a:srgbClr val="B8A3F4"/>
            </a:solidFill>
            <a:prstDash val="solid"/>
          </a:ln>
        </p:spPr>
      </p:sp>
      <p:sp>
        <p:nvSpPr>
          <p:cNvPr id="14" name="Shape 11"/>
          <p:cNvSpPr/>
          <p:nvPr/>
        </p:nvSpPr>
        <p:spPr>
          <a:xfrm>
            <a:off x="7388352" y="5934456"/>
            <a:ext cx="59436" cy="59436"/>
          </a:xfrm>
          <a:prstGeom prst="rect">
            <a:avLst/>
          </a:prstGeom>
          <a:solidFill>
            <a:srgbClr val="B8A3F4"/>
          </a:solidFill>
          <a:ln w="12700">
            <a:solidFill>
              <a:srgbClr val="B8A3F4"/>
            </a:solidFill>
            <a:prstDash val="solid"/>
          </a:ln>
        </p:spPr>
      </p:sp>
      <p:sp>
        <p:nvSpPr>
          <p:cNvPr id="15" name="Shape 12"/>
          <p:cNvSpPr/>
          <p:nvPr/>
        </p:nvSpPr>
        <p:spPr>
          <a:xfrm>
            <a:off x="7552944" y="5440680"/>
            <a:ext cx="59436" cy="59436"/>
          </a:xfrm>
          <a:prstGeom prst="rect">
            <a:avLst/>
          </a:prstGeom>
          <a:solidFill>
            <a:srgbClr val="B8A3F4"/>
          </a:solidFill>
          <a:ln w="12700">
            <a:solidFill>
              <a:srgbClr val="B8A3F4"/>
            </a:solidFill>
            <a:prstDash val="solid"/>
          </a:ln>
        </p:spPr>
      </p:sp>
      <p:sp>
        <p:nvSpPr>
          <p:cNvPr id="16" name="Shape 13"/>
          <p:cNvSpPr/>
          <p:nvPr/>
        </p:nvSpPr>
        <p:spPr>
          <a:xfrm>
            <a:off x="7552944" y="5605272"/>
            <a:ext cx="59436" cy="59436"/>
          </a:xfrm>
          <a:prstGeom prst="rect">
            <a:avLst/>
          </a:prstGeom>
          <a:solidFill>
            <a:srgbClr val="B8A3F4"/>
          </a:solidFill>
          <a:ln w="12700">
            <a:solidFill>
              <a:srgbClr val="B8A3F4"/>
            </a:solidFill>
            <a:prstDash val="solid"/>
          </a:ln>
        </p:spPr>
      </p:sp>
      <p:sp>
        <p:nvSpPr>
          <p:cNvPr id="17" name="Shape 14"/>
          <p:cNvSpPr/>
          <p:nvPr/>
        </p:nvSpPr>
        <p:spPr>
          <a:xfrm>
            <a:off x="7552944" y="5769864"/>
            <a:ext cx="59436" cy="59436"/>
          </a:xfrm>
          <a:prstGeom prst="rect">
            <a:avLst/>
          </a:prstGeom>
          <a:solidFill>
            <a:srgbClr val="B8A3F4"/>
          </a:solidFill>
          <a:ln w="12700">
            <a:solidFill>
              <a:srgbClr val="B8A3F4"/>
            </a:solidFill>
            <a:prstDash val="solid"/>
          </a:ln>
        </p:spPr>
      </p:sp>
      <p:sp>
        <p:nvSpPr>
          <p:cNvPr id="18" name="Shape 15"/>
          <p:cNvSpPr/>
          <p:nvPr/>
        </p:nvSpPr>
        <p:spPr>
          <a:xfrm>
            <a:off x="7552944" y="5934456"/>
            <a:ext cx="59436" cy="59436"/>
          </a:xfrm>
          <a:prstGeom prst="rect">
            <a:avLst/>
          </a:prstGeom>
          <a:solidFill>
            <a:srgbClr val="B8A3F4"/>
          </a:solidFill>
          <a:ln w="12700">
            <a:solidFill>
              <a:srgbClr val="B8A3F4"/>
            </a:solidFill>
            <a:prstDash val="solid"/>
          </a:ln>
        </p:spPr>
      </p:sp>
      <p:sp>
        <p:nvSpPr>
          <p:cNvPr id="19" name="Shape 16"/>
          <p:cNvSpPr/>
          <p:nvPr/>
        </p:nvSpPr>
        <p:spPr>
          <a:xfrm>
            <a:off x="7717536" y="5440680"/>
            <a:ext cx="59436" cy="59436"/>
          </a:xfrm>
          <a:prstGeom prst="rect">
            <a:avLst/>
          </a:prstGeom>
          <a:solidFill>
            <a:srgbClr val="B8A3F4"/>
          </a:solidFill>
          <a:ln w="12700">
            <a:solidFill>
              <a:srgbClr val="B8A3F4"/>
            </a:solidFill>
            <a:prstDash val="solid"/>
          </a:ln>
        </p:spPr>
      </p:sp>
      <p:sp>
        <p:nvSpPr>
          <p:cNvPr id="20" name="Shape 17"/>
          <p:cNvSpPr/>
          <p:nvPr/>
        </p:nvSpPr>
        <p:spPr>
          <a:xfrm>
            <a:off x="7717536" y="5605272"/>
            <a:ext cx="59436" cy="59436"/>
          </a:xfrm>
          <a:prstGeom prst="rect">
            <a:avLst/>
          </a:prstGeom>
          <a:solidFill>
            <a:srgbClr val="B8A3F4"/>
          </a:solidFill>
          <a:ln w="12700">
            <a:solidFill>
              <a:srgbClr val="B8A3F4"/>
            </a:solidFill>
            <a:prstDash val="solid"/>
          </a:ln>
        </p:spPr>
      </p:sp>
      <p:sp>
        <p:nvSpPr>
          <p:cNvPr id="21" name="Shape 18"/>
          <p:cNvSpPr/>
          <p:nvPr/>
        </p:nvSpPr>
        <p:spPr>
          <a:xfrm>
            <a:off x="7717536" y="5769864"/>
            <a:ext cx="59436" cy="59436"/>
          </a:xfrm>
          <a:prstGeom prst="rect">
            <a:avLst/>
          </a:prstGeom>
          <a:solidFill>
            <a:srgbClr val="B8A3F4"/>
          </a:solidFill>
          <a:ln w="12700">
            <a:solidFill>
              <a:srgbClr val="B8A3F4"/>
            </a:solidFill>
            <a:prstDash val="solid"/>
          </a:ln>
        </p:spPr>
      </p:sp>
      <p:sp>
        <p:nvSpPr>
          <p:cNvPr id="22" name="Shape 19"/>
          <p:cNvSpPr/>
          <p:nvPr/>
        </p:nvSpPr>
        <p:spPr>
          <a:xfrm>
            <a:off x="7717536" y="5934456"/>
            <a:ext cx="59436" cy="59436"/>
          </a:xfrm>
          <a:prstGeom prst="rect">
            <a:avLst/>
          </a:prstGeom>
          <a:solidFill>
            <a:srgbClr val="B8A3F4"/>
          </a:solidFill>
          <a:ln w="12700">
            <a:solidFill>
              <a:srgbClr val="B8A3F4"/>
            </a:solidFill>
            <a:prstDash val="solid"/>
          </a:ln>
        </p:spPr>
      </p:sp>
      <p:sp>
        <p:nvSpPr>
          <p:cNvPr id="23" name="Shape 20"/>
          <p:cNvSpPr/>
          <p:nvPr/>
        </p:nvSpPr>
        <p:spPr>
          <a:xfrm>
            <a:off x="566928" y="603504"/>
            <a:ext cx="1508760" cy="301752"/>
          </a:xfrm>
          <a:prstGeom prst="roundRect">
            <a:avLst>
              <a:gd name="adj" fmla="val 48485"/>
            </a:avLst>
          </a:prstGeom>
          <a:solidFill>
            <a:srgbClr val="8565E5"/>
          </a:solidFill>
          <a:ln w="12700">
            <a:solidFill>
              <a:srgbClr val="8565E5"/>
            </a:solidFill>
            <a:prstDash val="solid"/>
          </a:ln>
        </p:spPr>
      </p:sp>
      <p:sp>
        <p:nvSpPr>
          <p:cNvPr id="24" name="Text 21"/>
          <p:cNvSpPr/>
          <p:nvPr/>
        </p:nvSpPr>
        <p:spPr>
          <a:xfrm>
            <a:off x="658368" y="662940"/>
            <a:ext cx="1325880" cy="173736"/>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ASSIGNMENT 04</a:t>
            </a:r>
            <a:endParaRPr lang="en-US" sz="1000" dirty="0"/>
          </a:p>
        </p:txBody>
      </p:sp>
      <p:sp>
        <p:nvSpPr>
          <p:cNvPr id="25" name="Text 22"/>
          <p:cNvSpPr/>
          <p:nvPr/>
        </p:nvSpPr>
        <p:spPr>
          <a:xfrm>
            <a:off x="548640" y="1389888"/>
            <a:ext cx="6446520" cy="1783080"/>
          </a:xfrm>
          <a:prstGeom prst="rect">
            <a:avLst/>
          </a:prstGeom>
          <a:noFill/>
          <a:ln/>
        </p:spPr>
        <p:txBody>
          <a:bodyPr wrap="square" lIns="0" tIns="0" rIns="0" bIns="0" rtlCol="0" anchor="t"/>
          <a:lstStyle/>
          <a:p>
            <a:pPr indent="0" marL="0">
              <a:lnSpc>
                <a:spcPct val="100000"/>
              </a:lnSpc>
              <a:buNone/>
            </a:pPr>
            <a:r>
              <a:rPr lang="en-US" sz="4500" b="1" dirty="0">
                <a:solidFill>
                  <a:srgbClr val="FFFFFF"/>
                </a:solidFill>
                <a:latin typeface="Arial" pitchFamily="34" charset="0"/>
                <a:ea typeface="Arial" pitchFamily="34" charset="-122"/>
                <a:cs typeface="Arial" pitchFamily="34" charset="-120"/>
              </a:rPr>
              <a:t>Multimedia</a:t>
            </a:r>
            <a:endParaRPr lang="en-US" sz="4500" dirty="0"/>
          </a:p>
          <a:p>
            <a:pPr indent="0" marL="0">
              <a:lnSpc>
                <a:spcPct val="100000"/>
              </a:lnSpc>
              <a:buNone/>
            </a:pPr>
            <a:r>
              <a:rPr lang="en-US" sz="4500" b="1" dirty="0">
                <a:solidFill>
                  <a:srgbClr val="FFFFFF"/>
                </a:solidFill>
                <a:latin typeface="Arial" pitchFamily="34" charset="0"/>
                <a:ea typeface="Arial" pitchFamily="34" charset="-122"/>
                <a:cs typeface="Arial" pitchFamily="34" charset="-120"/>
              </a:rPr>
              <a:t>Technologies</a:t>
            </a:r>
            <a:endParaRPr lang="en-US" sz="4500" dirty="0"/>
          </a:p>
        </p:txBody>
      </p:sp>
      <p:sp>
        <p:nvSpPr>
          <p:cNvPr id="26" name="Text 23"/>
          <p:cNvSpPr/>
          <p:nvPr/>
        </p:nvSpPr>
        <p:spPr>
          <a:xfrm>
            <a:off x="576072" y="3401568"/>
            <a:ext cx="6217920" cy="384048"/>
          </a:xfrm>
          <a:prstGeom prst="rect">
            <a:avLst/>
          </a:prstGeom>
          <a:noFill/>
          <a:ln/>
        </p:spPr>
        <p:txBody>
          <a:bodyPr wrap="square" lIns="0" tIns="0" rIns="0" bIns="0" rtlCol="0" anchor="t"/>
          <a:lstStyle/>
          <a:p>
            <a:pPr indent="0" marL="0">
              <a:buNone/>
            </a:pPr>
            <a:r>
              <a:rPr lang="en-US" sz="2300" dirty="0">
                <a:solidFill>
                  <a:srgbClr val="EEE7FF"/>
                </a:solidFill>
                <a:latin typeface="Arial" pitchFamily="34" charset="0"/>
                <a:ea typeface="Arial" pitchFamily="34" charset="-122"/>
                <a:cs typeface="Arial" pitchFamily="34" charset="-120"/>
              </a:rPr>
              <a:t>The media layer of My AITU</a:t>
            </a:r>
            <a:endParaRPr lang="en-US" sz="2300" dirty="0"/>
          </a:p>
        </p:txBody>
      </p:sp>
      <p:sp>
        <p:nvSpPr>
          <p:cNvPr id="27" name="Text 24"/>
          <p:cNvSpPr/>
          <p:nvPr/>
        </p:nvSpPr>
        <p:spPr>
          <a:xfrm>
            <a:off x="576072" y="3968496"/>
            <a:ext cx="5943600" cy="731520"/>
          </a:xfrm>
          <a:prstGeom prst="rect">
            <a:avLst/>
          </a:prstGeom>
          <a:noFill/>
          <a:ln/>
        </p:spPr>
        <p:txBody>
          <a:bodyPr wrap="square" lIns="0" tIns="0" rIns="0" bIns="0" rtlCol="0" anchor="t"/>
          <a:lstStyle/>
          <a:p>
            <a:pPr indent="0" marL="0">
              <a:buNone/>
            </a:pPr>
            <a:r>
              <a:rPr lang="en-US" sz="1800" dirty="0">
                <a:solidFill>
                  <a:srgbClr val="EEE7FF"/>
                </a:solidFill>
                <a:latin typeface="Arial" pitchFamily="34" charset="0"/>
                <a:ea typeface="Arial" pitchFamily="34" charset="-122"/>
                <a:cs typeface="Arial" pitchFamily="34" charset="-120"/>
              </a:rPr>
              <a:t>Formats, optimisation and accessible design</a:t>
            </a:r>
            <a:endParaRPr lang="en-US" sz="1800" dirty="0"/>
          </a:p>
          <a:p>
            <a:pPr indent="0" marL="0">
              <a:buNone/>
            </a:pPr>
            <a:r>
              <a:rPr lang="en-US" sz="1800" dirty="0">
                <a:solidFill>
                  <a:srgbClr val="EEE7FF"/>
                </a:solidFill>
                <a:latin typeface="Arial" pitchFamily="34" charset="0"/>
                <a:ea typeface="Arial" pitchFamily="34" charset="-122"/>
                <a:cs typeface="Arial" pitchFamily="34" charset="-120"/>
              </a:rPr>
              <a:t>for the LMS bridge prototype.</a:t>
            </a:r>
            <a:endParaRPr lang="en-US" sz="1800" dirty="0"/>
          </a:p>
        </p:txBody>
      </p:sp>
      <p:sp>
        <p:nvSpPr>
          <p:cNvPr id="28" name="Text 25"/>
          <p:cNvSpPr/>
          <p:nvPr/>
        </p:nvSpPr>
        <p:spPr>
          <a:xfrm>
            <a:off x="585216" y="5148072"/>
            <a:ext cx="6126480" cy="621792"/>
          </a:xfrm>
          <a:prstGeom prst="rect">
            <a:avLst/>
          </a:prstGeom>
          <a:noFill/>
          <a:ln/>
        </p:spPr>
        <p:txBody>
          <a:bodyPr wrap="square" lIns="0" tIns="0" rIns="0" bIns="0" rtlCol="0" anchor="t"/>
          <a:lstStyle/>
          <a:p>
            <a:pPr indent="0" marL="0">
              <a:buNone/>
            </a:pPr>
            <a:r>
              <a:rPr lang="en-US" sz="1550" dirty="0">
                <a:solidFill>
                  <a:srgbClr val="FFFFFF"/>
                </a:solidFill>
                <a:latin typeface="Arial" pitchFamily="34" charset="0"/>
                <a:ea typeface="Arial" pitchFamily="34" charset="-122"/>
                <a:cs typeface="Arial" pitchFamily="34" charset="-120"/>
              </a:rPr>
              <a:t>Salima Zimbekkyzy  ·  Azhar Saparzholova</a:t>
            </a:r>
            <a:endParaRPr lang="en-US" sz="1550" dirty="0"/>
          </a:p>
          <a:p>
            <a:pPr indent="0" marL="0">
              <a:buNone/>
            </a:pPr>
            <a:r>
              <a:rPr lang="en-US" sz="1550" dirty="0">
                <a:solidFill>
                  <a:srgbClr val="FFFFFF"/>
                </a:solidFill>
                <a:latin typeface="Arial" pitchFamily="34" charset="0"/>
                <a:ea typeface="Arial" pitchFamily="34" charset="-122"/>
                <a:cs typeface="Arial" pitchFamily="34" charset="-120"/>
              </a:rPr>
              <a:t>Nurassyl Oralbekov</a:t>
            </a:r>
            <a:endParaRPr lang="en-US" sz="1550" dirty="0"/>
          </a:p>
        </p:txBody>
      </p:sp>
      <p:sp>
        <p:nvSpPr>
          <p:cNvPr id="29" name="Text 26"/>
          <p:cNvSpPr/>
          <p:nvPr/>
        </p:nvSpPr>
        <p:spPr>
          <a:xfrm>
            <a:off x="585216" y="5916168"/>
            <a:ext cx="4572000" cy="201168"/>
          </a:xfrm>
          <a:prstGeom prst="rect">
            <a:avLst/>
          </a:prstGeom>
          <a:noFill/>
          <a:ln/>
        </p:spPr>
        <p:txBody>
          <a:bodyPr wrap="square" lIns="0" tIns="0" rIns="0" bIns="0" rtlCol="0" anchor="t"/>
          <a:lstStyle/>
          <a:p>
            <a:pPr indent="0" marL="0">
              <a:buNone/>
            </a:pPr>
            <a:r>
              <a:rPr lang="en-US" sz="1100" b="1" dirty="0">
                <a:solidFill>
                  <a:srgbClr val="D7CBF1"/>
                </a:solidFill>
                <a:latin typeface="Arial" pitchFamily="34" charset="0"/>
                <a:ea typeface="Arial" pitchFamily="34" charset="-122"/>
                <a:cs typeface="Arial" pitchFamily="34" charset="-120"/>
              </a:rPr>
              <a:t>SE-2623  /  ICT</a:t>
            </a:r>
            <a:endParaRPr lang="en-US" sz="1100" dirty="0"/>
          </a:p>
        </p:txBody>
      </p:sp>
      <p:sp>
        <p:nvSpPr>
          <p:cNvPr id="30" name="Shape 27"/>
          <p:cNvSpPr/>
          <p:nvPr/>
        </p:nvSpPr>
        <p:spPr>
          <a:xfrm>
            <a:off x="8174736" y="585216"/>
            <a:ext cx="2626495" cy="5449824"/>
          </a:xfrm>
          <a:prstGeom prst="roundRect">
            <a:avLst>
              <a:gd name="adj" fmla="val 5570"/>
            </a:avLst>
          </a:prstGeom>
          <a:solidFill>
            <a:srgbClr val="141125"/>
          </a:solidFill>
          <a:ln w="12700">
            <a:solidFill>
              <a:srgbClr val="141125"/>
            </a:solidFill>
            <a:prstDash val="solid"/>
          </a:ln>
        </p:spPr>
      </p:sp>
      <p:pic>
        <p:nvPicPr>
          <p:cNvPr id="31" name="Image 0" descr="/home/nuras/Documents/AITU/endterm/assignment4/presentation/assets/attendance.png">    </p:cNvPr>
          <p:cNvPicPr>
            <a:picLocks noChangeAspect="1"/>
          </p:cNvPicPr>
          <p:nvPr/>
        </p:nvPicPr>
        <p:blipFill>
          <a:blip r:embed="rId1"/>
          <a:stretch>
            <a:fillRect/>
          </a:stretch>
        </p:blipFill>
        <p:spPr>
          <a:xfrm>
            <a:off x="8275320" y="685800"/>
            <a:ext cx="2425327" cy="52486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B"/>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6540DB"/>
                </a:solidFill>
                <a:latin typeface="Arial" pitchFamily="34" charset="0"/>
                <a:ea typeface="Arial" pitchFamily="34" charset="-122"/>
                <a:cs typeface="Arial" pitchFamily="34" charset="-120"/>
              </a:rPr>
              <a:t>PART A / FORMAT STRATEGY</a:t>
            </a:r>
            <a:endParaRPr lang="en-US" sz="1050" dirty="0"/>
          </a:p>
        </p:txBody>
      </p:sp>
      <p:sp>
        <p:nvSpPr>
          <p:cNvPr id="3" name="Text 1"/>
          <p:cNvSpPr/>
          <p:nvPr/>
        </p:nvSpPr>
        <p:spPr>
          <a:xfrm>
            <a:off x="530352" y="795528"/>
            <a:ext cx="11109960" cy="594360"/>
          </a:xfrm>
          <a:prstGeom prst="rect">
            <a:avLst/>
          </a:prstGeom>
          <a:noFill/>
          <a:ln/>
        </p:spPr>
        <p:txBody>
          <a:bodyPr wrap="square" lIns="0" tIns="0" rIns="0" bIns="0" rtlCol="0" anchor="t"/>
          <a:lstStyle/>
          <a:p>
            <a:pPr indent="0" marL="0">
              <a:buNone/>
            </a:pPr>
            <a:r>
              <a:rPr lang="en-US" sz="3300" b="1" dirty="0">
                <a:solidFill>
                  <a:srgbClr val="241C3F"/>
                </a:solidFill>
                <a:latin typeface="Arial" pitchFamily="34" charset="0"/>
                <a:ea typeface="Arial" pitchFamily="34" charset="-122"/>
                <a:cs typeface="Arial" pitchFamily="34" charset="-120"/>
              </a:rPr>
              <a:t>Choose the format for the job</a:t>
            </a:r>
            <a:endParaRPr lang="en-US" sz="3300" dirty="0"/>
          </a:p>
        </p:txBody>
      </p:sp>
      <p:sp>
        <p:nvSpPr>
          <p:cNvPr id="4" name="Text 2"/>
          <p:cNvSpPr/>
          <p:nvPr/>
        </p:nvSpPr>
        <p:spPr>
          <a:xfrm>
            <a:off x="548640" y="1481328"/>
            <a:ext cx="11000232" cy="365760"/>
          </a:xfrm>
          <a:prstGeom prst="rect">
            <a:avLst/>
          </a:prstGeom>
          <a:noFill/>
          <a:ln/>
        </p:spPr>
        <p:txBody>
          <a:bodyPr wrap="square" lIns="0" tIns="0" rIns="0" bIns="0" rtlCol="0" anchor="t"/>
          <a:lstStyle/>
          <a:p>
            <a:pPr indent="0" marL="0">
              <a:buNone/>
            </a:pPr>
            <a:r>
              <a:rPr lang="en-US" sz="1400" dirty="0">
                <a:solidFill>
                  <a:srgbClr val="746C85"/>
                </a:solidFill>
                <a:latin typeface="Arial" pitchFamily="34" charset="0"/>
                <a:ea typeface="Arial" pitchFamily="34" charset="-122"/>
                <a:cs typeface="Arial" pitchFamily="34" charset="-120"/>
              </a:rPr>
              <a:t>Three questions guide every choice: what is it, where is it used, and what must stay sharp?</a:t>
            </a:r>
            <a:endParaRPr lang="en-US" sz="1400" dirty="0"/>
          </a:p>
        </p:txBody>
      </p:sp>
      <p:sp>
        <p:nvSpPr>
          <p:cNvPr id="5" name="Text 3"/>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746C85"/>
                </a:solidFill>
                <a:latin typeface="Arial" pitchFamily="34" charset="0"/>
                <a:ea typeface="Arial" pitchFamily="34" charset="-122"/>
                <a:cs typeface="Arial" pitchFamily="34" charset="-120"/>
              </a:rPr>
              <a:t>MY AITU  /  ICT ASSIGNMENT 4</a:t>
            </a:r>
            <a:endParaRPr lang="en-US" sz="930" dirty="0"/>
          </a:p>
        </p:txBody>
      </p:sp>
      <p:sp>
        <p:nvSpPr>
          <p:cNvPr id="6" name="Text 4"/>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746C85"/>
                </a:solidFill>
                <a:latin typeface="Arial" pitchFamily="34" charset="0"/>
                <a:ea typeface="Arial" pitchFamily="34" charset="-122"/>
                <a:cs typeface="Arial" pitchFamily="34" charset="-120"/>
              </a:rPr>
              <a:t>02 / 19</a:t>
            </a:r>
            <a:endParaRPr lang="en-US" sz="93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3182112"/>
        </p:xfrm>
        <a:graphic>
          <a:graphicData uri="http://schemas.openxmlformats.org/drawingml/2006/table">
            <a:tbl>
              <a:tblPr/>
              <a:tblGrid>
                <a:gridCol w="1645920"/>
                <a:gridCol w="4434840"/>
                <a:gridCol w="5010912"/>
              </a:tblGrid>
              <a:tr h="475488">
                <a:tc>
                  <a:txBody>
                    <a:bodyPr/>
                    <a:lstStyle/>
                    <a:p>
                      <a:pPr indent="0" marL="0">
                        <a:buNone/>
                      </a:pPr>
                      <a:r>
                        <a:rPr lang="en-US" sz="1700" b="1" dirty="0">
                          <a:solidFill>
                            <a:srgbClr val="FFFFFF"/>
                          </a:solidFill>
                          <a:latin typeface="Arial" pitchFamily="34" charset="0"/>
                          <a:ea typeface="Arial" pitchFamily="34" charset="-122"/>
                          <a:cs typeface="Arial" pitchFamily="34" charset="-120"/>
                        </a:rPr>
                        <a:t>MEDIA</a:t>
                      </a:r>
                      <a:endParaRPr lang="en-US" sz="17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700" b="1" dirty="0">
                          <a:solidFill>
                            <a:srgbClr val="FFFFFF"/>
                          </a:solidFill>
                          <a:latin typeface="Arial" pitchFamily="34" charset="0"/>
                          <a:ea typeface="Arial" pitchFamily="34" charset="-122"/>
                          <a:cs typeface="Arial" pitchFamily="34" charset="-120"/>
                        </a:rPr>
                        <a:t>DECISION TO MAKE</a:t>
                      </a:r>
                      <a:endParaRPr lang="en-US" sz="17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700" b="1" dirty="0">
                          <a:solidFill>
                            <a:srgbClr val="FFFFFF"/>
                          </a:solidFill>
                          <a:latin typeface="Arial" pitchFamily="34" charset="0"/>
                          <a:ea typeface="Arial" pitchFamily="34" charset="-122"/>
                          <a:cs typeface="Arial" pitchFamily="34" charset="-120"/>
                        </a:rPr>
                        <a:t>PROJECT APPLICATION</a:t>
                      </a:r>
                      <a:endParaRPr lang="en-US" sz="17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r>
              <a:tr h="902208">
                <a:tc>
                  <a:txBody>
                    <a:bodyPr/>
                    <a:lstStyle/>
                    <a:p>
                      <a:pPr indent="0" marL="0">
                        <a:buNone/>
                      </a:pPr>
                      <a:r>
                        <a:rPr lang="en-US" sz="1700" b="1" dirty="0">
                          <a:solidFill>
                            <a:srgbClr val="241C3F"/>
                          </a:solidFill>
                          <a:latin typeface="Arial" pitchFamily="34" charset="0"/>
                          <a:ea typeface="Arial" pitchFamily="34" charset="-122"/>
                          <a:cs typeface="Arial" pitchFamily="34" charset="-120"/>
                        </a:rPr>
                        <a:t>Images</a:t>
                      </a:r>
                      <a:endParaRPr lang="en-US" sz="17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700" dirty="0">
                          <a:solidFill>
                            <a:srgbClr val="241C3F"/>
                          </a:solidFill>
                          <a:latin typeface="Arial" pitchFamily="34" charset="0"/>
                          <a:ea typeface="Arial" pitchFamily="34" charset="-122"/>
                          <a:cs typeface="Arial" pitchFamily="34" charset="-120"/>
                        </a:rPr>
                        <a:t>Balance crisp interface details against file size.</a:t>
                      </a:r>
                      <a:endParaRPr lang="en-US" sz="17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700" dirty="0">
                          <a:solidFill>
                            <a:srgbClr val="241C3F"/>
                          </a:solidFill>
                          <a:latin typeface="Arial" pitchFamily="34" charset="0"/>
                          <a:ea typeface="Arial" pitchFamily="34" charset="-122"/>
                          <a:cs typeface="Arial" pitchFamily="34" charset="-120"/>
                        </a:rPr>
                        <a:t>WebP preview, PNG source and SVG icons</a:t>
                      </a:r>
                      <a:endParaRPr lang="en-US" sz="17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902208">
                <a:tc>
                  <a:txBody>
                    <a:bodyPr/>
                    <a:lstStyle/>
                    <a:p>
                      <a:pPr indent="0" marL="0">
                        <a:buNone/>
                      </a:pPr>
                      <a:r>
                        <a:rPr lang="en-US" sz="1700" b="1" dirty="0">
                          <a:solidFill>
                            <a:srgbClr val="241C3F"/>
                          </a:solidFill>
                          <a:latin typeface="Arial" pitchFamily="34" charset="0"/>
                          <a:ea typeface="Arial" pitchFamily="34" charset="-122"/>
                          <a:cs typeface="Arial" pitchFamily="34" charset="-120"/>
                        </a:rPr>
                        <a:t>Audio</a:t>
                      </a:r>
                      <a:endParaRPr lang="en-US" sz="17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700" dirty="0">
                          <a:solidFill>
                            <a:srgbClr val="241C3F"/>
                          </a:solidFill>
                          <a:latin typeface="Arial" pitchFamily="34" charset="0"/>
                          <a:ea typeface="Arial" pitchFamily="34" charset="-122"/>
                          <a:cs typeface="Arial" pitchFamily="34" charset="-120"/>
                        </a:rPr>
                        <a:t>Separate distribution files from editing masters.</a:t>
                      </a:r>
                      <a:endParaRPr lang="en-US" sz="17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700" dirty="0">
                          <a:solidFill>
                            <a:srgbClr val="241C3F"/>
                          </a:solidFill>
                          <a:latin typeface="Arial" pitchFamily="34" charset="0"/>
                          <a:ea typeface="Arial" pitchFamily="34" charset="-122"/>
                          <a:cs typeface="Arial" pitchFamily="34" charset="-120"/>
                        </a:rPr>
                        <a:t>If narration is added: AAC / MP3; WAV for editing</a:t>
                      </a:r>
                      <a:endParaRPr lang="en-US" sz="17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902208">
                <a:tc>
                  <a:txBody>
                    <a:bodyPr/>
                    <a:lstStyle/>
                    <a:p>
                      <a:pPr indent="0" marL="0">
                        <a:buNone/>
                      </a:pPr>
                      <a:r>
                        <a:rPr lang="en-US" sz="1700" b="1" dirty="0">
                          <a:solidFill>
                            <a:srgbClr val="241C3F"/>
                          </a:solidFill>
                          <a:latin typeface="Arial" pitchFamily="34" charset="0"/>
                          <a:ea typeface="Arial" pitchFamily="34" charset="-122"/>
                          <a:cs typeface="Arial" pitchFamily="34" charset="-120"/>
                        </a:rPr>
                        <a:t>Video</a:t>
                      </a:r>
                      <a:endParaRPr lang="en-US" sz="17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700" dirty="0">
                          <a:solidFill>
                            <a:srgbClr val="241C3F"/>
                          </a:solidFill>
                          <a:latin typeface="Arial" pitchFamily="34" charset="0"/>
                          <a:ea typeface="Arial" pitchFamily="34" charset="-122"/>
                          <a:cs typeface="Arial" pitchFamily="34" charset="-120"/>
                        </a:rPr>
                        <a:t>Choose both a container and a codec.</a:t>
                      </a:r>
                      <a:endParaRPr lang="en-US" sz="17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700" dirty="0">
                          <a:solidFill>
                            <a:srgbClr val="241C3F"/>
                          </a:solidFill>
                          <a:latin typeface="Arial" pitchFamily="34" charset="0"/>
                          <a:ea typeface="Arial" pitchFamily="34" charset="-122"/>
                          <a:cs typeface="Arial" pitchFamily="34" charset="-120"/>
                        </a:rPr>
                        <a:t>Planned: MP4 with H.264 video and AAC audio</a:t>
                      </a:r>
                      <a:endParaRPr lang="en-US" sz="17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bl>
          </a:graphicData>
        </a:graphic>
      </p:graphicFrame>
      <p:sp>
        <p:nvSpPr>
          <p:cNvPr id="9" name="Shape 5"/>
          <p:cNvSpPr/>
          <p:nvPr/>
        </p:nvSpPr>
        <p:spPr>
          <a:xfrm>
            <a:off x="594360" y="5504688"/>
            <a:ext cx="356616" cy="356616"/>
          </a:xfrm>
          <a:prstGeom prst="ellipse">
            <a:avLst/>
          </a:prstGeom>
          <a:solidFill>
            <a:srgbClr val="E9E1FC"/>
          </a:solidFill>
          <a:ln w="12700">
            <a:solidFill>
              <a:srgbClr val="E9E1FC"/>
            </a:solidFill>
            <a:prstDash val="solid"/>
          </a:ln>
        </p:spPr>
      </p:sp>
      <p:sp>
        <p:nvSpPr>
          <p:cNvPr id="10" name="Text 6"/>
          <p:cNvSpPr/>
          <p:nvPr/>
        </p:nvSpPr>
        <p:spPr>
          <a:xfrm>
            <a:off x="649224" y="5596128"/>
            <a:ext cx="246888" cy="137160"/>
          </a:xfrm>
          <a:prstGeom prst="rect">
            <a:avLst/>
          </a:prstGeom>
          <a:noFill/>
          <a:ln/>
        </p:spPr>
        <p:txBody>
          <a:bodyPr wrap="square" lIns="0" tIns="0" rIns="0" bIns="0" rtlCol="0" anchor="t"/>
          <a:lstStyle/>
          <a:p>
            <a:pPr algn="ctr" indent="0" marL="0">
              <a:buNone/>
            </a:pPr>
            <a:r>
              <a:rPr lang="en-US" sz="900" b="1" dirty="0">
                <a:solidFill>
                  <a:srgbClr val="6540DB"/>
                </a:solidFill>
                <a:latin typeface="Arial" pitchFamily="34" charset="0"/>
                <a:ea typeface="Arial" pitchFamily="34" charset="-122"/>
                <a:cs typeface="Arial" pitchFamily="34" charset="-120"/>
              </a:rPr>
              <a:t>01</a:t>
            </a:r>
            <a:endParaRPr lang="en-US" sz="900" dirty="0"/>
          </a:p>
        </p:txBody>
      </p:sp>
      <p:sp>
        <p:nvSpPr>
          <p:cNvPr id="11" name="Text 7"/>
          <p:cNvSpPr/>
          <p:nvPr/>
        </p:nvSpPr>
        <p:spPr>
          <a:xfrm>
            <a:off x="1106424" y="5577840"/>
            <a:ext cx="2834640" cy="228600"/>
          </a:xfrm>
          <a:prstGeom prst="rect">
            <a:avLst/>
          </a:prstGeom>
          <a:noFill/>
          <a:ln/>
        </p:spPr>
        <p:txBody>
          <a:bodyPr wrap="square" lIns="0" tIns="0" rIns="0" bIns="0" rtlCol="0" anchor="t"/>
          <a:lstStyle/>
          <a:p>
            <a:pPr indent="0" marL="0">
              <a:buNone/>
            </a:pPr>
            <a:r>
              <a:rPr lang="en-US" sz="1200" b="1" spc="60" kern="0" dirty="0">
                <a:solidFill>
                  <a:srgbClr val="746C85"/>
                </a:solidFill>
                <a:latin typeface="Arial" pitchFamily="34" charset="0"/>
                <a:ea typeface="Arial" pitchFamily="34" charset="-122"/>
                <a:cs typeface="Arial" pitchFamily="34" charset="-120"/>
              </a:rPr>
              <a:t>QUALITY</a:t>
            </a:r>
            <a:endParaRPr lang="en-US" sz="1200" dirty="0"/>
          </a:p>
        </p:txBody>
      </p:sp>
      <p:sp>
        <p:nvSpPr>
          <p:cNvPr id="12" name="Shape 8"/>
          <p:cNvSpPr/>
          <p:nvPr/>
        </p:nvSpPr>
        <p:spPr>
          <a:xfrm>
            <a:off x="4297680" y="5504688"/>
            <a:ext cx="356616" cy="356616"/>
          </a:xfrm>
          <a:prstGeom prst="ellipse">
            <a:avLst/>
          </a:prstGeom>
          <a:solidFill>
            <a:srgbClr val="E9E1FC"/>
          </a:solidFill>
          <a:ln w="12700">
            <a:solidFill>
              <a:srgbClr val="E9E1FC"/>
            </a:solidFill>
            <a:prstDash val="solid"/>
          </a:ln>
        </p:spPr>
      </p:sp>
      <p:sp>
        <p:nvSpPr>
          <p:cNvPr id="13" name="Text 9"/>
          <p:cNvSpPr/>
          <p:nvPr/>
        </p:nvSpPr>
        <p:spPr>
          <a:xfrm>
            <a:off x="4352544" y="5596128"/>
            <a:ext cx="246888" cy="137160"/>
          </a:xfrm>
          <a:prstGeom prst="rect">
            <a:avLst/>
          </a:prstGeom>
          <a:noFill/>
          <a:ln/>
        </p:spPr>
        <p:txBody>
          <a:bodyPr wrap="square" lIns="0" tIns="0" rIns="0" bIns="0" rtlCol="0" anchor="t"/>
          <a:lstStyle/>
          <a:p>
            <a:pPr algn="ctr" indent="0" marL="0">
              <a:buNone/>
            </a:pPr>
            <a:r>
              <a:rPr lang="en-US" sz="900" b="1" dirty="0">
                <a:solidFill>
                  <a:srgbClr val="6540DB"/>
                </a:solidFill>
                <a:latin typeface="Arial" pitchFamily="34" charset="0"/>
                <a:ea typeface="Arial" pitchFamily="34" charset="-122"/>
                <a:cs typeface="Arial" pitchFamily="34" charset="-120"/>
              </a:rPr>
              <a:t>02</a:t>
            </a:r>
            <a:endParaRPr lang="en-US" sz="900" dirty="0"/>
          </a:p>
        </p:txBody>
      </p:sp>
      <p:sp>
        <p:nvSpPr>
          <p:cNvPr id="14" name="Text 10"/>
          <p:cNvSpPr/>
          <p:nvPr/>
        </p:nvSpPr>
        <p:spPr>
          <a:xfrm>
            <a:off x="4809744" y="5577840"/>
            <a:ext cx="2834640" cy="228600"/>
          </a:xfrm>
          <a:prstGeom prst="rect">
            <a:avLst/>
          </a:prstGeom>
          <a:noFill/>
          <a:ln/>
        </p:spPr>
        <p:txBody>
          <a:bodyPr wrap="square" lIns="0" tIns="0" rIns="0" bIns="0" rtlCol="0" anchor="t"/>
          <a:lstStyle/>
          <a:p>
            <a:pPr indent="0" marL="0">
              <a:buNone/>
            </a:pPr>
            <a:r>
              <a:rPr lang="en-US" sz="1200" b="1" spc="60" kern="0" dirty="0">
                <a:solidFill>
                  <a:srgbClr val="746C85"/>
                </a:solidFill>
                <a:latin typeface="Arial" pitchFamily="34" charset="0"/>
                <a:ea typeface="Arial" pitchFamily="34" charset="-122"/>
                <a:cs typeface="Arial" pitchFamily="34" charset="-120"/>
              </a:rPr>
              <a:t>FILE SIZE</a:t>
            </a:r>
            <a:endParaRPr lang="en-US" sz="1200" dirty="0"/>
          </a:p>
        </p:txBody>
      </p:sp>
      <p:sp>
        <p:nvSpPr>
          <p:cNvPr id="15" name="Shape 11"/>
          <p:cNvSpPr/>
          <p:nvPr/>
        </p:nvSpPr>
        <p:spPr>
          <a:xfrm>
            <a:off x="8001000" y="5504688"/>
            <a:ext cx="356616" cy="356616"/>
          </a:xfrm>
          <a:prstGeom prst="ellipse">
            <a:avLst/>
          </a:prstGeom>
          <a:solidFill>
            <a:srgbClr val="E9E1FC"/>
          </a:solidFill>
          <a:ln w="12700">
            <a:solidFill>
              <a:srgbClr val="E9E1FC"/>
            </a:solidFill>
            <a:prstDash val="solid"/>
          </a:ln>
        </p:spPr>
      </p:sp>
      <p:sp>
        <p:nvSpPr>
          <p:cNvPr id="16" name="Text 12"/>
          <p:cNvSpPr/>
          <p:nvPr/>
        </p:nvSpPr>
        <p:spPr>
          <a:xfrm>
            <a:off x="8055864" y="5596128"/>
            <a:ext cx="246888" cy="137160"/>
          </a:xfrm>
          <a:prstGeom prst="rect">
            <a:avLst/>
          </a:prstGeom>
          <a:noFill/>
          <a:ln/>
        </p:spPr>
        <p:txBody>
          <a:bodyPr wrap="square" lIns="0" tIns="0" rIns="0" bIns="0" rtlCol="0" anchor="t"/>
          <a:lstStyle/>
          <a:p>
            <a:pPr algn="ctr" indent="0" marL="0">
              <a:buNone/>
            </a:pPr>
            <a:r>
              <a:rPr lang="en-US" sz="900" b="1" dirty="0">
                <a:solidFill>
                  <a:srgbClr val="6540DB"/>
                </a:solidFill>
                <a:latin typeface="Arial" pitchFamily="34" charset="0"/>
                <a:ea typeface="Arial" pitchFamily="34" charset="-122"/>
                <a:cs typeface="Arial" pitchFamily="34" charset="-120"/>
              </a:rPr>
              <a:t>03</a:t>
            </a:r>
            <a:endParaRPr lang="en-US" sz="900" dirty="0"/>
          </a:p>
        </p:txBody>
      </p:sp>
      <p:sp>
        <p:nvSpPr>
          <p:cNvPr id="17" name="Text 13"/>
          <p:cNvSpPr/>
          <p:nvPr/>
        </p:nvSpPr>
        <p:spPr>
          <a:xfrm>
            <a:off x="8513064" y="5577840"/>
            <a:ext cx="2834640" cy="228600"/>
          </a:xfrm>
          <a:prstGeom prst="rect">
            <a:avLst/>
          </a:prstGeom>
          <a:noFill/>
          <a:ln/>
        </p:spPr>
        <p:txBody>
          <a:bodyPr wrap="square" lIns="0" tIns="0" rIns="0" bIns="0" rtlCol="0" anchor="t"/>
          <a:lstStyle/>
          <a:p>
            <a:pPr indent="0" marL="0">
              <a:buNone/>
            </a:pPr>
            <a:r>
              <a:rPr lang="en-US" sz="1200" b="1" spc="60" kern="0" dirty="0">
                <a:solidFill>
                  <a:srgbClr val="746C85"/>
                </a:solidFill>
                <a:latin typeface="Arial" pitchFamily="34" charset="0"/>
                <a:ea typeface="Arial" pitchFamily="34" charset="-122"/>
                <a:cs typeface="Arial" pitchFamily="34" charset="-120"/>
              </a:rPr>
              <a:t>COMPATIBILITY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B"/>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6540DB"/>
                </a:solidFill>
                <a:latin typeface="Arial" pitchFamily="34" charset="0"/>
                <a:ea typeface="Arial" pitchFamily="34" charset="-122"/>
                <a:cs typeface="Arial" pitchFamily="34" charset="-120"/>
              </a:rPr>
              <a:t>A1 / FORMAT COMPARISON</a:t>
            </a:r>
            <a:endParaRPr lang="en-US" sz="1050" dirty="0"/>
          </a:p>
        </p:txBody>
      </p:sp>
      <p:sp>
        <p:nvSpPr>
          <p:cNvPr id="3" name="Text 1"/>
          <p:cNvSpPr/>
          <p:nvPr/>
        </p:nvSpPr>
        <p:spPr>
          <a:xfrm>
            <a:off x="530352" y="795528"/>
            <a:ext cx="11109960" cy="594360"/>
          </a:xfrm>
          <a:prstGeom prst="rect">
            <a:avLst/>
          </a:prstGeom>
          <a:noFill/>
          <a:ln/>
        </p:spPr>
        <p:txBody>
          <a:bodyPr wrap="square" lIns="0" tIns="0" rIns="0" bIns="0" rtlCol="0" anchor="t"/>
          <a:lstStyle/>
          <a:p>
            <a:pPr indent="0" marL="0">
              <a:buNone/>
            </a:pPr>
            <a:r>
              <a:rPr lang="en-US" sz="3300" b="1" dirty="0">
                <a:solidFill>
                  <a:srgbClr val="241C3F"/>
                </a:solidFill>
                <a:latin typeface="Arial" pitchFamily="34" charset="0"/>
                <a:ea typeface="Arial" pitchFamily="34" charset="-122"/>
                <a:cs typeface="Arial" pitchFamily="34" charset="-120"/>
              </a:rPr>
              <a:t>One table. Ten media formats.</a:t>
            </a:r>
            <a:endParaRPr lang="en-US" sz="3300" dirty="0"/>
          </a:p>
        </p:txBody>
      </p:sp>
      <p:sp>
        <p:nvSpPr>
          <p:cNvPr id="4" name="Text 2"/>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746C85"/>
                </a:solidFill>
                <a:latin typeface="Arial" pitchFamily="34" charset="0"/>
                <a:ea typeface="Arial" pitchFamily="34" charset="-122"/>
                <a:cs typeface="Arial" pitchFamily="34" charset="-120"/>
              </a:rPr>
              <a:t>MY AITU  /  ICT ASSIGNMENT 4</a:t>
            </a:r>
            <a:endParaRPr lang="en-US" sz="930" dirty="0"/>
          </a:p>
        </p:txBody>
      </p:sp>
      <p:sp>
        <p:nvSpPr>
          <p:cNvPr id="5" name="Text 3"/>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746C85"/>
                </a:solidFill>
                <a:latin typeface="Arial" pitchFamily="34" charset="0"/>
                <a:ea typeface="Arial" pitchFamily="34" charset="-122"/>
                <a:cs typeface="Arial" pitchFamily="34" charset="-120"/>
              </a:rPr>
              <a:t>03 / 19</a:t>
            </a:r>
            <a:endParaRPr lang="en-US" sz="93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73352"/>
          <a:ext cx="11091672" cy="3751783"/>
        </p:xfrm>
        <a:graphic>
          <a:graphicData uri="http://schemas.openxmlformats.org/drawingml/2006/table">
            <a:tbl>
              <a:tblPr/>
              <a:tblGrid>
                <a:gridCol w="1481328"/>
                <a:gridCol w="731520"/>
                <a:gridCol w="1645920"/>
                <a:gridCol w="1691640"/>
                <a:gridCol w="1508760"/>
                <a:gridCol w="1188720"/>
                <a:gridCol w="2843784"/>
              </a:tblGrid>
              <a:tr h="341071">
                <a:tc>
                  <a:txBody>
                    <a:bodyPr/>
                    <a:lstStyle/>
                    <a:p>
                      <a:pPr indent="0" marL="0">
                        <a:buNone/>
                      </a:pPr>
                      <a:r>
                        <a:rPr lang="en-US" sz="1200" b="1" dirty="0">
                          <a:solidFill>
                            <a:srgbClr val="FFFFFF"/>
                          </a:solidFill>
                          <a:latin typeface="Arial" pitchFamily="34" charset="0"/>
                          <a:ea typeface="Arial" pitchFamily="34" charset="-122"/>
                          <a:cs typeface="Arial" pitchFamily="34" charset="-120"/>
                        </a:rPr>
                        <a:t>FORMAT</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TYPE</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COMPRESSION</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ALPHA / MOTION</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TYPICAL SIZE</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SUPPORT</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PROJECT USE</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r>
              <a:tr h="341071">
                <a:tc>
                  <a:txBody>
                    <a:bodyPr/>
                    <a:lstStyle/>
                    <a:p>
                      <a:pPr indent="0" marL="0">
                        <a:buNone/>
                      </a:pPr>
                      <a:r>
                        <a:rPr lang="en-US" sz="1200" b="1" dirty="0">
                          <a:solidFill>
                            <a:srgbClr val="241C3F"/>
                          </a:solidFill>
                          <a:latin typeface="Arial" pitchFamily="34" charset="0"/>
                          <a:ea typeface="Arial" pitchFamily="34" charset="-122"/>
                          <a:cs typeface="Arial" pitchFamily="34" charset="-120"/>
                        </a:rPr>
                        <a:t>PNG</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Image</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Lossless</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Alpha; APNG</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Large photos</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Broad</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UI evidence</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341071">
                <a:tc>
                  <a:txBody>
                    <a:bodyPr/>
                    <a:lstStyle/>
                    <a:p>
                      <a:pPr indent="0" marL="0">
                        <a:buNone/>
                      </a:pPr>
                      <a:r>
                        <a:rPr lang="en-US" sz="1200" b="1" dirty="0">
                          <a:solidFill>
                            <a:srgbClr val="241C3F"/>
                          </a:solidFill>
                          <a:latin typeface="Arial" pitchFamily="34" charset="0"/>
                          <a:ea typeface="Arial" pitchFamily="34" charset="-122"/>
                          <a:cs typeface="Arial" pitchFamily="34" charset="-120"/>
                        </a:rPr>
                        <a:t>JPEG</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Image</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Lossy</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None</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Small photos</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Broad</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Photos</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341071">
                <a:tc>
                  <a:txBody>
                    <a:bodyPr/>
                    <a:lstStyle/>
                    <a:p>
                      <a:pPr indent="0" marL="0">
                        <a:buNone/>
                      </a:pPr>
                      <a:r>
                        <a:rPr lang="en-US" sz="1200" b="1" dirty="0">
                          <a:solidFill>
                            <a:srgbClr val="6540DB"/>
                          </a:solidFill>
                          <a:latin typeface="Arial" pitchFamily="34" charset="0"/>
                          <a:ea typeface="Arial" pitchFamily="34" charset="-122"/>
                          <a:cs typeface="Arial" pitchFamily="34" charset="-120"/>
                        </a:rPr>
                        <a:t>WebP</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E9E1FC"/>
                    </a:solidFill>
                  </a:tcPr>
                </a:tc>
                <a:tc>
                  <a:txBody>
                    <a:bodyPr/>
                    <a:lstStyle/>
                    <a:p>
                      <a:pPr indent="0" marL="0">
                        <a:buNone/>
                      </a:pPr>
                      <a:r>
                        <a:rPr lang="en-US" sz="1200" dirty="0">
                          <a:solidFill>
                            <a:srgbClr val="6540DB"/>
                          </a:solidFill>
                          <a:latin typeface="Arial" pitchFamily="34" charset="0"/>
                          <a:ea typeface="Arial" pitchFamily="34" charset="-122"/>
                          <a:cs typeface="Arial" pitchFamily="34" charset="-120"/>
                        </a:rPr>
                        <a:t>Image</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E9E1FC"/>
                    </a:solidFill>
                  </a:tcPr>
                </a:tc>
                <a:tc>
                  <a:txBody>
                    <a:bodyPr/>
                    <a:lstStyle/>
                    <a:p>
                      <a:pPr indent="0" marL="0">
                        <a:buNone/>
                      </a:pPr>
                      <a:r>
                        <a:rPr lang="en-US" sz="1200" dirty="0">
                          <a:solidFill>
                            <a:srgbClr val="6540DB"/>
                          </a:solidFill>
                          <a:latin typeface="Arial" pitchFamily="34" charset="0"/>
                          <a:ea typeface="Arial" pitchFamily="34" charset="-122"/>
                          <a:cs typeface="Arial" pitchFamily="34" charset="-120"/>
                        </a:rPr>
                        <a:t>Both modes</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E9E1FC"/>
                    </a:solidFill>
                  </a:tcPr>
                </a:tc>
                <a:tc>
                  <a:txBody>
                    <a:bodyPr/>
                    <a:lstStyle/>
                    <a:p>
                      <a:pPr indent="0" marL="0">
                        <a:buNone/>
                      </a:pPr>
                      <a:r>
                        <a:rPr lang="en-US" sz="1200" dirty="0">
                          <a:solidFill>
                            <a:srgbClr val="6540DB"/>
                          </a:solidFill>
                          <a:latin typeface="Arial" pitchFamily="34" charset="0"/>
                          <a:ea typeface="Arial" pitchFamily="34" charset="-122"/>
                          <a:cs typeface="Arial" pitchFamily="34" charset="-120"/>
                        </a:rPr>
                        <a:t>Alpha; motion</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E9E1FC"/>
                    </a:solidFill>
                  </a:tcPr>
                </a:tc>
                <a:tc>
                  <a:txBody>
                    <a:bodyPr/>
                    <a:lstStyle/>
                    <a:p>
                      <a:pPr indent="0" marL="0">
                        <a:buNone/>
                      </a:pPr>
                      <a:r>
                        <a:rPr lang="en-US" sz="1200" dirty="0">
                          <a:solidFill>
                            <a:srgbClr val="6540DB"/>
                          </a:solidFill>
                          <a:latin typeface="Arial" pitchFamily="34" charset="0"/>
                          <a:ea typeface="Arial" pitchFamily="34" charset="-122"/>
                          <a:cs typeface="Arial" pitchFamily="34" charset="-120"/>
                        </a:rPr>
                        <a:t>Compact</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E9E1FC"/>
                    </a:solidFill>
                  </a:tcPr>
                </a:tc>
                <a:tc>
                  <a:txBody>
                    <a:bodyPr/>
                    <a:lstStyle/>
                    <a:p>
                      <a:pPr indent="0" marL="0">
                        <a:buNone/>
                      </a:pPr>
                      <a:r>
                        <a:rPr lang="en-US" sz="1200" dirty="0">
                          <a:solidFill>
                            <a:srgbClr val="6540DB"/>
                          </a:solidFill>
                          <a:latin typeface="Arial" pitchFamily="34" charset="0"/>
                          <a:ea typeface="Arial" pitchFamily="34" charset="-122"/>
                          <a:cs typeface="Arial" pitchFamily="34" charset="-120"/>
                        </a:rPr>
                        <a:t>Modern</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E9E1FC"/>
                    </a:solidFill>
                  </a:tcPr>
                </a:tc>
                <a:tc>
                  <a:txBody>
                    <a:bodyPr/>
                    <a:lstStyle/>
                    <a:p>
                      <a:pPr indent="0" marL="0">
                        <a:buNone/>
                      </a:pPr>
                      <a:r>
                        <a:rPr lang="en-US" sz="1200" dirty="0">
                          <a:solidFill>
                            <a:srgbClr val="6540DB"/>
                          </a:solidFill>
                          <a:latin typeface="Arial" pitchFamily="34" charset="0"/>
                          <a:ea typeface="Arial" pitchFamily="34" charset="-122"/>
                          <a:cs typeface="Arial" pitchFamily="34" charset="-120"/>
                        </a:rPr>
                        <a:t>App preview</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E9E1FC"/>
                    </a:solidFill>
                  </a:tcPr>
                </a:tc>
              </a:tr>
              <a:tr h="341071">
                <a:tc>
                  <a:txBody>
                    <a:bodyPr/>
                    <a:lstStyle/>
                    <a:p>
                      <a:pPr indent="0" marL="0">
                        <a:buNone/>
                      </a:pPr>
                      <a:r>
                        <a:rPr lang="en-US" sz="1200" b="1" dirty="0">
                          <a:solidFill>
                            <a:srgbClr val="241C3F"/>
                          </a:solidFill>
                          <a:latin typeface="Arial" pitchFamily="34" charset="0"/>
                          <a:ea typeface="Arial" pitchFamily="34" charset="-122"/>
                          <a:cs typeface="Arial" pitchFamily="34" charset="-120"/>
                        </a:rPr>
                        <a:t>SVG</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Image</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Vector / text</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Alpha; motion</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Tiny icons</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Broad</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UI icons</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341071">
                <a:tc>
                  <a:txBody>
                    <a:bodyPr/>
                    <a:lstStyle/>
                    <a:p>
                      <a:pPr indent="0" marL="0">
                        <a:buNone/>
                      </a:pPr>
                      <a:r>
                        <a:rPr lang="en-US" sz="1200" b="1" dirty="0">
                          <a:solidFill>
                            <a:srgbClr val="241C3F"/>
                          </a:solidFill>
                          <a:latin typeface="Arial" pitchFamily="34" charset="0"/>
                          <a:ea typeface="Arial" pitchFamily="34" charset="-122"/>
                          <a:cs typeface="Arial" pitchFamily="34" charset="-120"/>
                        </a:rPr>
                        <a:t>MP3</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Audio</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Lossy</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N/A</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Small</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Broad</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Speech / music</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341071">
                <a:tc>
                  <a:txBody>
                    <a:bodyPr/>
                    <a:lstStyle/>
                    <a:p>
                      <a:pPr indent="0" marL="0">
                        <a:buNone/>
                      </a:pPr>
                      <a:r>
                        <a:rPr lang="en-US" sz="1200" b="1" dirty="0">
                          <a:solidFill>
                            <a:srgbClr val="241C3F"/>
                          </a:solidFill>
                          <a:latin typeface="Arial" pitchFamily="34" charset="0"/>
                          <a:ea typeface="Arial" pitchFamily="34" charset="-122"/>
                          <a:cs typeface="Arial" pitchFamily="34" charset="-120"/>
                        </a:rPr>
                        <a:t>AAC / M4A</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Audio</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Lossy</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N/A</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Small</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Broad*</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Narration</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341071">
                <a:tc>
                  <a:txBody>
                    <a:bodyPr/>
                    <a:lstStyle/>
                    <a:p>
                      <a:pPr indent="0" marL="0">
                        <a:buNone/>
                      </a:pPr>
                      <a:r>
                        <a:rPr lang="en-US" sz="1200" b="1" dirty="0">
                          <a:solidFill>
                            <a:srgbClr val="241C3F"/>
                          </a:solidFill>
                          <a:latin typeface="Arial" pitchFamily="34" charset="0"/>
                          <a:ea typeface="Arial" pitchFamily="34" charset="-122"/>
                          <a:cs typeface="Arial" pitchFamily="34" charset="-120"/>
                        </a:rPr>
                        <a:t>WAV / PCM</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Audio</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Uncompressed</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N/A</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Large</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Broad*</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Editing master</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341071">
                <a:tc>
                  <a:txBody>
                    <a:bodyPr/>
                    <a:lstStyle/>
                    <a:p>
                      <a:pPr indent="0" marL="0">
                        <a:buNone/>
                      </a:pPr>
                      <a:r>
                        <a:rPr lang="en-US" sz="1200" b="1" dirty="0">
                          <a:solidFill>
                            <a:srgbClr val="241C3F"/>
                          </a:solidFill>
                          <a:latin typeface="Arial" pitchFamily="34" charset="0"/>
                          <a:ea typeface="Arial" pitchFamily="34" charset="-122"/>
                          <a:cs typeface="Arial" pitchFamily="34" charset="-120"/>
                        </a:rPr>
                        <a:t>MP4 / H.264</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Video</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Usually lossy</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Motion</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Bitrate-based</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Broad*</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Demo delivery</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341071">
                <a:tc>
                  <a:txBody>
                    <a:bodyPr/>
                    <a:lstStyle/>
                    <a:p>
                      <a:pPr indent="0" marL="0">
                        <a:buNone/>
                      </a:pPr>
                      <a:r>
                        <a:rPr lang="en-US" sz="1200" b="1" dirty="0">
                          <a:solidFill>
                            <a:srgbClr val="241C3F"/>
                          </a:solidFill>
                          <a:latin typeface="Arial" pitchFamily="34" charset="0"/>
                          <a:ea typeface="Arial" pitchFamily="34" charset="-122"/>
                          <a:cs typeface="Arial" pitchFamily="34" charset="-120"/>
                        </a:rPr>
                        <a:t>WebM / VP9</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Video</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Usually lossy</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Motion; alpha*</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Bitrate-based</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Modern*</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Web playback</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341071">
                <a:tc>
                  <a:txBody>
                    <a:bodyPr/>
                    <a:lstStyle/>
                    <a:p>
                      <a:pPr indent="0" marL="0">
                        <a:buNone/>
                      </a:pPr>
                      <a:r>
                        <a:rPr lang="en-US" sz="1200" b="1" dirty="0">
                          <a:solidFill>
                            <a:srgbClr val="241C3F"/>
                          </a:solidFill>
                          <a:latin typeface="Arial" pitchFamily="34" charset="0"/>
                          <a:ea typeface="Arial" pitchFamily="34" charset="-122"/>
                          <a:cs typeface="Arial" pitchFamily="34" charset="-120"/>
                        </a:rPr>
                        <a:t>MOV / H.264</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Video</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Usually lossy</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Motion</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Bitrate-based</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Limited web</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00" dirty="0">
                          <a:solidFill>
                            <a:srgbClr val="241C3F"/>
                          </a:solidFill>
                          <a:latin typeface="Arial" pitchFamily="34" charset="0"/>
                          <a:ea typeface="Arial" pitchFamily="34" charset="-122"/>
                          <a:cs typeface="Arial" pitchFamily="34" charset="-120"/>
                        </a:rPr>
                        <a:t>Editing / transfer</a:t>
                      </a:r>
                      <a:endParaRPr lang="en-US" sz="12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bl>
          </a:graphicData>
        </a:graphic>
      </p:graphicFrame>
      <p:sp>
        <p:nvSpPr>
          <p:cNvPr id="8" name="Text 4"/>
          <p:cNvSpPr/>
          <p:nvPr/>
        </p:nvSpPr>
        <p:spPr>
          <a:xfrm>
            <a:off x="594360" y="5687568"/>
            <a:ext cx="10927080" cy="274320"/>
          </a:xfrm>
          <a:prstGeom prst="rect">
            <a:avLst/>
          </a:prstGeom>
          <a:noFill/>
          <a:ln/>
        </p:spPr>
        <p:txBody>
          <a:bodyPr wrap="square" lIns="0" tIns="0" rIns="0" bIns="0" rtlCol="0" anchor="t"/>
          <a:lstStyle/>
          <a:p>
            <a:pPr indent="0" marL="0">
              <a:buNone/>
            </a:pPr>
            <a:r>
              <a:rPr lang="en-US" sz="1700" b="1" dirty="0">
                <a:solidFill>
                  <a:srgbClr val="6540DB"/>
                </a:solidFill>
                <a:latin typeface="Arial" pitchFamily="34" charset="0"/>
                <a:ea typeface="Arial" pitchFamily="34" charset="-122"/>
                <a:cs typeface="Arial" pitchFamily="34" charset="-120"/>
              </a:rPr>
              <a:t>Container = the package. Codec = how the media is encoded.</a:t>
            </a:r>
            <a:endParaRPr lang="en-US" sz="1700" dirty="0"/>
          </a:p>
        </p:txBody>
      </p:sp>
      <p:sp>
        <p:nvSpPr>
          <p:cNvPr id="9" name="Text 5"/>
          <p:cNvSpPr/>
          <p:nvPr/>
        </p:nvSpPr>
        <p:spPr>
          <a:xfrm>
            <a:off x="594360" y="6044184"/>
            <a:ext cx="10881360" cy="292608"/>
          </a:xfrm>
          <a:prstGeom prst="rect">
            <a:avLst/>
          </a:prstGeom>
          <a:noFill/>
          <a:ln/>
        </p:spPr>
        <p:txBody>
          <a:bodyPr wrap="square" lIns="0" tIns="0" rIns="0" bIns="0" rtlCol="0" anchor="t"/>
          <a:lstStyle/>
          <a:p>
            <a:pPr indent="0" marL="0">
              <a:buNone/>
            </a:pPr>
            <a:r>
              <a:rPr lang="en-US" sz="950" dirty="0">
                <a:solidFill>
                  <a:srgbClr val="746C85"/>
                </a:solidFill>
                <a:latin typeface="Arial" pitchFamily="34" charset="0"/>
                <a:ea typeface="Arial" pitchFamily="34" charset="-122"/>
                <a:cs typeface="Arial" pitchFamily="34" charset="-120"/>
              </a:rPr>
              <a:t>*Support depends on codec, OS and device. Size varies with content, resolution, bitrate and duration.</a:t>
            </a:r>
            <a:endParaRPr lang="en-US" sz="950" dirty="0"/>
          </a:p>
          <a:p>
            <a:pPr indent="0" marL="0">
              <a:buNone/>
            </a:pPr>
            <a:r>
              <a:rPr lang="en-US" sz="950" dirty="0">
                <a:solidFill>
                  <a:srgbClr val="746C85"/>
                </a:solidFill>
                <a:latin typeface="Arial" pitchFamily="34" charset="0"/>
                <a:ea typeface="Arial" pitchFamily="34" charset="-122"/>
                <a:cs typeface="Arial" pitchFamily="34" charset="-120"/>
              </a:rPr>
              <a:t>Sources cited in the original: MDN Image file type guide; Media container formats.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B"/>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6540DB"/>
                </a:solidFill>
                <a:latin typeface="Arial" pitchFamily="34" charset="0"/>
                <a:ea typeface="Arial" pitchFamily="34" charset="-122"/>
                <a:cs typeface="Arial" pitchFamily="34" charset="-120"/>
              </a:rPr>
              <a:t>A2 / MEASURED EXPERIMENT</a:t>
            </a:r>
            <a:endParaRPr lang="en-US" sz="1050" dirty="0"/>
          </a:p>
        </p:txBody>
      </p:sp>
      <p:sp>
        <p:nvSpPr>
          <p:cNvPr id="3" name="Text 1"/>
          <p:cNvSpPr/>
          <p:nvPr/>
        </p:nvSpPr>
        <p:spPr>
          <a:xfrm>
            <a:off x="530352" y="795528"/>
            <a:ext cx="11109960" cy="594360"/>
          </a:xfrm>
          <a:prstGeom prst="rect">
            <a:avLst/>
          </a:prstGeom>
          <a:noFill/>
          <a:ln/>
        </p:spPr>
        <p:txBody>
          <a:bodyPr wrap="square" lIns="0" tIns="0" rIns="0" bIns="0" rtlCol="0" anchor="t"/>
          <a:lstStyle/>
          <a:p>
            <a:pPr indent="0" marL="0">
              <a:buNone/>
            </a:pPr>
            <a:r>
              <a:rPr lang="en-US" sz="3300" b="1" dirty="0">
                <a:solidFill>
                  <a:srgbClr val="241C3F"/>
                </a:solidFill>
                <a:latin typeface="Arial" pitchFamily="34" charset="0"/>
                <a:ea typeface="Arial" pitchFamily="34" charset="-122"/>
                <a:cs typeface="Arial" pitchFamily="34" charset="-120"/>
              </a:rPr>
              <a:t>Same screen. Four encodings.</a:t>
            </a:r>
            <a:endParaRPr lang="en-US" sz="3300" dirty="0"/>
          </a:p>
        </p:txBody>
      </p:sp>
      <p:sp>
        <p:nvSpPr>
          <p:cNvPr id="4" name="Text 2"/>
          <p:cNvSpPr/>
          <p:nvPr/>
        </p:nvSpPr>
        <p:spPr>
          <a:xfrm>
            <a:off x="548640" y="1481328"/>
            <a:ext cx="11000232" cy="365760"/>
          </a:xfrm>
          <a:prstGeom prst="rect">
            <a:avLst/>
          </a:prstGeom>
          <a:noFill/>
          <a:ln/>
        </p:spPr>
        <p:txBody>
          <a:bodyPr wrap="square" lIns="0" tIns="0" rIns="0" bIns="0" rtlCol="0" anchor="t"/>
          <a:lstStyle/>
          <a:p>
            <a:pPr indent="0" marL="0">
              <a:buNone/>
            </a:pPr>
            <a:r>
              <a:rPr lang="en-US" sz="1400" dirty="0">
                <a:solidFill>
                  <a:srgbClr val="746C85"/>
                </a:solidFill>
                <a:latin typeface="Arial" pitchFamily="34" charset="0"/>
                <a:ea typeface="Arial" pitchFamily="34" charset="-122"/>
                <a:cs typeface="Arial" pitchFamily="34" charset="-120"/>
              </a:rPr>
              <a:t>390 × 844 pixels in every file. Measurements use binary KiB: 1 KiB = 1024 bytes.</a:t>
            </a:r>
            <a:endParaRPr lang="en-US" sz="1400" dirty="0"/>
          </a:p>
        </p:txBody>
      </p:sp>
      <p:sp>
        <p:nvSpPr>
          <p:cNvPr id="5" name="Text 3"/>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746C85"/>
                </a:solidFill>
                <a:latin typeface="Arial" pitchFamily="34" charset="0"/>
                <a:ea typeface="Arial" pitchFamily="34" charset="-122"/>
                <a:cs typeface="Arial" pitchFamily="34" charset="-120"/>
              </a:rPr>
              <a:t>MY AITU  /  ICT ASSIGNMENT 4</a:t>
            </a:r>
            <a:endParaRPr lang="en-US" sz="930" dirty="0"/>
          </a:p>
        </p:txBody>
      </p:sp>
      <p:sp>
        <p:nvSpPr>
          <p:cNvPr id="6" name="Text 4"/>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746C85"/>
                </a:solidFill>
                <a:latin typeface="Arial" pitchFamily="34" charset="0"/>
                <a:ea typeface="Arial" pitchFamily="34" charset="-122"/>
                <a:cs typeface="Arial" pitchFamily="34" charset="-120"/>
              </a:rPr>
              <a:t>04 / 19</a:t>
            </a:r>
            <a:endParaRPr lang="en-US" sz="93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002536"/>
          <a:ext cx="7406640" cy="3108960"/>
        </p:xfrm>
        <a:graphic>
          <a:graphicData uri="http://schemas.openxmlformats.org/drawingml/2006/table">
            <a:tbl>
              <a:tblPr/>
              <a:tblGrid>
                <a:gridCol w="2194560"/>
                <a:gridCol w="1463040"/>
                <a:gridCol w="3749040"/>
              </a:tblGrid>
              <a:tr h="475488">
                <a:tc>
                  <a:txBody>
                    <a:bodyPr/>
                    <a:lstStyle/>
                    <a:p>
                      <a:pPr indent="0" marL="0">
                        <a:buNone/>
                      </a:pPr>
                      <a:r>
                        <a:rPr lang="en-US" sz="1600" b="1" dirty="0">
                          <a:solidFill>
                            <a:srgbClr val="FFFFFF"/>
                          </a:solidFill>
                          <a:latin typeface="Arial" pitchFamily="34" charset="0"/>
                          <a:ea typeface="Arial" pitchFamily="34" charset="-122"/>
                          <a:cs typeface="Arial" pitchFamily="34" charset="-120"/>
                        </a:rPr>
                        <a:t>FORMAT / SETTING</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SIZE (KiB)</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VISUAL OBSERVATION</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r>
              <a:tr h="658368">
                <a:tc>
                  <a:txBody>
                    <a:bodyPr/>
                    <a:lstStyle/>
                    <a:p>
                      <a:pPr indent="0" marL="0">
                        <a:buNone/>
                      </a:pPr>
                      <a:r>
                        <a:rPr lang="en-US" sz="1600" b="1" dirty="0">
                          <a:solidFill>
                            <a:srgbClr val="241C3F"/>
                          </a:solidFill>
                          <a:latin typeface="Arial" pitchFamily="34" charset="0"/>
                          <a:ea typeface="Arial" pitchFamily="34" charset="-122"/>
                          <a:cs typeface="Arial" pitchFamily="34" charset="-120"/>
                        </a:rPr>
                        <a:t>PNG</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600" dirty="0">
                          <a:solidFill>
                            <a:srgbClr val="241C3F"/>
                          </a:solidFill>
                          <a:latin typeface="Arial" pitchFamily="34" charset="0"/>
                          <a:ea typeface="Arial" pitchFamily="34" charset="-122"/>
                          <a:cs typeface="Arial" pitchFamily="34" charset="-120"/>
                        </a:rPr>
                        <a:t>58.39</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600" dirty="0">
                          <a:solidFill>
                            <a:srgbClr val="241C3F"/>
                          </a:solidFill>
                          <a:latin typeface="Arial" pitchFamily="34" charset="0"/>
                          <a:ea typeface="Arial" pitchFamily="34" charset="-122"/>
                          <a:cs typeface="Arial" pitchFamily="34" charset="-120"/>
                        </a:rPr>
                        <a:t>Sharp source</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241C3F"/>
                          </a:solidFill>
                          <a:latin typeface="Arial" pitchFamily="34" charset="0"/>
                          <a:ea typeface="Arial" pitchFamily="34" charset="-122"/>
                          <a:cs typeface="Arial" pitchFamily="34" charset="-120"/>
                        </a:rPr>
                        <a:t>JPEG Q80</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600" dirty="0">
                          <a:solidFill>
                            <a:srgbClr val="241C3F"/>
                          </a:solidFill>
                          <a:latin typeface="Arial" pitchFamily="34" charset="0"/>
                          <a:ea typeface="Arial" pitchFamily="34" charset="-122"/>
                          <a:cs typeface="Arial" pitchFamily="34" charset="-120"/>
                        </a:rPr>
                        <a:t>28.72</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600" dirty="0">
                          <a:solidFill>
                            <a:srgbClr val="241C3F"/>
                          </a:solidFill>
                          <a:latin typeface="Arial" pitchFamily="34" charset="0"/>
                          <a:ea typeface="Arial" pitchFamily="34" charset="-122"/>
                          <a:cs typeface="Arial" pitchFamily="34" charset="-120"/>
                        </a:rPr>
                        <a:t>Minor edge artifacts</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658368">
                <a:tc>
                  <a:txBody>
                    <a:bodyPr/>
                    <a:lstStyle/>
                    <a:p>
                      <a:pPr indent="0" marL="0">
                        <a:buNone/>
                      </a:pPr>
                      <a:r>
                        <a:rPr lang="en-US" sz="1600" b="1" dirty="0">
                          <a:solidFill>
                            <a:srgbClr val="241C3F"/>
                          </a:solidFill>
                          <a:latin typeface="Arial" pitchFamily="34" charset="0"/>
                          <a:ea typeface="Arial" pitchFamily="34" charset="-122"/>
                          <a:cs typeface="Arial" pitchFamily="34" charset="-120"/>
                        </a:rPr>
                        <a:t>JPEG Q40</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600" dirty="0">
                          <a:solidFill>
                            <a:srgbClr val="241C3F"/>
                          </a:solidFill>
                          <a:latin typeface="Arial" pitchFamily="34" charset="0"/>
                          <a:ea typeface="Arial" pitchFamily="34" charset="-122"/>
                          <a:cs typeface="Arial" pitchFamily="34" charset="-120"/>
                        </a:rPr>
                        <a:t>16.49</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600" dirty="0">
                          <a:solidFill>
                            <a:srgbClr val="241C3F"/>
                          </a:solidFill>
                          <a:latin typeface="Arial" pitchFamily="34" charset="0"/>
                          <a:ea typeface="Arial" pitchFamily="34" charset="-122"/>
                          <a:cs typeface="Arial" pitchFamily="34" charset="-120"/>
                        </a:rPr>
                        <a:t>Visible edge artifacts</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6540DB"/>
                          </a:solidFill>
                          <a:latin typeface="Arial" pitchFamily="34" charset="0"/>
                          <a:ea typeface="Arial" pitchFamily="34" charset="-122"/>
                          <a:cs typeface="Arial" pitchFamily="34" charset="-120"/>
                        </a:rPr>
                        <a:t>WebP Q80</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E9E1FC"/>
                    </a:solidFill>
                  </a:tcPr>
                </a:tc>
                <a:tc>
                  <a:txBody>
                    <a:bodyPr/>
                    <a:lstStyle/>
                    <a:p>
                      <a:pPr indent="0" marL="0">
                        <a:buNone/>
                      </a:pPr>
                      <a:r>
                        <a:rPr lang="en-US" sz="1600" dirty="0">
                          <a:solidFill>
                            <a:srgbClr val="6540DB"/>
                          </a:solidFill>
                          <a:latin typeface="Arial" pitchFamily="34" charset="0"/>
                          <a:ea typeface="Arial" pitchFamily="34" charset="-122"/>
                          <a:cs typeface="Arial" pitchFamily="34" charset="-120"/>
                        </a:rPr>
                        <a:t>15.75</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E9E1FC"/>
                    </a:solidFill>
                  </a:tcPr>
                </a:tc>
                <a:tc>
                  <a:txBody>
                    <a:bodyPr/>
                    <a:lstStyle/>
                    <a:p>
                      <a:pPr indent="0" marL="0">
                        <a:buNone/>
                      </a:pPr>
                      <a:r>
                        <a:rPr lang="en-US" sz="1600" dirty="0">
                          <a:solidFill>
                            <a:srgbClr val="6540DB"/>
                          </a:solidFill>
                          <a:latin typeface="Arial" pitchFamily="34" charset="0"/>
                          <a:ea typeface="Arial" pitchFamily="34" charset="-122"/>
                          <a:cs typeface="Arial" pitchFamily="34" charset="-120"/>
                        </a:rPr>
                        <a:t>Readable, compact</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E9E1FC"/>
                    </a:solidFill>
                  </a:tcPr>
                </a:tc>
              </a:tr>
            </a:tbl>
          </a:graphicData>
        </a:graphic>
      </p:graphicFrame>
      <p:sp>
        <p:nvSpPr>
          <p:cNvPr id="9" name="Shape 5"/>
          <p:cNvSpPr/>
          <p:nvPr/>
        </p:nvSpPr>
        <p:spPr>
          <a:xfrm>
            <a:off x="8275320" y="2011680"/>
            <a:ext cx="3364992" cy="3099816"/>
          </a:xfrm>
          <a:prstGeom prst="roundRect">
            <a:avLst>
              <a:gd name="adj" fmla="val 4425"/>
            </a:avLst>
          </a:prstGeom>
          <a:solidFill>
            <a:srgbClr val="6540DB"/>
          </a:solidFill>
          <a:ln w="12700">
            <a:solidFill>
              <a:srgbClr val="6540DB"/>
            </a:solidFill>
            <a:prstDash val="solid"/>
          </a:ln>
        </p:spPr>
      </p:sp>
      <p:sp>
        <p:nvSpPr>
          <p:cNvPr id="10" name="Text 6"/>
          <p:cNvSpPr/>
          <p:nvPr/>
        </p:nvSpPr>
        <p:spPr>
          <a:xfrm>
            <a:off x="8531352" y="2532888"/>
            <a:ext cx="2852928" cy="868680"/>
          </a:xfrm>
          <a:prstGeom prst="rect">
            <a:avLst/>
          </a:prstGeom>
          <a:noFill/>
          <a:ln/>
        </p:spPr>
        <p:txBody>
          <a:bodyPr wrap="square" lIns="0" tIns="0" rIns="0" bIns="0" rtlCol="0" anchor="t"/>
          <a:lstStyle/>
          <a:p>
            <a:pPr indent="0" marL="0">
              <a:buNone/>
            </a:pPr>
            <a:r>
              <a:rPr lang="en-US" sz="5200" b="1" dirty="0">
                <a:solidFill>
                  <a:srgbClr val="FFFFFF"/>
                </a:solidFill>
                <a:latin typeface="Arial" pitchFamily="34" charset="0"/>
                <a:ea typeface="Arial" pitchFamily="34" charset="-122"/>
                <a:cs typeface="Arial" pitchFamily="34" charset="-120"/>
              </a:rPr>
              <a:t>73.0%</a:t>
            </a:r>
            <a:endParaRPr lang="en-US" sz="5200" dirty="0"/>
          </a:p>
        </p:txBody>
      </p:sp>
      <p:sp>
        <p:nvSpPr>
          <p:cNvPr id="11" name="Text 7"/>
          <p:cNvSpPr/>
          <p:nvPr/>
        </p:nvSpPr>
        <p:spPr>
          <a:xfrm>
            <a:off x="8549640" y="3557016"/>
            <a:ext cx="2770632" cy="347472"/>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smaller than PNG</a:t>
            </a:r>
            <a:endParaRPr lang="en-US" sz="2000" dirty="0"/>
          </a:p>
        </p:txBody>
      </p:sp>
      <p:sp>
        <p:nvSpPr>
          <p:cNvPr id="12" name="Text 8"/>
          <p:cNvSpPr/>
          <p:nvPr/>
        </p:nvSpPr>
        <p:spPr>
          <a:xfrm>
            <a:off x="8549640" y="4142232"/>
            <a:ext cx="2770632" cy="621792"/>
          </a:xfrm>
          <a:prstGeom prst="rect">
            <a:avLst/>
          </a:prstGeom>
          <a:noFill/>
          <a:ln/>
        </p:spPr>
        <p:txBody>
          <a:bodyPr wrap="square" lIns="0" tIns="0" rIns="0" bIns="0" rtlCol="0" anchor="t"/>
          <a:lstStyle/>
          <a:p>
            <a:pPr indent="0" marL="0">
              <a:buNone/>
            </a:pPr>
            <a:r>
              <a:rPr lang="en-US" sz="1500" dirty="0">
                <a:solidFill>
                  <a:srgbClr val="EDE5FF"/>
                </a:solidFill>
                <a:latin typeface="Arial" pitchFamily="34" charset="0"/>
                <a:ea typeface="Arial" pitchFamily="34" charset="-122"/>
                <a:cs typeface="Arial" pitchFamily="34" charset="-120"/>
              </a:rPr>
              <a:t>WebP Q80 saves 42.64 KiB</a:t>
            </a:r>
            <a:endParaRPr lang="en-US" sz="1500" dirty="0"/>
          </a:p>
          <a:p>
            <a:pPr indent="0" marL="0">
              <a:buNone/>
            </a:pPr>
            <a:r>
              <a:rPr lang="en-US" sz="1500" dirty="0">
                <a:solidFill>
                  <a:srgbClr val="EDE5FF"/>
                </a:solidFill>
                <a:latin typeface="Arial" pitchFamily="34" charset="0"/>
                <a:ea typeface="Arial" pitchFamily="34" charset="-122"/>
                <a:cs typeface="Arial" pitchFamily="34" charset="-120"/>
              </a:rPr>
              <a:t>at the original resolution.</a:t>
            </a:r>
            <a:endParaRPr lang="en-US" sz="1500" dirty="0"/>
          </a:p>
        </p:txBody>
      </p:sp>
      <p:sp>
        <p:nvSpPr>
          <p:cNvPr id="13" name="Shape 9"/>
          <p:cNvSpPr/>
          <p:nvPr/>
        </p:nvSpPr>
        <p:spPr>
          <a:xfrm>
            <a:off x="594360" y="5522976"/>
            <a:ext cx="2532888" cy="301752"/>
          </a:xfrm>
          <a:prstGeom prst="roundRect">
            <a:avLst>
              <a:gd name="adj" fmla="val 48485"/>
            </a:avLst>
          </a:prstGeom>
          <a:solidFill>
            <a:srgbClr val="FFF1D8"/>
          </a:solidFill>
          <a:ln w="12700">
            <a:solidFill>
              <a:srgbClr val="FFF1D8"/>
            </a:solidFill>
            <a:prstDash val="solid"/>
          </a:ln>
        </p:spPr>
      </p:sp>
      <p:sp>
        <p:nvSpPr>
          <p:cNvPr id="14" name="Text 10"/>
          <p:cNvSpPr/>
          <p:nvPr/>
        </p:nvSpPr>
        <p:spPr>
          <a:xfrm>
            <a:off x="685800" y="5582412"/>
            <a:ext cx="2350008" cy="173736"/>
          </a:xfrm>
          <a:prstGeom prst="rect">
            <a:avLst/>
          </a:prstGeom>
          <a:noFill/>
          <a:ln/>
        </p:spPr>
        <p:txBody>
          <a:bodyPr wrap="square" lIns="0" tIns="0" rIns="0" bIns="0" rtlCol="0" anchor="t"/>
          <a:lstStyle/>
          <a:p>
            <a:pPr algn="ctr" indent="0" marL="0">
              <a:buNone/>
            </a:pPr>
            <a:r>
              <a:rPr lang="en-US" sz="1000" b="1" dirty="0">
                <a:solidFill>
                  <a:srgbClr val="8C5D16"/>
                </a:solidFill>
                <a:latin typeface="Arial" pitchFamily="34" charset="0"/>
                <a:ea typeface="Arial" pitchFamily="34" charset="-122"/>
                <a:cs typeface="Arial" pitchFamily="34" charset="-120"/>
              </a:rPr>
              <a:t>VIDEO EVIDENCE PENDING</a:t>
            </a:r>
            <a:endParaRPr lang="en-US" sz="1000" dirty="0"/>
          </a:p>
        </p:txBody>
      </p:sp>
      <p:sp>
        <p:nvSpPr>
          <p:cNvPr id="15" name="Text 11"/>
          <p:cNvSpPr/>
          <p:nvPr/>
        </p:nvSpPr>
        <p:spPr>
          <a:xfrm>
            <a:off x="3337560" y="5559552"/>
            <a:ext cx="7863840" cy="274320"/>
          </a:xfrm>
          <a:prstGeom prst="rect">
            <a:avLst/>
          </a:prstGeom>
          <a:noFill/>
          <a:ln/>
        </p:spPr>
        <p:txBody>
          <a:bodyPr wrap="square" lIns="0" tIns="0" rIns="0" bIns="0" rtlCol="0" anchor="t"/>
          <a:lstStyle/>
          <a:p>
            <a:pPr indent="0" marL="0">
              <a:buNone/>
            </a:pPr>
            <a:r>
              <a:rPr lang="en-US" sz="1500" dirty="0">
                <a:solidFill>
                  <a:srgbClr val="746C85"/>
                </a:solidFill>
                <a:latin typeface="Arial" pitchFamily="34" charset="0"/>
                <a:ea typeface="Arial" pitchFamily="34" charset="-122"/>
                <a:cs typeface="Arial" pitchFamily="34" charset="-120"/>
              </a:rPr>
              <a:t>The same 10-second clip still needs two measured exports.</a:t>
            </a:r>
            <a:endParaRPr lang="en-US" sz="1500" dirty="0"/>
          </a:p>
        </p:txBody>
      </p:sp>
      <p:sp>
        <p:nvSpPr>
          <p:cNvPr id="16" name="Text 12"/>
          <p:cNvSpPr/>
          <p:nvPr/>
        </p:nvSpPr>
        <p:spPr>
          <a:xfrm>
            <a:off x="594360" y="6080760"/>
            <a:ext cx="10972800" cy="219456"/>
          </a:xfrm>
          <a:prstGeom prst="rect">
            <a:avLst/>
          </a:prstGeom>
          <a:noFill/>
          <a:ln/>
        </p:spPr>
        <p:txBody>
          <a:bodyPr wrap="square" lIns="0" tIns="0" rIns="0" bIns="0" rtlCol="0" anchor="t"/>
          <a:lstStyle/>
          <a:p>
            <a:pPr indent="0" marL="0">
              <a:buNone/>
            </a:pPr>
            <a:r>
              <a:rPr lang="en-US" sz="1000" dirty="0">
                <a:solidFill>
                  <a:srgbClr val="746C85"/>
                </a:solidFill>
                <a:latin typeface="Arial" pitchFamily="34" charset="0"/>
                <a:ea typeface="Arial" pitchFamily="34" charset="-122"/>
                <a:cs typeface="Arial" pitchFamily="34" charset="-120"/>
              </a:rPr>
              <a:t>PNG / WebP: supplied files. JPEGs: exported from the same PNG at Q80 / Q40, 4:2:0 chroma, optimised, 25 Oct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B"/>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6540DB"/>
                </a:solidFill>
                <a:latin typeface="Arial" pitchFamily="34" charset="0"/>
                <a:ea typeface="Arial" pitchFamily="34" charset="-122"/>
                <a:cs typeface="Arial" pitchFamily="34" charset="-120"/>
              </a:rPr>
              <a:t>A2 / VISUAL EVIDENCE</a:t>
            </a:r>
            <a:endParaRPr lang="en-US" sz="1050" dirty="0"/>
          </a:p>
        </p:txBody>
      </p:sp>
      <p:sp>
        <p:nvSpPr>
          <p:cNvPr id="3" name="Text 1"/>
          <p:cNvSpPr/>
          <p:nvPr/>
        </p:nvSpPr>
        <p:spPr>
          <a:xfrm>
            <a:off x="530352" y="795528"/>
            <a:ext cx="11109960" cy="594360"/>
          </a:xfrm>
          <a:prstGeom prst="rect">
            <a:avLst/>
          </a:prstGeom>
          <a:noFill/>
          <a:ln/>
        </p:spPr>
        <p:txBody>
          <a:bodyPr wrap="square" lIns="0" tIns="0" rIns="0" bIns="0" rtlCol="0" anchor="t"/>
          <a:lstStyle/>
          <a:p>
            <a:pPr indent="0" marL="0">
              <a:buNone/>
            </a:pPr>
            <a:r>
              <a:rPr lang="en-US" sz="3300" b="1" dirty="0">
                <a:solidFill>
                  <a:srgbClr val="241C3F"/>
                </a:solidFill>
                <a:latin typeface="Arial" pitchFamily="34" charset="0"/>
                <a:ea typeface="Arial" pitchFamily="34" charset="-122"/>
                <a:cs typeface="Arial" pitchFamily="34" charset="-120"/>
              </a:rPr>
              <a:t>Look at the edges, not just the number.</a:t>
            </a:r>
            <a:endParaRPr lang="en-US" sz="3300" dirty="0"/>
          </a:p>
        </p:txBody>
      </p:sp>
      <p:sp>
        <p:nvSpPr>
          <p:cNvPr id="4" name="Text 2"/>
          <p:cNvSpPr/>
          <p:nvPr/>
        </p:nvSpPr>
        <p:spPr>
          <a:xfrm>
            <a:off x="548640" y="1481328"/>
            <a:ext cx="11000232" cy="365760"/>
          </a:xfrm>
          <a:prstGeom prst="rect">
            <a:avLst/>
          </a:prstGeom>
          <a:noFill/>
          <a:ln/>
        </p:spPr>
        <p:txBody>
          <a:bodyPr wrap="square" lIns="0" tIns="0" rIns="0" bIns="0" rtlCol="0" anchor="t"/>
          <a:lstStyle/>
          <a:p>
            <a:pPr indent="0" marL="0">
              <a:buNone/>
            </a:pPr>
            <a:r>
              <a:rPr lang="en-US" sz="1400" dirty="0">
                <a:solidFill>
                  <a:srgbClr val="746C85"/>
                </a:solidFill>
                <a:latin typeface="Arial" pitchFamily="34" charset="0"/>
                <a:ea typeface="Arial" pitchFamily="34" charset="-122"/>
                <a:cs typeface="Arial" pitchFamily="34" charset="-120"/>
              </a:rPr>
              <a:t>Identical 360 × 360 pixel crops, displayed at the same scale.</a:t>
            </a:r>
            <a:endParaRPr lang="en-US" sz="1400" dirty="0"/>
          </a:p>
        </p:txBody>
      </p:sp>
      <p:sp>
        <p:nvSpPr>
          <p:cNvPr id="5" name="Text 3"/>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746C85"/>
                </a:solidFill>
                <a:latin typeface="Arial" pitchFamily="34" charset="0"/>
                <a:ea typeface="Arial" pitchFamily="34" charset="-122"/>
                <a:cs typeface="Arial" pitchFamily="34" charset="-120"/>
              </a:rPr>
              <a:t>MY AITU  /  ICT ASSIGNMENT 4</a:t>
            </a:r>
            <a:endParaRPr lang="en-US" sz="930" dirty="0"/>
          </a:p>
        </p:txBody>
      </p:sp>
      <p:sp>
        <p:nvSpPr>
          <p:cNvPr id="6" name="Text 4"/>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746C85"/>
                </a:solidFill>
                <a:latin typeface="Arial" pitchFamily="34" charset="0"/>
                <a:ea typeface="Arial" pitchFamily="34" charset="-122"/>
                <a:cs typeface="Arial" pitchFamily="34" charset="-120"/>
              </a:rPr>
              <a:t>05 / 19</a:t>
            </a:r>
            <a:endParaRPr lang="en-US" sz="930" dirty="0"/>
          </a:p>
        </p:txBody>
      </p:sp>
      <p:sp>
        <p:nvSpPr>
          <p:cNvPr id="8" name="Shape 5"/>
          <p:cNvSpPr/>
          <p:nvPr/>
        </p:nvSpPr>
        <p:spPr>
          <a:xfrm>
            <a:off x="548640" y="1984248"/>
            <a:ext cx="2651760" cy="3611880"/>
          </a:xfrm>
          <a:prstGeom prst="roundRect">
            <a:avLst>
              <a:gd name="adj" fmla="val 5172"/>
            </a:avLst>
          </a:prstGeom>
          <a:solidFill>
            <a:srgbClr val="FFFFFF"/>
          </a:solidFill>
          <a:ln w="12700">
            <a:solidFill>
              <a:srgbClr val="FFFFFF"/>
            </a:solidFill>
            <a:prstDash val="solid"/>
          </a:ln>
        </p:spPr>
      </p:sp>
      <p:sp>
        <p:nvSpPr>
          <p:cNvPr id="9" name="Text 6"/>
          <p:cNvSpPr/>
          <p:nvPr/>
        </p:nvSpPr>
        <p:spPr>
          <a:xfrm>
            <a:off x="713232" y="2167128"/>
            <a:ext cx="2322576" cy="292608"/>
          </a:xfrm>
          <a:prstGeom prst="rect">
            <a:avLst/>
          </a:prstGeom>
          <a:noFill/>
          <a:ln/>
        </p:spPr>
        <p:txBody>
          <a:bodyPr wrap="square" lIns="0" tIns="0" rIns="0" bIns="0" rtlCol="0" anchor="t"/>
          <a:lstStyle/>
          <a:p>
            <a:pPr indent="0" marL="0">
              <a:buNone/>
            </a:pPr>
            <a:r>
              <a:rPr lang="en-US" sz="1800" b="1" dirty="0">
                <a:solidFill>
                  <a:srgbClr val="241C3F"/>
                </a:solidFill>
                <a:latin typeface="Arial" pitchFamily="34" charset="0"/>
                <a:ea typeface="Arial" pitchFamily="34" charset="-122"/>
                <a:cs typeface="Arial" pitchFamily="34" charset="-120"/>
              </a:rPr>
              <a:t>PNG</a:t>
            </a:r>
            <a:endParaRPr lang="en-US" sz="1800" dirty="0"/>
          </a:p>
        </p:txBody>
      </p:sp>
      <p:pic>
        <p:nvPicPr>
          <p:cNvPr id="10" name="Image 0" descr="/home/nuras/Documents/AITU/endterm/assignment4/presentation/assets/crop-0.png">    </p:cNvPr>
          <p:cNvPicPr>
            <a:picLocks noChangeAspect="1"/>
          </p:cNvPicPr>
          <p:nvPr/>
        </p:nvPicPr>
        <p:blipFill>
          <a:blip r:embed="rId1"/>
          <a:stretch>
            <a:fillRect/>
          </a:stretch>
        </p:blipFill>
        <p:spPr>
          <a:xfrm>
            <a:off x="704088" y="2724912"/>
            <a:ext cx="2340864" cy="2340864"/>
          </a:xfrm>
          <a:prstGeom prst="rect">
            <a:avLst/>
          </a:prstGeom>
        </p:spPr>
      </p:pic>
      <p:sp>
        <p:nvSpPr>
          <p:cNvPr id="11" name="Text 7"/>
          <p:cNvSpPr/>
          <p:nvPr/>
        </p:nvSpPr>
        <p:spPr>
          <a:xfrm>
            <a:off x="713232" y="5285232"/>
            <a:ext cx="2322576" cy="201168"/>
          </a:xfrm>
          <a:prstGeom prst="rect">
            <a:avLst/>
          </a:prstGeom>
          <a:noFill/>
          <a:ln/>
        </p:spPr>
        <p:txBody>
          <a:bodyPr wrap="square" lIns="0" tIns="0" rIns="0" bIns="0" rtlCol="0" anchor="t"/>
          <a:lstStyle/>
          <a:p>
            <a:pPr indent="0" marL="0">
              <a:buNone/>
            </a:pPr>
            <a:r>
              <a:rPr lang="en-US" sz="1250" b="1" dirty="0">
                <a:solidFill>
                  <a:srgbClr val="6540DB"/>
                </a:solidFill>
                <a:latin typeface="Arial" pitchFamily="34" charset="0"/>
                <a:ea typeface="Arial" pitchFamily="34" charset="-122"/>
                <a:cs typeface="Arial" pitchFamily="34" charset="-120"/>
              </a:rPr>
              <a:t>58.39 KiB</a:t>
            </a:r>
            <a:endParaRPr lang="en-US" sz="1250" dirty="0"/>
          </a:p>
        </p:txBody>
      </p:sp>
      <p:sp>
        <p:nvSpPr>
          <p:cNvPr id="12" name="Text 8"/>
          <p:cNvSpPr/>
          <p:nvPr/>
        </p:nvSpPr>
        <p:spPr>
          <a:xfrm>
            <a:off x="594360" y="5806440"/>
            <a:ext cx="2560320" cy="246888"/>
          </a:xfrm>
          <a:prstGeom prst="rect">
            <a:avLst/>
          </a:prstGeom>
          <a:noFill/>
          <a:ln/>
        </p:spPr>
        <p:txBody>
          <a:bodyPr wrap="square" lIns="0" tIns="0" rIns="0" bIns="0" rtlCol="0" anchor="t"/>
          <a:lstStyle/>
          <a:p>
            <a:pPr algn="ctr" indent="0" marL="0">
              <a:buNone/>
            </a:pPr>
            <a:r>
              <a:rPr lang="en-US" sz="1200" dirty="0">
                <a:solidFill>
                  <a:srgbClr val="746C85"/>
                </a:solidFill>
                <a:latin typeface="Arial" pitchFamily="34" charset="0"/>
                <a:ea typeface="Arial" pitchFamily="34" charset="-122"/>
                <a:cs typeface="Arial" pitchFamily="34" charset="-120"/>
              </a:rPr>
              <a:t>Crisp source text</a:t>
            </a:r>
            <a:endParaRPr lang="en-US" sz="1200" dirty="0"/>
          </a:p>
        </p:txBody>
      </p:sp>
      <p:sp>
        <p:nvSpPr>
          <p:cNvPr id="13" name="Shape 9"/>
          <p:cNvSpPr/>
          <p:nvPr/>
        </p:nvSpPr>
        <p:spPr>
          <a:xfrm>
            <a:off x="3360420" y="1984248"/>
            <a:ext cx="2651760" cy="3611880"/>
          </a:xfrm>
          <a:prstGeom prst="roundRect">
            <a:avLst>
              <a:gd name="adj" fmla="val 5172"/>
            </a:avLst>
          </a:prstGeom>
          <a:solidFill>
            <a:srgbClr val="FFFFFF"/>
          </a:solidFill>
          <a:ln w="12700">
            <a:solidFill>
              <a:srgbClr val="FFFFFF"/>
            </a:solidFill>
            <a:prstDash val="solid"/>
          </a:ln>
        </p:spPr>
      </p:sp>
      <p:sp>
        <p:nvSpPr>
          <p:cNvPr id="14" name="Text 10"/>
          <p:cNvSpPr/>
          <p:nvPr/>
        </p:nvSpPr>
        <p:spPr>
          <a:xfrm>
            <a:off x="3525012" y="2167128"/>
            <a:ext cx="2322576" cy="292608"/>
          </a:xfrm>
          <a:prstGeom prst="rect">
            <a:avLst/>
          </a:prstGeom>
          <a:noFill/>
          <a:ln/>
        </p:spPr>
        <p:txBody>
          <a:bodyPr wrap="square" lIns="0" tIns="0" rIns="0" bIns="0" rtlCol="0" anchor="t"/>
          <a:lstStyle/>
          <a:p>
            <a:pPr indent="0" marL="0">
              <a:buNone/>
            </a:pPr>
            <a:r>
              <a:rPr lang="en-US" sz="1800" b="1" dirty="0">
                <a:solidFill>
                  <a:srgbClr val="241C3F"/>
                </a:solidFill>
                <a:latin typeface="Arial" pitchFamily="34" charset="0"/>
                <a:ea typeface="Arial" pitchFamily="34" charset="-122"/>
                <a:cs typeface="Arial" pitchFamily="34" charset="-120"/>
              </a:rPr>
              <a:t>JPEG Q80</a:t>
            </a:r>
            <a:endParaRPr lang="en-US" sz="1800" dirty="0"/>
          </a:p>
        </p:txBody>
      </p:sp>
      <p:pic>
        <p:nvPicPr>
          <p:cNvPr id="15" name="Image 1" descr="/home/nuras/Documents/AITU/endterm/assignment4/presentation/assets/crop-1.png">    </p:cNvPr>
          <p:cNvPicPr>
            <a:picLocks noChangeAspect="1"/>
          </p:cNvPicPr>
          <p:nvPr/>
        </p:nvPicPr>
        <p:blipFill>
          <a:blip r:embed="rId2"/>
          <a:stretch>
            <a:fillRect/>
          </a:stretch>
        </p:blipFill>
        <p:spPr>
          <a:xfrm>
            <a:off x="3515868" y="2724912"/>
            <a:ext cx="2340864" cy="2340864"/>
          </a:xfrm>
          <a:prstGeom prst="rect">
            <a:avLst/>
          </a:prstGeom>
        </p:spPr>
      </p:pic>
      <p:sp>
        <p:nvSpPr>
          <p:cNvPr id="16" name="Text 11"/>
          <p:cNvSpPr/>
          <p:nvPr/>
        </p:nvSpPr>
        <p:spPr>
          <a:xfrm>
            <a:off x="3525012" y="5285232"/>
            <a:ext cx="2322576" cy="201168"/>
          </a:xfrm>
          <a:prstGeom prst="rect">
            <a:avLst/>
          </a:prstGeom>
          <a:noFill/>
          <a:ln/>
        </p:spPr>
        <p:txBody>
          <a:bodyPr wrap="square" lIns="0" tIns="0" rIns="0" bIns="0" rtlCol="0" anchor="t"/>
          <a:lstStyle/>
          <a:p>
            <a:pPr indent="0" marL="0">
              <a:buNone/>
            </a:pPr>
            <a:r>
              <a:rPr lang="en-US" sz="1250" b="1" dirty="0">
                <a:solidFill>
                  <a:srgbClr val="6540DB"/>
                </a:solidFill>
                <a:latin typeface="Arial" pitchFamily="34" charset="0"/>
                <a:ea typeface="Arial" pitchFamily="34" charset="-122"/>
                <a:cs typeface="Arial" pitchFamily="34" charset="-120"/>
              </a:rPr>
              <a:t>28.72 KiB</a:t>
            </a:r>
            <a:endParaRPr lang="en-US" sz="1250" dirty="0"/>
          </a:p>
        </p:txBody>
      </p:sp>
      <p:sp>
        <p:nvSpPr>
          <p:cNvPr id="17" name="Text 12"/>
          <p:cNvSpPr/>
          <p:nvPr/>
        </p:nvSpPr>
        <p:spPr>
          <a:xfrm>
            <a:off x="3406140" y="5806440"/>
            <a:ext cx="2560320" cy="246888"/>
          </a:xfrm>
          <a:prstGeom prst="rect">
            <a:avLst/>
          </a:prstGeom>
          <a:noFill/>
          <a:ln/>
        </p:spPr>
        <p:txBody>
          <a:bodyPr wrap="square" lIns="0" tIns="0" rIns="0" bIns="0" rtlCol="0" anchor="t"/>
          <a:lstStyle/>
          <a:p>
            <a:pPr algn="ctr" indent="0" marL="0">
              <a:buNone/>
            </a:pPr>
            <a:r>
              <a:rPr lang="en-US" sz="1200" dirty="0">
                <a:solidFill>
                  <a:srgbClr val="746C85"/>
                </a:solidFill>
                <a:latin typeface="Arial" pitchFamily="34" charset="0"/>
                <a:ea typeface="Arial" pitchFamily="34" charset="-122"/>
                <a:cs typeface="Arial" pitchFamily="34" charset="-120"/>
              </a:rPr>
              <a:t>Light halos on edges</a:t>
            </a:r>
            <a:endParaRPr lang="en-US" sz="1200" dirty="0"/>
          </a:p>
        </p:txBody>
      </p:sp>
      <p:sp>
        <p:nvSpPr>
          <p:cNvPr id="18" name="Shape 13"/>
          <p:cNvSpPr/>
          <p:nvPr/>
        </p:nvSpPr>
        <p:spPr>
          <a:xfrm>
            <a:off x="6172200" y="1984248"/>
            <a:ext cx="2651760" cy="3611880"/>
          </a:xfrm>
          <a:prstGeom prst="roundRect">
            <a:avLst>
              <a:gd name="adj" fmla="val 5172"/>
            </a:avLst>
          </a:prstGeom>
          <a:solidFill>
            <a:srgbClr val="FFFFFF"/>
          </a:solidFill>
          <a:ln w="12700">
            <a:solidFill>
              <a:srgbClr val="FFFFFF"/>
            </a:solidFill>
            <a:prstDash val="solid"/>
          </a:ln>
        </p:spPr>
      </p:sp>
      <p:sp>
        <p:nvSpPr>
          <p:cNvPr id="19" name="Text 14"/>
          <p:cNvSpPr/>
          <p:nvPr/>
        </p:nvSpPr>
        <p:spPr>
          <a:xfrm>
            <a:off x="6336792" y="2167128"/>
            <a:ext cx="2322576" cy="292608"/>
          </a:xfrm>
          <a:prstGeom prst="rect">
            <a:avLst/>
          </a:prstGeom>
          <a:noFill/>
          <a:ln/>
        </p:spPr>
        <p:txBody>
          <a:bodyPr wrap="square" lIns="0" tIns="0" rIns="0" bIns="0" rtlCol="0" anchor="t"/>
          <a:lstStyle/>
          <a:p>
            <a:pPr indent="0" marL="0">
              <a:buNone/>
            </a:pPr>
            <a:r>
              <a:rPr lang="en-US" sz="1800" b="1" dirty="0">
                <a:solidFill>
                  <a:srgbClr val="241C3F"/>
                </a:solidFill>
                <a:latin typeface="Arial" pitchFamily="34" charset="0"/>
                <a:ea typeface="Arial" pitchFamily="34" charset="-122"/>
                <a:cs typeface="Arial" pitchFamily="34" charset="-120"/>
              </a:rPr>
              <a:t>JPEG Q40</a:t>
            </a:r>
            <a:endParaRPr lang="en-US" sz="1800" dirty="0"/>
          </a:p>
        </p:txBody>
      </p:sp>
      <p:pic>
        <p:nvPicPr>
          <p:cNvPr id="20" name="Image 2" descr="/home/nuras/Documents/AITU/endterm/assignment4/presentation/assets/crop-2.png">    </p:cNvPr>
          <p:cNvPicPr>
            <a:picLocks noChangeAspect="1"/>
          </p:cNvPicPr>
          <p:nvPr/>
        </p:nvPicPr>
        <p:blipFill>
          <a:blip r:embed="rId3"/>
          <a:stretch>
            <a:fillRect/>
          </a:stretch>
        </p:blipFill>
        <p:spPr>
          <a:xfrm>
            <a:off x="6327648" y="2724912"/>
            <a:ext cx="2340864" cy="2340864"/>
          </a:xfrm>
          <a:prstGeom prst="rect">
            <a:avLst/>
          </a:prstGeom>
        </p:spPr>
      </p:pic>
      <p:sp>
        <p:nvSpPr>
          <p:cNvPr id="21" name="Text 15"/>
          <p:cNvSpPr/>
          <p:nvPr/>
        </p:nvSpPr>
        <p:spPr>
          <a:xfrm>
            <a:off x="6336792" y="5285232"/>
            <a:ext cx="2322576" cy="201168"/>
          </a:xfrm>
          <a:prstGeom prst="rect">
            <a:avLst/>
          </a:prstGeom>
          <a:noFill/>
          <a:ln/>
        </p:spPr>
        <p:txBody>
          <a:bodyPr wrap="square" lIns="0" tIns="0" rIns="0" bIns="0" rtlCol="0" anchor="t"/>
          <a:lstStyle/>
          <a:p>
            <a:pPr indent="0" marL="0">
              <a:buNone/>
            </a:pPr>
            <a:r>
              <a:rPr lang="en-US" sz="1250" b="1" dirty="0">
                <a:solidFill>
                  <a:srgbClr val="6540DB"/>
                </a:solidFill>
                <a:latin typeface="Arial" pitchFamily="34" charset="0"/>
                <a:ea typeface="Arial" pitchFamily="34" charset="-122"/>
                <a:cs typeface="Arial" pitchFamily="34" charset="-120"/>
              </a:rPr>
              <a:t>16.49 KiB</a:t>
            </a:r>
            <a:endParaRPr lang="en-US" sz="1250" dirty="0"/>
          </a:p>
        </p:txBody>
      </p:sp>
      <p:sp>
        <p:nvSpPr>
          <p:cNvPr id="22" name="Text 16"/>
          <p:cNvSpPr/>
          <p:nvPr/>
        </p:nvSpPr>
        <p:spPr>
          <a:xfrm>
            <a:off x="6217920" y="5806440"/>
            <a:ext cx="2560320" cy="246888"/>
          </a:xfrm>
          <a:prstGeom prst="rect">
            <a:avLst/>
          </a:prstGeom>
          <a:noFill/>
          <a:ln/>
        </p:spPr>
        <p:txBody>
          <a:bodyPr wrap="square" lIns="0" tIns="0" rIns="0" bIns="0" rtlCol="0" anchor="t"/>
          <a:lstStyle/>
          <a:p>
            <a:pPr algn="ctr" indent="0" marL="0">
              <a:buNone/>
            </a:pPr>
            <a:r>
              <a:rPr lang="en-US" sz="1200" dirty="0">
                <a:solidFill>
                  <a:srgbClr val="746C85"/>
                </a:solidFill>
                <a:latin typeface="Arial" pitchFamily="34" charset="0"/>
                <a:ea typeface="Arial" pitchFamily="34" charset="-122"/>
                <a:cs typeface="Arial" pitchFamily="34" charset="-120"/>
              </a:rPr>
              <a:t>More obvious ringing</a:t>
            </a:r>
            <a:endParaRPr lang="en-US" sz="1200" dirty="0"/>
          </a:p>
        </p:txBody>
      </p:sp>
      <p:sp>
        <p:nvSpPr>
          <p:cNvPr id="23" name="Shape 17"/>
          <p:cNvSpPr/>
          <p:nvPr/>
        </p:nvSpPr>
        <p:spPr>
          <a:xfrm>
            <a:off x="8983980" y="1984248"/>
            <a:ext cx="2651760" cy="3611880"/>
          </a:xfrm>
          <a:prstGeom prst="roundRect">
            <a:avLst>
              <a:gd name="adj" fmla="val 5172"/>
            </a:avLst>
          </a:prstGeom>
          <a:solidFill>
            <a:srgbClr val="FFFFFF"/>
          </a:solidFill>
          <a:ln w="12700">
            <a:solidFill>
              <a:srgbClr val="FFFFFF"/>
            </a:solidFill>
            <a:prstDash val="solid"/>
          </a:ln>
        </p:spPr>
      </p:sp>
      <p:sp>
        <p:nvSpPr>
          <p:cNvPr id="24" name="Text 18"/>
          <p:cNvSpPr/>
          <p:nvPr/>
        </p:nvSpPr>
        <p:spPr>
          <a:xfrm>
            <a:off x="9148572" y="2167128"/>
            <a:ext cx="2322576" cy="292608"/>
          </a:xfrm>
          <a:prstGeom prst="rect">
            <a:avLst/>
          </a:prstGeom>
          <a:noFill/>
          <a:ln/>
        </p:spPr>
        <p:txBody>
          <a:bodyPr wrap="square" lIns="0" tIns="0" rIns="0" bIns="0" rtlCol="0" anchor="t"/>
          <a:lstStyle/>
          <a:p>
            <a:pPr indent="0" marL="0">
              <a:buNone/>
            </a:pPr>
            <a:r>
              <a:rPr lang="en-US" sz="1800" b="1" dirty="0">
                <a:solidFill>
                  <a:srgbClr val="241C3F"/>
                </a:solidFill>
                <a:latin typeface="Arial" pitchFamily="34" charset="0"/>
                <a:ea typeface="Arial" pitchFamily="34" charset="-122"/>
                <a:cs typeface="Arial" pitchFamily="34" charset="-120"/>
              </a:rPr>
              <a:t>WebP Q80</a:t>
            </a:r>
            <a:endParaRPr lang="en-US" sz="1800" dirty="0"/>
          </a:p>
        </p:txBody>
      </p:sp>
      <p:pic>
        <p:nvPicPr>
          <p:cNvPr id="25" name="Image 3" descr="/home/nuras/Documents/AITU/endterm/assignment4/presentation/assets/crop-3.png">    </p:cNvPr>
          <p:cNvPicPr>
            <a:picLocks noChangeAspect="1"/>
          </p:cNvPicPr>
          <p:nvPr/>
        </p:nvPicPr>
        <p:blipFill>
          <a:blip r:embed="rId4"/>
          <a:stretch>
            <a:fillRect/>
          </a:stretch>
        </p:blipFill>
        <p:spPr>
          <a:xfrm>
            <a:off x="9139428" y="2724912"/>
            <a:ext cx="2340864" cy="2340864"/>
          </a:xfrm>
          <a:prstGeom prst="rect">
            <a:avLst/>
          </a:prstGeom>
        </p:spPr>
      </p:pic>
      <p:sp>
        <p:nvSpPr>
          <p:cNvPr id="26" name="Text 19"/>
          <p:cNvSpPr/>
          <p:nvPr/>
        </p:nvSpPr>
        <p:spPr>
          <a:xfrm>
            <a:off x="9148572" y="5285232"/>
            <a:ext cx="2322576" cy="201168"/>
          </a:xfrm>
          <a:prstGeom prst="rect">
            <a:avLst/>
          </a:prstGeom>
          <a:noFill/>
          <a:ln/>
        </p:spPr>
        <p:txBody>
          <a:bodyPr wrap="square" lIns="0" tIns="0" rIns="0" bIns="0" rtlCol="0" anchor="t"/>
          <a:lstStyle/>
          <a:p>
            <a:pPr indent="0" marL="0">
              <a:buNone/>
            </a:pPr>
            <a:r>
              <a:rPr lang="en-US" sz="1250" b="1" dirty="0">
                <a:solidFill>
                  <a:srgbClr val="6540DB"/>
                </a:solidFill>
                <a:latin typeface="Arial" pitchFamily="34" charset="0"/>
                <a:ea typeface="Arial" pitchFamily="34" charset="-122"/>
                <a:cs typeface="Arial" pitchFamily="34" charset="-120"/>
              </a:rPr>
              <a:t>15.75 KiB</a:t>
            </a:r>
            <a:endParaRPr lang="en-US" sz="1250" dirty="0"/>
          </a:p>
        </p:txBody>
      </p:sp>
      <p:sp>
        <p:nvSpPr>
          <p:cNvPr id="27" name="Text 20"/>
          <p:cNvSpPr/>
          <p:nvPr/>
        </p:nvSpPr>
        <p:spPr>
          <a:xfrm>
            <a:off x="9029700" y="5806440"/>
            <a:ext cx="2560320" cy="246888"/>
          </a:xfrm>
          <a:prstGeom prst="rect">
            <a:avLst/>
          </a:prstGeom>
          <a:noFill/>
          <a:ln/>
        </p:spPr>
        <p:txBody>
          <a:bodyPr wrap="square" lIns="0" tIns="0" rIns="0" bIns="0" rtlCol="0" anchor="t"/>
          <a:lstStyle/>
          <a:p>
            <a:pPr algn="ctr" indent="0" marL="0">
              <a:buNone/>
            </a:pPr>
            <a:r>
              <a:rPr lang="en-US" sz="1200" dirty="0">
                <a:solidFill>
                  <a:srgbClr val="746C85"/>
                </a:solidFill>
                <a:latin typeface="Arial" pitchFamily="34" charset="0"/>
                <a:ea typeface="Arial" pitchFamily="34" charset="-122"/>
                <a:cs typeface="Arial" pitchFamily="34" charset="-120"/>
              </a:rPr>
              <a:t>Readable UI details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B"/>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6540DB"/>
                </a:solidFill>
                <a:latin typeface="Arial" pitchFamily="34" charset="0"/>
                <a:ea typeface="Arial" pitchFamily="34" charset="-122"/>
                <a:cs typeface="Arial" pitchFamily="34" charset="-120"/>
              </a:rPr>
              <a:t>A2 / OUR FORMAT CHOICES</a:t>
            </a:r>
            <a:endParaRPr lang="en-US" sz="1050" dirty="0"/>
          </a:p>
        </p:txBody>
      </p:sp>
      <p:sp>
        <p:nvSpPr>
          <p:cNvPr id="3" name="Text 1"/>
          <p:cNvSpPr/>
          <p:nvPr/>
        </p:nvSpPr>
        <p:spPr>
          <a:xfrm>
            <a:off x="530352" y="795528"/>
            <a:ext cx="11109960" cy="594360"/>
          </a:xfrm>
          <a:prstGeom prst="rect">
            <a:avLst/>
          </a:prstGeom>
          <a:noFill/>
          <a:ln/>
        </p:spPr>
        <p:txBody>
          <a:bodyPr wrap="square" lIns="0" tIns="0" rIns="0" bIns="0" rtlCol="0" anchor="t"/>
          <a:lstStyle/>
          <a:p>
            <a:pPr indent="0" marL="0">
              <a:buNone/>
            </a:pPr>
            <a:r>
              <a:rPr lang="en-US" sz="3300" b="1" dirty="0">
                <a:solidFill>
                  <a:srgbClr val="241C3F"/>
                </a:solidFill>
                <a:latin typeface="Arial" pitchFamily="34" charset="0"/>
                <a:ea typeface="Arial" pitchFamily="34" charset="-122"/>
                <a:cs typeface="Arial" pitchFamily="34" charset="-120"/>
              </a:rPr>
              <a:t>Smaller files. Same screen dimensions.</a:t>
            </a:r>
            <a:endParaRPr lang="en-US" sz="3300" dirty="0"/>
          </a:p>
        </p:txBody>
      </p:sp>
      <p:sp>
        <p:nvSpPr>
          <p:cNvPr id="4" name="Text 2"/>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746C85"/>
                </a:solidFill>
                <a:latin typeface="Arial" pitchFamily="34" charset="0"/>
                <a:ea typeface="Arial" pitchFamily="34" charset="-122"/>
                <a:cs typeface="Arial" pitchFamily="34" charset="-120"/>
              </a:rPr>
              <a:t>MY AITU  /  ICT ASSIGNMENT 4</a:t>
            </a:r>
            <a:endParaRPr lang="en-US" sz="930" dirty="0"/>
          </a:p>
        </p:txBody>
      </p:sp>
      <p:sp>
        <p:nvSpPr>
          <p:cNvPr id="5" name="Text 3"/>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746C85"/>
                </a:solidFill>
                <a:latin typeface="Arial" pitchFamily="34" charset="0"/>
                <a:ea typeface="Arial" pitchFamily="34" charset="-122"/>
                <a:cs typeface="Arial" pitchFamily="34" charset="-120"/>
              </a:rPr>
              <a:t>06 / 19</a:t>
            </a:r>
            <a:endParaRPr lang="en-US" sz="930" dirty="0"/>
          </a:p>
        </p:txBody>
      </p:sp>
      <p:sp>
        <p:nvSpPr>
          <p:cNvPr id="7" name="Shape 4"/>
          <p:cNvSpPr/>
          <p:nvPr/>
        </p:nvSpPr>
        <p:spPr>
          <a:xfrm>
            <a:off x="548640" y="1783080"/>
            <a:ext cx="6428232" cy="4334256"/>
          </a:xfrm>
          <a:prstGeom prst="roundRect">
            <a:avLst>
              <a:gd name="adj" fmla="val 3165"/>
            </a:avLst>
          </a:prstGeom>
          <a:solidFill>
            <a:srgbClr val="FFFFFF"/>
          </a:solidFill>
          <a:ln w="12700">
            <a:solidFill>
              <a:srgbClr val="FFFFFF"/>
            </a:solidFill>
            <a:prstDash val="solid"/>
          </a:ln>
        </p:spPr>
      </p:sp>
      <p:sp>
        <p:nvSpPr>
          <p:cNvPr id="8" name="Text 5"/>
          <p:cNvSpPr/>
          <p:nvPr/>
        </p:nvSpPr>
        <p:spPr>
          <a:xfrm>
            <a:off x="804672" y="2039112"/>
            <a:ext cx="5852160" cy="283464"/>
          </a:xfrm>
          <a:prstGeom prst="rect">
            <a:avLst/>
          </a:prstGeom>
          <a:noFill/>
          <a:ln/>
        </p:spPr>
        <p:txBody>
          <a:bodyPr wrap="square" lIns="0" tIns="0" rIns="0" bIns="0" rtlCol="0" anchor="t"/>
          <a:lstStyle/>
          <a:p>
            <a:pPr indent="0" marL="0">
              <a:buNone/>
            </a:pPr>
            <a:r>
              <a:rPr lang="en-US" sz="1900" b="1" dirty="0">
                <a:solidFill>
                  <a:srgbClr val="241C3F"/>
                </a:solidFill>
                <a:latin typeface="Arial" pitchFamily="34" charset="0"/>
                <a:ea typeface="Arial" pitchFamily="34" charset="-122"/>
                <a:cs typeface="Arial" pitchFamily="34" charset="-120"/>
              </a:rPr>
              <a:t>Preview image size (KiB)</a:t>
            </a:r>
            <a:endParaRPr lang="en-US" sz="1900" dirty="0"/>
          </a:p>
        </p:txBody>
      </p:sp>
      <p:graphicFrame>
        <p:nvGraphicFramePr>
          <p:cNvPr id="9" name="Chart 0" descr=""/>
          <p:cNvGraphicFramePr/>
          <p:nvPr/>
        </p:nvGraphicFramePr>
        <p:xfrm>
          <a:off x="749808" y="2688336"/>
          <a:ext cx="5907024" cy="2441448"/>
        </p:xfrm>
        <a:graphic xmlns:a="http://schemas.openxmlformats.org/drawingml/2006/main">
          <a:graphicData uri="http://schemas.openxmlformats.org/drawingml/2006/chart">
            <c:chart xmlns:c="http://schemas.openxmlformats.org/drawingml/2006/chart" r:id="rId1"/>
          </a:graphicData>
        </a:graphic>
      </p:graphicFrame>
      <p:sp>
        <p:nvSpPr>
          <p:cNvPr id="10" name="Text 6"/>
          <p:cNvSpPr/>
          <p:nvPr/>
        </p:nvSpPr>
        <p:spPr>
          <a:xfrm>
            <a:off x="859536" y="5404104"/>
            <a:ext cx="5696712" cy="301752"/>
          </a:xfrm>
          <a:prstGeom prst="rect">
            <a:avLst/>
          </a:prstGeom>
          <a:noFill/>
          <a:ln/>
        </p:spPr>
        <p:txBody>
          <a:bodyPr wrap="square" lIns="0" tIns="0" rIns="0" bIns="0" rtlCol="0" anchor="t"/>
          <a:lstStyle/>
          <a:p>
            <a:pPr indent="0" marL="0">
              <a:buNone/>
            </a:pPr>
            <a:r>
              <a:rPr lang="en-US" sz="1900" b="1" dirty="0">
                <a:solidFill>
                  <a:srgbClr val="6540DB"/>
                </a:solidFill>
                <a:latin typeface="Arial" pitchFamily="34" charset="0"/>
                <a:ea typeface="Arial" pitchFamily="34" charset="-122"/>
                <a:cs typeface="Arial" pitchFamily="34" charset="-120"/>
              </a:rPr>
              <a:t>42.64 KiB saved per preview</a:t>
            </a:r>
            <a:endParaRPr lang="en-US" sz="1900" dirty="0"/>
          </a:p>
        </p:txBody>
      </p:sp>
      <p:sp>
        <p:nvSpPr>
          <p:cNvPr id="11" name="Shape 7"/>
          <p:cNvSpPr/>
          <p:nvPr/>
        </p:nvSpPr>
        <p:spPr>
          <a:xfrm>
            <a:off x="7379208" y="1865376"/>
            <a:ext cx="365760" cy="365760"/>
          </a:xfrm>
          <a:prstGeom prst="ellipse">
            <a:avLst/>
          </a:prstGeom>
          <a:solidFill>
            <a:srgbClr val="E9E1FC"/>
          </a:solidFill>
          <a:ln w="12700">
            <a:solidFill>
              <a:srgbClr val="E9E1FC"/>
            </a:solidFill>
            <a:prstDash val="solid"/>
          </a:ln>
        </p:spPr>
      </p:sp>
      <p:sp>
        <p:nvSpPr>
          <p:cNvPr id="12" name="Text 8"/>
          <p:cNvSpPr/>
          <p:nvPr/>
        </p:nvSpPr>
        <p:spPr>
          <a:xfrm>
            <a:off x="7488936" y="1938528"/>
            <a:ext cx="182880" cy="182880"/>
          </a:xfrm>
          <a:prstGeom prst="rect">
            <a:avLst/>
          </a:prstGeom>
          <a:noFill/>
          <a:ln/>
        </p:spPr>
        <p:txBody>
          <a:bodyPr wrap="square" lIns="0" tIns="0" rIns="0" bIns="0" rtlCol="0" anchor="t"/>
          <a:lstStyle/>
          <a:p>
            <a:pPr indent="0" marL="0">
              <a:buNone/>
            </a:pPr>
            <a:r>
              <a:rPr lang="en-US" sz="1200" b="1" dirty="0">
                <a:solidFill>
                  <a:srgbClr val="6540DB"/>
                </a:solidFill>
                <a:latin typeface="Arial" pitchFamily="34" charset="0"/>
                <a:ea typeface="Arial" pitchFamily="34" charset="-122"/>
                <a:cs typeface="Arial" pitchFamily="34" charset="-120"/>
              </a:rPr>
              <a:t>1</a:t>
            </a:r>
            <a:endParaRPr lang="en-US" sz="1200" dirty="0"/>
          </a:p>
        </p:txBody>
      </p:sp>
      <p:sp>
        <p:nvSpPr>
          <p:cNvPr id="13" name="Text 9"/>
          <p:cNvSpPr/>
          <p:nvPr/>
        </p:nvSpPr>
        <p:spPr>
          <a:xfrm>
            <a:off x="7936992" y="1865376"/>
            <a:ext cx="3703320" cy="310896"/>
          </a:xfrm>
          <a:prstGeom prst="rect">
            <a:avLst/>
          </a:prstGeom>
          <a:noFill/>
          <a:ln/>
        </p:spPr>
        <p:txBody>
          <a:bodyPr wrap="square" lIns="0" tIns="0" rIns="0" bIns="0" rtlCol="0" anchor="t"/>
          <a:lstStyle/>
          <a:p>
            <a:pPr indent="0" marL="0">
              <a:buNone/>
            </a:pPr>
            <a:r>
              <a:rPr lang="en-US" sz="2000" b="1" dirty="0">
                <a:solidFill>
                  <a:srgbClr val="241C3F"/>
                </a:solidFill>
                <a:latin typeface="Arial" pitchFamily="34" charset="0"/>
                <a:ea typeface="Arial" pitchFamily="34" charset="-122"/>
                <a:cs typeface="Arial" pitchFamily="34" charset="-120"/>
              </a:rPr>
              <a:t>WebP Q80</a:t>
            </a:r>
            <a:endParaRPr lang="en-US" sz="2000" dirty="0"/>
          </a:p>
        </p:txBody>
      </p:sp>
      <p:sp>
        <p:nvSpPr>
          <p:cNvPr id="14" name="Text 10"/>
          <p:cNvSpPr/>
          <p:nvPr/>
        </p:nvSpPr>
        <p:spPr>
          <a:xfrm>
            <a:off x="7936992" y="2313432"/>
            <a:ext cx="3575304" cy="585216"/>
          </a:xfrm>
          <a:prstGeom prst="rect">
            <a:avLst/>
          </a:prstGeom>
          <a:noFill/>
          <a:ln/>
        </p:spPr>
        <p:txBody>
          <a:bodyPr wrap="square" lIns="0" tIns="0" rIns="0" bIns="0" rtlCol="0" anchor="t"/>
          <a:lstStyle/>
          <a:p>
            <a:pPr indent="0" marL="0">
              <a:buNone/>
            </a:pPr>
            <a:r>
              <a:rPr lang="en-US" sz="1500" dirty="0">
                <a:solidFill>
                  <a:srgbClr val="746C85"/>
                </a:solidFill>
                <a:latin typeface="Arial" pitchFamily="34" charset="0"/>
                <a:ea typeface="Arial" pitchFamily="34" charset="-122"/>
                <a:cs typeface="Arial" pitchFamily="34" charset="-120"/>
              </a:rPr>
              <a:t>Use for the attendance preview.</a:t>
            </a:r>
            <a:endParaRPr lang="en-US" sz="1500" dirty="0"/>
          </a:p>
        </p:txBody>
      </p:sp>
      <p:sp>
        <p:nvSpPr>
          <p:cNvPr id="15" name="Shape 11"/>
          <p:cNvSpPr/>
          <p:nvPr/>
        </p:nvSpPr>
        <p:spPr>
          <a:xfrm>
            <a:off x="7379208" y="3145536"/>
            <a:ext cx="365760" cy="365760"/>
          </a:xfrm>
          <a:prstGeom prst="ellipse">
            <a:avLst/>
          </a:prstGeom>
          <a:solidFill>
            <a:srgbClr val="E9E1FC"/>
          </a:solidFill>
          <a:ln w="12700">
            <a:solidFill>
              <a:srgbClr val="E9E1FC"/>
            </a:solidFill>
            <a:prstDash val="solid"/>
          </a:ln>
        </p:spPr>
      </p:sp>
      <p:sp>
        <p:nvSpPr>
          <p:cNvPr id="16" name="Text 12"/>
          <p:cNvSpPr/>
          <p:nvPr/>
        </p:nvSpPr>
        <p:spPr>
          <a:xfrm>
            <a:off x="7488936" y="3218688"/>
            <a:ext cx="182880" cy="182880"/>
          </a:xfrm>
          <a:prstGeom prst="rect">
            <a:avLst/>
          </a:prstGeom>
          <a:noFill/>
          <a:ln/>
        </p:spPr>
        <p:txBody>
          <a:bodyPr wrap="square" lIns="0" tIns="0" rIns="0" bIns="0" rtlCol="0" anchor="t"/>
          <a:lstStyle/>
          <a:p>
            <a:pPr indent="0" marL="0">
              <a:buNone/>
            </a:pPr>
            <a:r>
              <a:rPr lang="en-US" sz="1200" b="1" dirty="0">
                <a:solidFill>
                  <a:srgbClr val="6540DB"/>
                </a:solidFill>
                <a:latin typeface="Arial" pitchFamily="34" charset="0"/>
                <a:ea typeface="Arial" pitchFamily="34" charset="-122"/>
                <a:cs typeface="Arial" pitchFamily="34" charset="-120"/>
              </a:rPr>
              <a:t>2</a:t>
            </a:r>
            <a:endParaRPr lang="en-US" sz="1200" dirty="0"/>
          </a:p>
        </p:txBody>
      </p:sp>
      <p:sp>
        <p:nvSpPr>
          <p:cNvPr id="17" name="Text 13"/>
          <p:cNvSpPr/>
          <p:nvPr/>
        </p:nvSpPr>
        <p:spPr>
          <a:xfrm>
            <a:off x="7936992" y="3145536"/>
            <a:ext cx="3703320" cy="310896"/>
          </a:xfrm>
          <a:prstGeom prst="rect">
            <a:avLst/>
          </a:prstGeom>
          <a:noFill/>
          <a:ln/>
        </p:spPr>
        <p:txBody>
          <a:bodyPr wrap="square" lIns="0" tIns="0" rIns="0" bIns="0" rtlCol="0" anchor="t"/>
          <a:lstStyle/>
          <a:p>
            <a:pPr indent="0" marL="0">
              <a:buNone/>
            </a:pPr>
            <a:r>
              <a:rPr lang="en-US" sz="2000" b="1" dirty="0">
                <a:solidFill>
                  <a:srgbClr val="241C3F"/>
                </a:solidFill>
                <a:latin typeface="Arial" pitchFamily="34" charset="0"/>
                <a:ea typeface="Arial" pitchFamily="34" charset="-122"/>
                <a:cs typeface="Arial" pitchFamily="34" charset="-120"/>
              </a:rPr>
              <a:t>PNG</a:t>
            </a:r>
            <a:endParaRPr lang="en-US" sz="2000" dirty="0"/>
          </a:p>
        </p:txBody>
      </p:sp>
      <p:sp>
        <p:nvSpPr>
          <p:cNvPr id="18" name="Text 14"/>
          <p:cNvSpPr/>
          <p:nvPr/>
        </p:nvSpPr>
        <p:spPr>
          <a:xfrm>
            <a:off x="7936992" y="3593592"/>
            <a:ext cx="3575304" cy="585216"/>
          </a:xfrm>
          <a:prstGeom prst="rect">
            <a:avLst/>
          </a:prstGeom>
          <a:noFill/>
          <a:ln/>
        </p:spPr>
        <p:txBody>
          <a:bodyPr wrap="square" lIns="0" tIns="0" rIns="0" bIns="0" rtlCol="0" anchor="t"/>
          <a:lstStyle/>
          <a:p>
            <a:pPr indent="0" marL="0">
              <a:buNone/>
            </a:pPr>
            <a:r>
              <a:rPr lang="en-US" sz="1500" dirty="0">
                <a:solidFill>
                  <a:srgbClr val="746C85"/>
                </a:solidFill>
                <a:latin typeface="Arial" pitchFamily="34" charset="0"/>
                <a:ea typeface="Arial" pitchFamily="34" charset="-122"/>
                <a:cs typeface="Arial" pitchFamily="34" charset="-120"/>
              </a:rPr>
              <a:t>Retain the lossless evidence image.</a:t>
            </a:r>
            <a:endParaRPr lang="en-US" sz="1500" dirty="0"/>
          </a:p>
        </p:txBody>
      </p:sp>
      <p:sp>
        <p:nvSpPr>
          <p:cNvPr id="19" name="Shape 15"/>
          <p:cNvSpPr/>
          <p:nvPr/>
        </p:nvSpPr>
        <p:spPr>
          <a:xfrm>
            <a:off x="7379208" y="4425696"/>
            <a:ext cx="365760" cy="365760"/>
          </a:xfrm>
          <a:prstGeom prst="ellipse">
            <a:avLst/>
          </a:prstGeom>
          <a:solidFill>
            <a:srgbClr val="E9E1FC"/>
          </a:solidFill>
          <a:ln w="12700">
            <a:solidFill>
              <a:srgbClr val="E9E1FC"/>
            </a:solidFill>
            <a:prstDash val="solid"/>
          </a:ln>
        </p:spPr>
      </p:sp>
      <p:sp>
        <p:nvSpPr>
          <p:cNvPr id="20" name="Text 16"/>
          <p:cNvSpPr/>
          <p:nvPr/>
        </p:nvSpPr>
        <p:spPr>
          <a:xfrm>
            <a:off x="7488936" y="4498848"/>
            <a:ext cx="182880" cy="182880"/>
          </a:xfrm>
          <a:prstGeom prst="rect">
            <a:avLst/>
          </a:prstGeom>
          <a:noFill/>
          <a:ln/>
        </p:spPr>
        <p:txBody>
          <a:bodyPr wrap="square" lIns="0" tIns="0" rIns="0" bIns="0" rtlCol="0" anchor="t"/>
          <a:lstStyle/>
          <a:p>
            <a:pPr indent="0" marL="0">
              <a:buNone/>
            </a:pPr>
            <a:r>
              <a:rPr lang="en-US" sz="1200" b="1" dirty="0">
                <a:solidFill>
                  <a:srgbClr val="6540DB"/>
                </a:solidFill>
                <a:latin typeface="Arial" pitchFamily="34" charset="0"/>
                <a:ea typeface="Arial" pitchFamily="34" charset="-122"/>
                <a:cs typeface="Arial" pitchFamily="34" charset="-120"/>
              </a:rPr>
              <a:t>3</a:t>
            </a:r>
            <a:endParaRPr lang="en-US" sz="1200" dirty="0"/>
          </a:p>
        </p:txBody>
      </p:sp>
      <p:sp>
        <p:nvSpPr>
          <p:cNvPr id="21" name="Text 17"/>
          <p:cNvSpPr/>
          <p:nvPr/>
        </p:nvSpPr>
        <p:spPr>
          <a:xfrm>
            <a:off x="7936992" y="4425696"/>
            <a:ext cx="3703320" cy="310896"/>
          </a:xfrm>
          <a:prstGeom prst="rect">
            <a:avLst/>
          </a:prstGeom>
          <a:noFill/>
          <a:ln/>
        </p:spPr>
        <p:txBody>
          <a:bodyPr wrap="square" lIns="0" tIns="0" rIns="0" bIns="0" rtlCol="0" anchor="t"/>
          <a:lstStyle/>
          <a:p>
            <a:pPr indent="0" marL="0">
              <a:buNone/>
            </a:pPr>
            <a:r>
              <a:rPr lang="en-US" sz="2000" b="1" dirty="0">
                <a:solidFill>
                  <a:srgbClr val="241C3F"/>
                </a:solidFill>
                <a:latin typeface="Arial" pitchFamily="34" charset="0"/>
                <a:ea typeface="Arial" pitchFamily="34" charset="-122"/>
                <a:cs typeface="Arial" pitchFamily="34" charset="-120"/>
              </a:rPr>
              <a:t>Inline SVG + CSS</a:t>
            </a:r>
            <a:endParaRPr lang="en-US" sz="2000" dirty="0"/>
          </a:p>
        </p:txBody>
      </p:sp>
      <p:sp>
        <p:nvSpPr>
          <p:cNvPr id="22" name="Text 18"/>
          <p:cNvSpPr/>
          <p:nvPr/>
        </p:nvSpPr>
        <p:spPr>
          <a:xfrm>
            <a:off x="7936992" y="4873752"/>
            <a:ext cx="3575304" cy="585216"/>
          </a:xfrm>
          <a:prstGeom prst="rect">
            <a:avLst/>
          </a:prstGeom>
          <a:noFill/>
          <a:ln/>
        </p:spPr>
        <p:txBody>
          <a:bodyPr wrap="square" lIns="0" tIns="0" rIns="0" bIns="0" rtlCol="0" anchor="t"/>
          <a:lstStyle/>
          <a:p>
            <a:pPr indent="0" marL="0">
              <a:buNone/>
            </a:pPr>
            <a:r>
              <a:rPr lang="en-US" sz="1500" dirty="0">
                <a:solidFill>
                  <a:srgbClr val="746C85"/>
                </a:solidFill>
                <a:latin typeface="Arial" pitchFamily="34" charset="0"/>
                <a:ea typeface="Arial" pitchFamily="34" charset="-122"/>
                <a:cs typeface="Arial" pitchFamily="34" charset="-120"/>
              </a:rPr>
              <a:t>Use vectors for icons and CSS for motion.</a:t>
            </a:r>
            <a:endParaRPr lang="en-US" sz="1500" dirty="0"/>
          </a:p>
        </p:txBody>
      </p:sp>
      <p:sp>
        <p:nvSpPr>
          <p:cNvPr id="23" name="Text 19"/>
          <p:cNvSpPr/>
          <p:nvPr/>
        </p:nvSpPr>
        <p:spPr>
          <a:xfrm>
            <a:off x="7388352" y="5751576"/>
            <a:ext cx="4160520" cy="329184"/>
          </a:xfrm>
          <a:prstGeom prst="rect">
            <a:avLst/>
          </a:prstGeom>
          <a:noFill/>
          <a:ln/>
        </p:spPr>
        <p:txBody>
          <a:bodyPr wrap="square" lIns="0" tIns="0" rIns="0" bIns="0" rtlCol="0" anchor="t"/>
          <a:lstStyle/>
          <a:p>
            <a:pPr indent="0" marL="0">
              <a:buNone/>
            </a:pPr>
            <a:r>
              <a:rPr lang="en-US" sz="1200" dirty="0">
                <a:solidFill>
                  <a:srgbClr val="746C85"/>
                </a:solidFill>
                <a:latin typeface="Arial" pitchFamily="34" charset="0"/>
                <a:ea typeface="Arial" pitchFamily="34" charset="-122"/>
                <a:cs typeface="Arial" pitchFamily="34" charset="-120"/>
              </a:rPr>
              <a:t>File-size reduction does not prove faster network loading.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B"/>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6540DB"/>
                </a:solidFill>
                <a:latin typeface="Arial" pitchFamily="34" charset="0"/>
                <a:ea typeface="Arial" pitchFamily="34" charset="-122"/>
                <a:cs typeface="Arial" pitchFamily="34" charset="-120"/>
              </a:rPr>
              <a:t>B1 / INTERFACE ICONS</a:t>
            </a:r>
            <a:endParaRPr lang="en-US" sz="1050" dirty="0"/>
          </a:p>
        </p:txBody>
      </p:sp>
      <p:sp>
        <p:nvSpPr>
          <p:cNvPr id="3" name="Text 1"/>
          <p:cNvSpPr/>
          <p:nvPr/>
        </p:nvSpPr>
        <p:spPr>
          <a:xfrm>
            <a:off x="530352" y="795528"/>
            <a:ext cx="11109960" cy="594360"/>
          </a:xfrm>
          <a:prstGeom prst="rect">
            <a:avLst/>
          </a:prstGeom>
          <a:noFill/>
          <a:ln/>
        </p:spPr>
        <p:txBody>
          <a:bodyPr wrap="square" lIns="0" tIns="0" rIns="0" bIns="0" rtlCol="0" anchor="t"/>
          <a:lstStyle/>
          <a:p>
            <a:pPr indent="0" marL="0">
              <a:buNone/>
            </a:pPr>
            <a:r>
              <a:rPr lang="en-US" sz="3300" b="1" dirty="0">
                <a:solidFill>
                  <a:srgbClr val="241C3F"/>
                </a:solidFill>
                <a:latin typeface="Arial" pitchFamily="34" charset="0"/>
                <a:ea typeface="Arial" pitchFamily="34" charset="-122"/>
                <a:cs typeface="Arial" pitchFamily="34" charset="-120"/>
              </a:rPr>
              <a:t>18 icons. One HTML response.</a:t>
            </a:r>
            <a:endParaRPr lang="en-US" sz="3300" dirty="0"/>
          </a:p>
        </p:txBody>
      </p:sp>
      <p:sp>
        <p:nvSpPr>
          <p:cNvPr id="4" name="Text 2"/>
          <p:cNvSpPr/>
          <p:nvPr/>
        </p:nvSpPr>
        <p:spPr>
          <a:xfrm>
            <a:off x="548640" y="1481328"/>
            <a:ext cx="11000232" cy="365760"/>
          </a:xfrm>
          <a:prstGeom prst="rect">
            <a:avLst/>
          </a:prstGeom>
          <a:noFill/>
          <a:ln/>
        </p:spPr>
        <p:txBody>
          <a:bodyPr wrap="square" lIns="0" tIns="0" rIns="0" bIns="0" rtlCol="0" anchor="t"/>
          <a:lstStyle/>
          <a:p>
            <a:pPr indent="0" marL="0">
              <a:buNone/>
            </a:pPr>
            <a:r>
              <a:rPr lang="en-US" sz="1400" dirty="0">
                <a:solidFill>
                  <a:srgbClr val="746C85"/>
                </a:solidFill>
                <a:latin typeface="Arial" pitchFamily="34" charset="0"/>
                <a:ea typeface="Arial" pitchFamily="34" charset="-122"/>
                <a:cs typeface="Arial" pitchFamily="34" charset="-120"/>
              </a:rPr>
              <a:t>Inline SVG markup is embedded in the page; the values below are source bytes, not separate downloads.</a:t>
            </a:r>
            <a:endParaRPr lang="en-US" sz="1400" dirty="0"/>
          </a:p>
        </p:txBody>
      </p:sp>
      <p:sp>
        <p:nvSpPr>
          <p:cNvPr id="5" name="Text 3"/>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746C85"/>
                </a:solidFill>
                <a:latin typeface="Arial" pitchFamily="34" charset="0"/>
                <a:ea typeface="Arial" pitchFamily="34" charset="-122"/>
                <a:cs typeface="Arial" pitchFamily="34" charset="-120"/>
              </a:rPr>
              <a:t>MY AITU  /  ICT ASSIGNMENT 4</a:t>
            </a:r>
            <a:endParaRPr lang="en-US" sz="930" dirty="0"/>
          </a:p>
        </p:txBody>
      </p:sp>
      <p:sp>
        <p:nvSpPr>
          <p:cNvPr id="6" name="Text 4"/>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746C85"/>
                </a:solidFill>
                <a:latin typeface="Arial" pitchFamily="34" charset="0"/>
                <a:ea typeface="Arial" pitchFamily="34" charset="-122"/>
                <a:cs typeface="Arial" pitchFamily="34" charset="-120"/>
              </a:rPr>
              <a:t>07 / 19</a:t>
            </a:r>
            <a:endParaRPr lang="en-US" sz="93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394960" cy="3575304"/>
        </p:xfrm>
        <a:graphic>
          <a:graphicData uri="http://schemas.openxmlformats.org/drawingml/2006/table">
            <a:tbl>
              <a:tblPr/>
              <a:tblGrid>
                <a:gridCol w="1828800"/>
                <a:gridCol w="2697480"/>
                <a:gridCol w="868680"/>
              </a:tblGrid>
              <a:tr h="357530">
                <a:tc>
                  <a:txBody>
                    <a:bodyPr/>
                    <a:lstStyle/>
                    <a:p>
                      <a:pPr indent="0" marL="0">
                        <a:buNone/>
                      </a:pPr>
                      <a:r>
                        <a:rPr lang="en-US" sz="1240" b="1" dirty="0">
                          <a:solidFill>
                            <a:srgbClr val="FFFFFF"/>
                          </a:solidFill>
                          <a:latin typeface="Arial" pitchFamily="34" charset="0"/>
                          <a:ea typeface="Arial" pitchFamily="34" charset="-122"/>
                          <a:cs typeface="Arial" pitchFamily="34" charset="-120"/>
                        </a:rPr>
                        <a:t>ASSET</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240" b="1" dirty="0">
                          <a:solidFill>
                            <a:srgbClr val="FFFFFF"/>
                          </a:solidFill>
                          <a:latin typeface="Arial" pitchFamily="34" charset="0"/>
                          <a:ea typeface="Arial" pitchFamily="34" charset="-122"/>
                          <a:cs typeface="Arial" pitchFamily="34" charset="-120"/>
                        </a:rPr>
                        <a:t>WHERE USED</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240" b="1" dirty="0">
                          <a:solidFill>
                            <a:srgbClr val="FFFFFF"/>
                          </a:solidFill>
                          <a:latin typeface="Arial" pitchFamily="34" charset="0"/>
                          <a:ea typeface="Arial" pitchFamily="34" charset="-122"/>
                          <a:cs typeface="Arial" pitchFamily="34" charset="-120"/>
                        </a:rPr>
                        <a:t>BYTES</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3 · Book</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Courses / nav</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740</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4 · Calendar</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Tasks / attendance</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1,162</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5 · Graduation</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Grades</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857</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6 · User</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Account</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869</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7 · Menu</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Navigation</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561</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8 · Close</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Navigation</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441</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9 · Down</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Account menu</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391</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10 · Sign-out</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Account menu</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906</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11 · Refresh</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Reload</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945</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245352" y="2011680"/>
          <a:ext cx="5394960" cy="3575304"/>
        </p:xfrm>
        <a:graphic>
          <a:graphicData uri="http://schemas.openxmlformats.org/drawingml/2006/table">
            <a:tbl>
              <a:tblPr/>
              <a:tblGrid>
                <a:gridCol w="1828800"/>
                <a:gridCol w="2697480"/>
                <a:gridCol w="868680"/>
              </a:tblGrid>
              <a:tr h="357530">
                <a:tc>
                  <a:txBody>
                    <a:bodyPr/>
                    <a:lstStyle/>
                    <a:p>
                      <a:pPr indent="0" marL="0">
                        <a:buNone/>
                      </a:pPr>
                      <a:r>
                        <a:rPr lang="en-US" sz="1240" b="1" dirty="0">
                          <a:solidFill>
                            <a:srgbClr val="FFFFFF"/>
                          </a:solidFill>
                          <a:latin typeface="Arial" pitchFamily="34" charset="0"/>
                          <a:ea typeface="Arial" pitchFamily="34" charset="-122"/>
                          <a:cs typeface="Arial" pitchFamily="34" charset="-120"/>
                        </a:rPr>
                        <a:t>ASSET</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240" b="1" dirty="0">
                          <a:solidFill>
                            <a:srgbClr val="FFFFFF"/>
                          </a:solidFill>
                          <a:latin typeface="Arial" pitchFamily="34" charset="0"/>
                          <a:ea typeface="Arial" pitchFamily="34" charset="-122"/>
                          <a:cs typeface="Arial" pitchFamily="34" charset="-120"/>
                        </a:rPr>
                        <a:t>WHERE USED</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240" b="1" dirty="0">
                          <a:solidFill>
                            <a:srgbClr val="FFFFFF"/>
                          </a:solidFill>
                          <a:latin typeface="Arial" pitchFamily="34" charset="0"/>
                          <a:ea typeface="Arial" pitchFamily="34" charset="-122"/>
                          <a:cs typeface="Arial" pitchFamily="34" charset="-120"/>
                        </a:rPr>
                        <a:t>BYTES</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12 · Search</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Course search</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669</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13 · Eye</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Password visibility</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935</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14 · Check</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Attendance</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366</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15 · Absent</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Attendance</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442</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16 · Clock</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Attendance time</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777</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17 · Minus</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Unmarked status</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284</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18 · Left arrow</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Previous month</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416</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19 · Next arrow</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Next month</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404</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357530">
                <a:tc>
                  <a:txBody>
                    <a:bodyPr/>
                    <a:lstStyle/>
                    <a:p>
                      <a:pPr indent="0" marL="0">
                        <a:buNone/>
                      </a:pPr>
                      <a:r>
                        <a:rPr lang="en-US" sz="1240" b="1" dirty="0">
                          <a:solidFill>
                            <a:srgbClr val="241C3F"/>
                          </a:solidFill>
                          <a:latin typeface="Arial" pitchFamily="34" charset="0"/>
                          <a:ea typeface="Arial" pitchFamily="34" charset="-122"/>
                          <a:cs typeface="Arial" pitchFamily="34" charset="-120"/>
                        </a:rPr>
                        <a:t>20 · List</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Attendance status</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40" dirty="0">
                          <a:solidFill>
                            <a:srgbClr val="241C3F"/>
                          </a:solidFill>
                          <a:latin typeface="Arial" pitchFamily="34" charset="0"/>
                          <a:ea typeface="Arial" pitchFamily="34" charset="-122"/>
                          <a:cs typeface="Arial" pitchFamily="34" charset="-120"/>
                        </a:rPr>
                        <a:t>1,010</a:t>
                      </a:r>
                      <a:endParaRPr lang="en-US" sz="124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bl>
          </a:graphicData>
        </a:graphic>
      </p:graphicFrame>
      <p:sp>
        <p:nvSpPr>
          <p:cNvPr id="10" name="Text 5"/>
          <p:cNvSpPr/>
          <p:nvPr/>
        </p:nvSpPr>
        <p:spPr>
          <a:xfrm>
            <a:off x="603504" y="5916168"/>
            <a:ext cx="10881360" cy="301752"/>
          </a:xfrm>
          <a:prstGeom prst="rect">
            <a:avLst/>
          </a:prstGeom>
          <a:noFill/>
          <a:ln/>
        </p:spPr>
        <p:txBody>
          <a:bodyPr wrap="square" lIns="0" tIns="0" rIns="0" bIns="0" rtlCol="0" anchor="t"/>
          <a:lstStyle/>
          <a:p>
            <a:pPr indent="0" marL="0">
              <a:buNone/>
            </a:pPr>
            <a:r>
              <a:rPr lang="en-US" sz="1140" dirty="0">
                <a:solidFill>
                  <a:srgbClr val="746C85"/>
                </a:solidFill>
                <a:latin typeface="Arial" pitchFamily="34" charset="0"/>
                <a:ea typeface="Arial" pitchFamily="34" charset="-122"/>
                <a:cs typeface="Arial" pitchFamily="34" charset="-120"/>
              </a:rPr>
              <a:t>Flaticon Uicons Regular Rounded  ·  SVG viewBox 300 × 300  ·  Free licence with visible footer attribution.</a:t>
            </a:r>
            <a:endParaRPr lang="en-US" sz="11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B"/>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6540DB"/>
                </a:solidFill>
                <a:latin typeface="Arial" pitchFamily="34" charset="0"/>
                <a:ea typeface="Arial" pitchFamily="34" charset="-122"/>
                <a:cs typeface="Arial" pitchFamily="34" charset="-120"/>
              </a:rPr>
              <a:t>B1 / ASSET INVENTORY</a:t>
            </a:r>
            <a:endParaRPr lang="en-US" sz="1050" dirty="0"/>
          </a:p>
        </p:txBody>
      </p:sp>
      <p:sp>
        <p:nvSpPr>
          <p:cNvPr id="3" name="Text 1"/>
          <p:cNvSpPr/>
          <p:nvPr/>
        </p:nvSpPr>
        <p:spPr>
          <a:xfrm>
            <a:off x="530352" y="795528"/>
            <a:ext cx="11109960" cy="594360"/>
          </a:xfrm>
          <a:prstGeom prst="rect">
            <a:avLst/>
          </a:prstGeom>
          <a:noFill/>
          <a:ln/>
        </p:spPr>
        <p:txBody>
          <a:bodyPr wrap="square" lIns="0" tIns="0" rIns="0" bIns="0" rtlCol="0" anchor="t"/>
          <a:lstStyle/>
          <a:p>
            <a:pPr indent="0" marL="0">
              <a:buNone/>
            </a:pPr>
            <a:r>
              <a:rPr lang="en-US" sz="3300" b="1" dirty="0">
                <a:solidFill>
                  <a:srgbClr val="241C3F"/>
                </a:solidFill>
                <a:latin typeface="Arial" pitchFamily="34" charset="0"/>
                <a:ea typeface="Arial" pitchFamily="34" charset="-122"/>
                <a:cs typeface="Arial" pitchFamily="34" charset="-120"/>
              </a:rPr>
              <a:t>The rest of the media stack</a:t>
            </a:r>
            <a:endParaRPr lang="en-US" sz="3300" dirty="0"/>
          </a:p>
        </p:txBody>
      </p:sp>
      <p:sp>
        <p:nvSpPr>
          <p:cNvPr id="4" name="Text 2"/>
          <p:cNvSpPr/>
          <p:nvPr/>
        </p:nvSpPr>
        <p:spPr>
          <a:xfrm>
            <a:off x="548640" y="1481328"/>
            <a:ext cx="11000232" cy="365760"/>
          </a:xfrm>
          <a:prstGeom prst="rect">
            <a:avLst/>
          </a:prstGeom>
          <a:noFill/>
          <a:ln/>
        </p:spPr>
        <p:txBody>
          <a:bodyPr wrap="square" lIns="0" tIns="0" rIns="0" bIns="0" rtlCol="0" anchor="t"/>
          <a:lstStyle/>
          <a:p>
            <a:pPr indent="0" marL="0">
              <a:buNone/>
            </a:pPr>
            <a:r>
              <a:rPr lang="en-US" sz="1400" dirty="0">
                <a:solidFill>
                  <a:srgbClr val="746C85"/>
                </a:solidFill>
                <a:latin typeface="Arial" pitchFamily="34" charset="0"/>
                <a:ea typeface="Arial" pitchFamily="34" charset="-122"/>
                <a:cs typeface="Arial" pitchFamily="34" charset="-120"/>
              </a:rPr>
              <a:t>25 assets in the inventory: 18 icons and these seven visual, type and support elements.</a:t>
            </a:r>
            <a:endParaRPr lang="en-US" sz="1400" dirty="0"/>
          </a:p>
        </p:txBody>
      </p:sp>
      <p:sp>
        <p:nvSpPr>
          <p:cNvPr id="5" name="Text 3"/>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746C85"/>
                </a:solidFill>
                <a:latin typeface="Arial" pitchFamily="34" charset="0"/>
                <a:ea typeface="Arial" pitchFamily="34" charset="-122"/>
                <a:cs typeface="Arial" pitchFamily="34" charset="-120"/>
              </a:rPr>
              <a:t>MY AITU  /  ICT ASSIGNMENT 4</a:t>
            </a:r>
            <a:endParaRPr lang="en-US" sz="930" dirty="0"/>
          </a:p>
        </p:txBody>
      </p:sp>
      <p:sp>
        <p:nvSpPr>
          <p:cNvPr id="6" name="Text 4"/>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746C85"/>
                </a:solidFill>
                <a:latin typeface="Arial" pitchFamily="34" charset="0"/>
                <a:ea typeface="Arial" pitchFamily="34" charset="-122"/>
                <a:cs typeface="Arial" pitchFamily="34" charset="-120"/>
              </a:rPr>
              <a:t>08 / 19</a:t>
            </a:r>
            <a:endParaRPr lang="en-US" sz="93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3547872"/>
        </p:xfrm>
        <a:graphic>
          <a:graphicData uri="http://schemas.openxmlformats.org/drawingml/2006/table">
            <a:tbl>
              <a:tblPr/>
              <a:tblGrid>
                <a:gridCol w="2743200"/>
                <a:gridCol w="1508760"/>
                <a:gridCol w="2862072"/>
                <a:gridCol w="1508760"/>
                <a:gridCol w="2468880"/>
              </a:tblGrid>
              <a:tr h="443484">
                <a:tc>
                  <a:txBody>
                    <a:bodyPr/>
                    <a:lstStyle/>
                    <a:p>
                      <a:pPr indent="0" marL="0">
                        <a:buNone/>
                      </a:pPr>
                      <a:r>
                        <a:rPr lang="en-US" sz="1250" b="1" dirty="0">
                          <a:solidFill>
                            <a:srgbClr val="FFFFFF"/>
                          </a:solidFill>
                          <a:latin typeface="Arial" pitchFamily="34" charset="0"/>
                          <a:ea typeface="Arial" pitchFamily="34" charset="-122"/>
                          <a:cs typeface="Arial" pitchFamily="34" charset="-120"/>
                        </a:rPr>
                        <a:t>ASSET</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WHERE</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FORMAT / DIMENSIONS</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SIZE</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SOURCE / LICENCE</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r>
              <a:tr h="443484">
                <a:tc>
                  <a:txBody>
                    <a:bodyPr/>
                    <a:lstStyle/>
                    <a:p>
                      <a:pPr indent="0" marL="0">
                        <a:buNone/>
                      </a:pPr>
                      <a:r>
                        <a:rPr lang="en-US" sz="1250" b="1" dirty="0">
                          <a:solidFill>
                            <a:srgbClr val="241C3F"/>
                          </a:solidFill>
                          <a:latin typeface="Arial" pitchFamily="34" charset="0"/>
                          <a:ea typeface="Arial" pitchFamily="34" charset="-122"/>
                          <a:cs typeface="Arial" pitchFamily="34" charset="-120"/>
                        </a:rPr>
                        <a:t>1 · Attendance preview</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Sign-in</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WebP · 390 × 844</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15.75 KiB</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Own + icons¹</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443484">
                <a:tc>
                  <a:txBody>
                    <a:bodyPr/>
                    <a:lstStyle/>
                    <a:p>
                      <a:pPr indent="0" marL="0">
                        <a:buNone/>
                      </a:pPr>
                      <a:r>
                        <a:rPr lang="en-US" sz="1250" b="1" dirty="0">
                          <a:solidFill>
                            <a:srgbClr val="241C3F"/>
                          </a:solidFill>
                          <a:latin typeface="Arial" pitchFamily="34" charset="0"/>
                          <a:ea typeface="Arial" pitchFamily="34" charset="-122"/>
                          <a:cs typeface="Arial" pitchFamily="34" charset="-120"/>
                        </a:rPr>
                        <a:t>2 · LMS wordmark</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Sign-in</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CSS / text · 68 × 68</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Embedded</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Own</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443484">
                <a:tc>
                  <a:txBody>
                    <a:bodyPr/>
                    <a:lstStyle/>
                    <a:p>
                      <a:pPr indent="0" marL="0">
                        <a:buNone/>
                      </a:pPr>
                      <a:r>
                        <a:rPr lang="en-US" sz="1250" b="1" dirty="0">
                          <a:solidFill>
                            <a:srgbClr val="241C3F"/>
                          </a:solidFill>
                          <a:latin typeface="Arial" pitchFamily="34" charset="0"/>
                          <a:ea typeface="Arial" pitchFamily="34" charset="-122"/>
                          <a:cs typeface="Arial" pitchFamily="34" charset="-120"/>
                        </a:rPr>
                        <a:t>21 · Login pulse</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Login progress</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CSS · 2 s loop</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Embedded</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Own</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443484">
                <a:tc>
                  <a:txBody>
                    <a:bodyPr/>
                    <a:lstStyle/>
                    <a:p>
                      <a:pPr indent="0" marL="0">
                        <a:buNone/>
                      </a:pPr>
                      <a:r>
                        <a:rPr lang="en-US" sz="1250" b="1" dirty="0">
                          <a:solidFill>
                            <a:srgbClr val="241C3F"/>
                          </a:solidFill>
                          <a:latin typeface="Arial" pitchFamily="34" charset="0"/>
                          <a:ea typeface="Arial" pitchFamily="34" charset="-122"/>
                          <a:cs typeface="Arial" pitchFamily="34" charset="-120"/>
                        </a:rPr>
                        <a:t>22 · Entrance motion</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Transitions</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CSS · 0.4 s</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Embedded</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Own</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443484">
                <a:tc>
                  <a:txBody>
                    <a:bodyPr/>
                    <a:lstStyle/>
                    <a:p>
                      <a:pPr indent="0" marL="0">
                        <a:buNone/>
                      </a:pPr>
                      <a:r>
                        <a:rPr lang="en-US" sz="1250" b="1" dirty="0">
                          <a:solidFill>
                            <a:srgbClr val="241C3F"/>
                          </a:solidFill>
                          <a:latin typeface="Arial" pitchFamily="34" charset="0"/>
                          <a:ea typeface="Arial" pitchFamily="34" charset="-122"/>
                          <a:cs typeface="Arial" pitchFamily="34" charset="-120"/>
                        </a:rPr>
                        <a:t>23 · Campus map</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Map section</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Responsive iframe</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Variable</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Yuujiso · MIT²</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443484">
                <a:tc>
                  <a:txBody>
                    <a:bodyPr/>
                    <a:lstStyle/>
                    <a:p>
                      <a:pPr indent="0" marL="0">
                        <a:buNone/>
                      </a:pPr>
                      <a:r>
                        <a:rPr lang="en-US" sz="1250" b="1" dirty="0">
                          <a:solidFill>
                            <a:srgbClr val="241C3F"/>
                          </a:solidFill>
                          <a:latin typeface="Arial" pitchFamily="34" charset="0"/>
                          <a:ea typeface="Arial" pitchFamily="34" charset="-122"/>
                          <a:cs typeface="Arial" pitchFamily="34" charset="-120"/>
                        </a:rPr>
                        <a:t>24 · Inter font</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Interface</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Web font · variable</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Variable</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Inter · OFL³</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443484">
                <a:tc>
                  <a:txBody>
                    <a:bodyPr/>
                    <a:lstStyle/>
                    <a:p>
                      <a:pPr indent="0" marL="0">
                        <a:buNone/>
                      </a:pPr>
                      <a:r>
                        <a:rPr lang="en-US" sz="1250" b="1" dirty="0">
                          <a:solidFill>
                            <a:srgbClr val="241C3F"/>
                          </a:solidFill>
                          <a:latin typeface="Arial" pitchFamily="34" charset="0"/>
                          <a:ea typeface="Arial" pitchFamily="34" charset="-122"/>
                          <a:cs typeface="Arial" pitchFamily="34" charset="-120"/>
                        </a:rPr>
                        <a:t>25 · Remote view</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Optional support</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JPEG Q70 · 1100 × 800</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Variable</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250" dirty="0">
                          <a:solidFill>
                            <a:srgbClr val="241C3F"/>
                          </a:solidFill>
                          <a:latin typeface="Arial" pitchFamily="34" charset="0"/>
                          <a:ea typeface="Arial" pitchFamily="34" charset="-122"/>
                          <a:cs typeface="Arial" pitchFamily="34" charset="-120"/>
                        </a:rPr>
                        <a:t>Private session</a:t>
                      </a:r>
                      <a:endParaRPr lang="en-US" sz="125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bl>
          </a:graphicData>
        </a:graphic>
      </p:graphicFrame>
      <p:sp>
        <p:nvSpPr>
          <p:cNvPr id="9" name="Text 5"/>
          <p:cNvSpPr/>
          <p:nvPr/>
        </p:nvSpPr>
        <p:spPr>
          <a:xfrm>
            <a:off x="603504" y="5715000"/>
            <a:ext cx="10881360" cy="228600"/>
          </a:xfrm>
          <a:prstGeom prst="rect">
            <a:avLst/>
          </a:prstGeom>
          <a:noFill/>
          <a:ln/>
        </p:spPr>
        <p:txBody>
          <a:bodyPr wrap="square" lIns="0" tIns="0" rIns="0" bIns="0" rtlCol="0" anchor="t"/>
          <a:lstStyle/>
          <a:p>
            <a:pPr indent="0" marL="0">
              <a:buNone/>
            </a:pPr>
            <a:r>
              <a:rPr lang="en-US" sz="1050" dirty="0">
                <a:solidFill>
                  <a:srgbClr val="746C85"/>
                </a:solidFill>
                <a:latin typeface="Arial" pitchFamily="34" charset="0"/>
                <a:ea typeface="Arial" pitchFamily="34" charset="-122"/>
                <a:cs typeface="Arial" pitchFamily="34" charset="-120"/>
              </a:rPr>
              <a:t>¹ Flaticon attribution in footer.  ² github.com/Yuujiso/aitumap.  ³ github.com/rsms/inter.</a:t>
            </a:r>
            <a:endParaRPr lang="en-US" sz="1050" dirty="0"/>
          </a:p>
        </p:txBody>
      </p:sp>
      <p:sp>
        <p:nvSpPr>
          <p:cNvPr id="10" name="Text 6"/>
          <p:cNvSpPr/>
          <p:nvPr/>
        </p:nvSpPr>
        <p:spPr>
          <a:xfrm>
            <a:off x="603504" y="6053328"/>
            <a:ext cx="10881360" cy="292608"/>
          </a:xfrm>
          <a:prstGeom prst="rect">
            <a:avLst/>
          </a:prstGeom>
          <a:noFill/>
          <a:ln/>
        </p:spPr>
        <p:txBody>
          <a:bodyPr wrap="square" lIns="0" tIns="0" rIns="0" bIns="0" rtlCol="0" anchor="t"/>
          <a:lstStyle/>
          <a:p>
            <a:pPr indent="0" marL="0">
              <a:buNone/>
            </a:pPr>
            <a:r>
              <a:rPr lang="en-US" sz="1050" dirty="0">
                <a:solidFill>
                  <a:srgbClr val="746C85"/>
                </a:solidFill>
                <a:latin typeface="Arial" pitchFamily="34" charset="0"/>
                <a:ea typeface="Arial" pitchFamily="34" charset="-122"/>
                <a:cs typeface="Arial" pitchFamily="34" charset="-120"/>
              </a:rPr>
              <a:t>The remote browser view is private and must stay out of the demo. Evidence PNGs and two unused SVG symbols are not loaded by the interface.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B"/>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6540DB"/>
                </a:solidFill>
                <a:latin typeface="Arial" pitchFamily="34" charset="0"/>
                <a:ea typeface="Arial" pitchFamily="34" charset="-122"/>
                <a:cs typeface="Arial" pitchFamily="34" charset="-120"/>
              </a:rPr>
              <a:t>B2 / INTEGRATION &amp; OPTIMISATION</a:t>
            </a:r>
            <a:endParaRPr lang="en-US" sz="1050" dirty="0"/>
          </a:p>
        </p:txBody>
      </p:sp>
      <p:sp>
        <p:nvSpPr>
          <p:cNvPr id="3" name="Text 1"/>
          <p:cNvSpPr/>
          <p:nvPr/>
        </p:nvSpPr>
        <p:spPr>
          <a:xfrm>
            <a:off x="530352" y="795528"/>
            <a:ext cx="11109960" cy="594360"/>
          </a:xfrm>
          <a:prstGeom prst="rect">
            <a:avLst/>
          </a:prstGeom>
          <a:noFill/>
          <a:ln/>
        </p:spPr>
        <p:txBody>
          <a:bodyPr wrap="square" lIns="0" tIns="0" rIns="0" bIns="0" rtlCol="0" anchor="t"/>
          <a:lstStyle/>
          <a:p>
            <a:pPr indent="0" marL="0">
              <a:buNone/>
            </a:pPr>
            <a:r>
              <a:rPr lang="en-US" sz="3300" b="1" dirty="0">
                <a:solidFill>
                  <a:srgbClr val="241C3F"/>
                </a:solidFill>
                <a:latin typeface="Arial" pitchFamily="34" charset="0"/>
                <a:ea typeface="Arial" pitchFamily="34" charset="-122"/>
                <a:cs typeface="Arial" pitchFamily="34" charset="-120"/>
              </a:rPr>
              <a:t>A lighter payload, with clear limits.</a:t>
            </a:r>
            <a:endParaRPr lang="en-US" sz="3300" dirty="0"/>
          </a:p>
        </p:txBody>
      </p:sp>
      <p:sp>
        <p:nvSpPr>
          <p:cNvPr id="4" name="Text 2"/>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746C85"/>
                </a:solidFill>
                <a:latin typeface="Arial" pitchFamily="34" charset="0"/>
                <a:ea typeface="Arial" pitchFamily="34" charset="-122"/>
                <a:cs typeface="Arial" pitchFamily="34" charset="-120"/>
              </a:rPr>
              <a:t>MY AITU  /  ICT ASSIGNMENT 4</a:t>
            </a:r>
            <a:endParaRPr lang="en-US" sz="930" dirty="0"/>
          </a:p>
        </p:txBody>
      </p:sp>
      <p:sp>
        <p:nvSpPr>
          <p:cNvPr id="5" name="Text 3"/>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746C85"/>
                </a:solidFill>
                <a:latin typeface="Arial" pitchFamily="34" charset="0"/>
                <a:ea typeface="Arial" pitchFamily="34" charset="-122"/>
                <a:cs typeface="Arial" pitchFamily="34" charset="-120"/>
              </a:rPr>
              <a:t>09 / 19</a:t>
            </a:r>
            <a:endParaRPr lang="en-US" sz="930" dirty="0"/>
          </a:p>
        </p:txBody>
      </p:sp>
      <p:sp>
        <p:nvSpPr>
          <p:cNvPr id="7" name="Shape 4"/>
          <p:cNvSpPr/>
          <p:nvPr/>
        </p:nvSpPr>
        <p:spPr>
          <a:xfrm>
            <a:off x="548640" y="1764792"/>
            <a:ext cx="3575304" cy="1234440"/>
          </a:xfrm>
          <a:prstGeom prst="roundRect">
            <a:avLst>
              <a:gd name="adj" fmla="val 11111"/>
            </a:avLst>
          </a:prstGeom>
          <a:solidFill>
            <a:srgbClr val="6540DB"/>
          </a:solidFill>
          <a:ln w="12700">
            <a:solidFill>
              <a:srgbClr val="6540DB"/>
            </a:solidFill>
            <a:prstDash val="solid"/>
          </a:ln>
        </p:spPr>
      </p:sp>
      <p:sp>
        <p:nvSpPr>
          <p:cNvPr id="8" name="Text 5"/>
          <p:cNvSpPr/>
          <p:nvPr/>
        </p:nvSpPr>
        <p:spPr>
          <a:xfrm>
            <a:off x="749808" y="1938528"/>
            <a:ext cx="3154680" cy="539496"/>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73.0%</a:t>
            </a:r>
            <a:endParaRPr lang="en-US" sz="3400" dirty="0"/>
          </a:p>
        </p:txBody>
      </p:sp>
      <p:sp>
        <p:nvSpPr>
          <p:cNvPr id="9" name="Text 6"/>
          <p:cNvSpPr/>
          <p:nvPr/>
        </p:nvSpPr>
        <p:spPr>
          <a:xfrm>
            <a:off x="749808" y="2587752"/>
            <a:ext cx="3154680" cy="201168"/>
          </a:xfrm>
          <a:prstGeom prst="rect">
            <a:avLst/>
          </a:prstGeom>
          <a:noFill/>
          <a:ln/>
        </p:spPr>
        <p:txBody>
          <a:bodyPr wrap="square" lIns="0" tIns="0" rIns="0" bIns="0" rtlCol="0" anchor="t"/>
          <a:lstStyle/>
          <a:p>
            <a:pPr indent="0" marL="0">
              <a:buNone/>
            </a:pPr>
            <a:r>
              <a:rPr lang="en-US" sz="1220" dirty="0">
                <a:solidFill>
                  <a:srgbClr val="ECE4FF"/>
                </a:solidFill>
                <a:latin typeface="Arial" pitchFamily="34" charset="0"/>
                <a:ea typeface="Arial" pitchFamily="34" charset="-122"/>
                <a:cs typeface="Arial" pitchFamily="34" charset="-120"/>
              </a:rPr>
              <a:t>smaller preview</a:t>
            </a:r>
            <a:endParaRPr lang="en-US" sz="1220" dirty="0"/>
          </a:p>
        </p:txBody>
      </p:sp>
      <p:sp>
        <p:nvSpPr>
          <p:cNvPr id="10" name="Shape 7"/>
          <p:cNvSpPr/>
          <p:nvPr/>
        </p:nvSpPr>
        <p:spPr>
          <a:xfrm>
            <a:off x="4306824" y="1764792"/>
            <a:ext cx="3575304" cy="1234440"/>
          </a:xfrm>
          <a:prstGeom prst="roundRect">
            <a:avLst>
              <a:gd name="adj" fmla="val 11111"/>
            </a:avLst>
          </a:prstGeom>
          <a:solidFill>
            <a:srgbClr val="FFFFFF"/>
          </a:solidFill>
          <a:ln w="12700">
            <a:solidFill>
              <a:srgbClr val="FFFFFF"/>
            </a:solidFill>
            <a:prstDash val="solid"/>
          </a:ln>
        </p:spPr>
      </p:sp>
      <p:sp>
        <p:nvSpPr>
          <p:cNvPr id="11" name="Text 8"/>
          <p:cNvSpPr/>
          <p:nvPr/>
        </p:nvSpPr>
        <p:spPr>
          <a:xfrm>
            <a:off x="4507992" y="1938528"/>
            <a:ext cx="3154680" cy="539496"/>
          </a:xfrm>
          <a:prstGeom prst="rect">
            <a:avLst/>
          </a:prstGeom>
          <a:noFill/>
          <a:ln/>
        </p:spPr>
        <p:txBody>
          <a:bodyPr wrap="square" lIns="0" tIns="0" rIns="0" bIns="0" rtlCol="0" anchor="t"/>
          <a:lstStyle/>
          <a:p>
            <a:pPr indent="0" marL="0">
              <a:buNone/>
            </a:pPr>
            <a:r>
              <a:rPr lang="en-US" sz="3400" b="1" dirty="0">
                <a:solidFill>
                  <a:srgbClr val="6540DB"/>
                </a:solidFill>
                <a:latin typeface="Arial" pitchFamily="34" charset="0"/>
                <a:ea typeface="Arial" pitchFamily="34" charset="-122"/>
                <a:cs typeface="Arial" pitchFamily="34" charset="-120"/>
              </a:rPr>
              <a:t>30.8%</a:t>
            </a:r>
            <a:endParaRPr lang="en-US" sz="3400" dirty="0"/>
          </a:p>
        </p:txBody>
      </p:sp>
      <p:sp>
        <p:nvSpPr>
          <p:cNvPr id="12" name="Text 9"/>
          <p:cNvSpPr/>
          <p:nvPr/>
        </p:nvSpPr>
        <p:spPr>
          <a:xfrm>
            <a:off x="4507992" y="2587752"/>
            <a:ext cx="3154680" cy="201168"/>
          </a:xfrm>
          <a:prstGeom prst="rect">
            <a:avLst/>
          </a:prstGeom>
          <a:noFill/>
          <a:ln/>
        </p:spPr>
        <p:txBody>
          <a:bodyPr wrap="square" lIns="0" tIns="0" rIns="0" bIns="0" rtlCol="0" anchor="t"/>
          <a:lstStyle/>
          <a:p>
            <a:pPr indent="0" marL="0">
              <a:buNone/>
            </a:pPr>
            <a:r>
              <a:rPr lang="en-US" sz="1220" dirty="0">
                <a:solidFill>
                  <a:srgbClr val="746C85"/>
                </a:solidFill>
                <a:latin typeface="Arial" pitchFamily="34" charset="0"/>
                <a:ea typeface="Arial" pitchFamily="34" charset="-122"/>
                <a:cs typeface="Arial" pitchFamily="34" charset="-120"/>
              </a:rPr>
              <a:t>smaller controlled file set</a:t>
            </a:r>
            <a:endParaRPr lang="en-US" sz="1220" dirty="0"/>
          </a:p>
        </p:txBody>
      </p:sp>
      <p:sp>
        <p:nvSpPr>
          <p:cNvPr id="13" name="Shape 10"/>
          <p:cNvSpPr/>
          <p:nvPr/>
        </p:nvSpPr>
        <p:spPr>
          <a:xfrm>
            <a:off x="8065008" y="1764792"/>
            <a:ext cx="3575304" cy="1234440"/>
          </a:xfrm>
          <a:prstGeom prst="roundRect">
            <a:avLst>
              <a:gd name="adj" fmla="val 11111"/>
            </a:avLst>
          </a:prstGeom>
          <a:solidFill>
            <a:srgbClr val="FFFFFF"/>
          </a:solidFill>
          <a:ln w="12700">
            <a:solidFill>
              <a:srgbClr val="FFFFFF"/>
            </a:solidFill>
            <a:prstDash val="solid"/>
          </a:ln>
        </p:spPr>
      </p:sp>
      <p:sp>
        <p:nvSpPr>
          <p:cNvPr id="14" name="Text 11"/>
          <p:cNvSpPr/>
          <p:nvPr/>
        </p:nvSpPr>
        <p:spPr>
          <a:xfrm>
            <a:off x="8266176" y="1938528"/>
            <a:ext cx="3154680" cy="539496"/>
          </a:xfrm>
          <a:prstGeom prst="rect">
            <a:avLst/>
          </a:prstGeom>
          <a:noFill/>
          <a:ln/>
        </p:spPr>
        <p:txBody>
          <a:bodyPr wrap="square" lIns="0" tIns="0" rIns="0" bIns="0" rtlCol="0" anchor="t"/>
          <a:lstStyle/>
          <a:p>
            <a:pPr indent="0" marL="0">
              <a:buNone/>
            </a:pPr>
            <a:r>
              <a:rPr lang="en-US" sz="3400" b="1" dirty="0">
                <a:solidFill>
                  <a:srgbClr val="6540DB"/>
                </a:solidFill>
                <a:latin typeface="Arial" pitchFamily="34" charset="0"/>
                <a:ea typeface="Arial" pitchFamily="34" charset="-122"/>
                <a:cs typeface="Arial" pitchFamily="34" charset="-120"/>
              </a:rPr>
              <a:t>0</a:t>
            </a:r>
            <a:endParaRPr lang="en-US" sz="3400" dirty="0"/>
          </a:p>
        </p:txBody>
      </p:sp>
      <p:sp>
        <p:nvSpPr>
          <p:cNvPr id="15" name="Text 12"/>
          <p:cNvSpPr/>
          <p:nvPr/>
        </p:nvSpPr>
        <p:spPr>
          <a:xfrm>
            <a:off x="8266176" y="2587752"/>
            <a:ext cx="3154680" cy="201168"/>
          </a:xfrm>
          <a:prstGeom prst="rect">
            <a:avLst/>
          </a:prstGeom>
          <a:noFill/>
          <a:ln/>
        </p:spPr>
        <p:txBody>
          <a:bodyPr wrap="square" lIns="0" tIns="0" rIns="0" bIns="0" rtlCol="0" anchor="t"/>
          <a:lstStyle/>
          <a:p>
            <a:pPr indent="0" marL="0">
              <a:buNone/>
            </a:pPr>
            <a:r>
              <a:rPr lang="en-US" sz="1220" dirty="0">
                <a:solidFill>
                  <a:srgbClr val="746C85"/>
                </a:solidFill>
                <a:latin typeface="Arial" pitchFamily="34" charset="0"/>
                <a:ea typeface="Arial" pitchFamily="34" charset="-122"/>
                <a:cs typeface="Arial" pitchFamily="34" charset="-120"/>
              </a:rPr>
              <a:t>expected image-request delta</a:t>
            </a:r>
            <a:endParaRPr lang="en-US" sz="122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374136"/>
          <a:ext cx="11091672" cy="1399032"/>
        </p:xfrm>
        <a:graphic>
          <a:graphicData uri="http://schemas.openxmlformats.org/drawingml/2006/table">
            <a:tbl>
              <a:tblPr/>
              <a:tblGrid>
                <a:gridCol w="4690872"/>
                <a:gridCol w="2148840"/>
                <a:gridCol w="2148840"/>
                <a:gridCol w="2103120"/>
              </a:tblGrid>
              <a:tr h="466344">
                <a:tc>
                  <a:txBody>
                    <a:bodyPr/>
                    <a:lstStyle/>
                    <a:p>
                      <a:pPr indent="0" marL="0">
                        <a:buNone/>
                      </a:pPr>
                      <a:r>
                        <a:rPr lang="en-US" sz="1400" b="1" dirty="0">
                          <a:solidFill>
                            <a:srgbClr val="FFFFFF"/>
                          </a:solidFill>
                          <a:latin typeface="Arial" pitchFamily="34" charset="0"/>
                          <a:ea typeface="Arial" pitchFamily="34" charset="-122"/>
                          <a:cs typeface="Arial" pitchFamily="34" charset="-120"/>
                        </a:rPr>
                        <a:t>CONTROLLED LOCAL PAYLOAD</a:t>
                      </a:r>
                      <a:endParaRPr lang="en-US" sz="14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PNG VERSION</a:t>
                      </a:r>
                      <a:endParaRPr lang="en-US" sz="14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WEBP VERSION</a:t>
                      </a:r>
                      <a:endParaRPr lang="en-US" sz="14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CHANGE</a:t>
                      </a:r>
                      <a:endParaRPr lang="en-US" sz="14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r>
              <a:tr h="466344">
                <a:tc>
                  <a:txBody>
                    <a:bodyPr/>
                    <a:lstStyle/>
                    <a:p>
                      <a:pPr indent="0" marL="0">
                        <a:buNone/>
                      </a:pPr>
                      <a:r>
                        <a:rPr lang="en-US" sz="1400" b="1" dirty="0">
                          <a:solidFill>
                            <a:srgbClr val="241C3F"/>
                          </a:solidFill>
                          <a:latin typeface="Arial" pitchFamily="34" charset="0"/>
                          <a:ea typeface="Arial" pitchFamily="34" charset="-122"/>
                          <a:cs typeface="Arial" pitchFamily="34" charset="-120"/>
                        </a:rPr>
                        <a:t>Preview image</a:t>
                      </a:r>
                      <a:endParaRPr lang="en-US" sz="14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400" dirty="0">
                          <a:solidFill>
                            <a:srgbClr val="241C3F"/>
                          </a:solidFill>
                          <a:latin typeface="Arial" pitchFamily="34" charset="0"/>
                          <a:ea typeface="Arial" pitchFamily="34" charset="-122"/>
                          <a:cs typeface="Arial" pitchFamily="34" charset="-120"/>
                        </a:rPr>
                        <a:t>59,787 B</a:t>
                      </a:r>
                      <a:endParaRPr lang="en-US" sz="14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400" dirty="0">
                          <a:solidFill>
                            <a:srgbClr val="241C3F"/>
                          </a:solidFill>
                          <a:latin typeface="Arial" pitchFamily="34" charset="0"/>
                          <a:ea typeface="Arial" pitchFamily="34" charset="-122"/>
                          <a:cs typeface="Arial" pitchFamily="34" charset="-120"/>
                        </a:rPr>
                        <a:t>16,126 B</a:t>
                      </a:r>
                      <a:endParaRPr lang="en-US" sz="14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400" dirty="0">
                          <a:solidFill>
                            <a:srgbClr val="241C3F"/>
                          </a:solidFill>
                          <a:latin typeface="Arial" pitchFamily="34" charset="0"/>
                          <a:ea typeface="Arial" pitchFamily="34" charset="-122"/>
                          <a:cs typeface="Arial" pitchFamily="34" charset="-120"/>
                        </a:rPr>
                        <a:t>−73.0%</a:t>
                      </a:r>
                      <a:endParaRPr lang="en-US" sz="14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466344">
                <a:tc>
                  <a:txBody>
                    <a:bodyPr/>
                    <a:lstStyle/>
                    <a:p>
                      <a:pPr indent="0" marL="0">
                        <a:buNone/>
                      </a:pPr>
                      <a:r>
                        <a:rPr lang="en-US" sz="1400" b="1" dirty="0">
                          <a:solidFill>
                            <a:srgbClr val="241C3F"/>
                          </a:solidFill>
                          <a:latin typeface="Arial" pitchFamily="34" charset="0"/>
                          <a:ea typeface="Arial" pitchFamily="34" charset="-122"/>
                          <a:cs typeface="Arial" pitchFamily="34" charset="-120"/>
                        </a:rPr>
                        <a:t>4 front-end files + preview</a:t>
                      </a:r>
                      <a:endParaRPr lang="en-US" sz="14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400" dirty="0">
                          <a:solidFill>
                            <a:srgbClr val="241C3F"/>
                          </a:solidFill>
                          <a:latin typeface="Arial" pitchFamily="34" charset="0"/>
                          <a:ea typeface="Arial" pitchFamily="34" charset="-122"/>
                          <a:cs typeface="Arial" pitchFamily="34" charset="-120"/>
                        </a:rPr>
                        <a:t>141,601 B</a:t>
                      </a:r>
                      <a:endParaRPr lang="en-US" sz="14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400" dirty="0">
                          <a:solidFill>
                            <a:srgbClr val="241C3F"/>
                          </a:solidFill>
                          <a:latin typeface="Arial" pitchFamily="34" charset="0"/>
                          <a:ea typeface="Arial" pitchFamily="34" charset="-122"/>
                          <a:cs typeface="Arial" pitchFamily="34" charset="-120"/>
                        </a:rPr>
                        <a:t>97,941 B</a:t>
                      </a:r>
                      <a:endParaRPr lang="en-US" sz="14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400" dirty="0">
                          <a:solidFill>
                            <a:srgbClr val="241C3F"/>
                          </a:solidFill>
                          <a:latin typeface="Arial" pitchFamily="34" charset="0"/>
                          <a:ea typeface="Arial" pitchFamily="34" charset="-122"/>
                          <a:cs typeface="Arial" pitchFamily="34" charset="-120"/>
                        </a:rPr>
                        <a:t>−30.8%</a:t>
                      </a:r>
                      <a:endParaRPr lang="en-US" sz="14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bl>
          </a:graphicData>
        </a:graphic>
      </p:graphicFrame>
      <p:sp>
        <p:nvSpPr>
          <p:cNvPr id="17" name="Text 13"/>
          <p:cNvSpPr/>
          <p:nvPr/>
        </p:nvSpPr>
        <p:spPr>
          <a:xfrm>
            <a:off x="594360" y="5093208"/>
            <a:ext cx="5303520" cy="274320"/>
          </a:xfrm>
          <a:prstGeom prst="rect">
            <a:avLst/>
          </a:prstGeom>
          <a:noFill/>
          <a:ln/>
        </p:spPr>
        <p:txBody>
          <a:bodyPr wrap="square" lIns="0" tIns="0" rIns="0" bIns="0" rtlCol="0" anchor="t"/>
          <a:lstStyle/>
          <a:p>
            <a:pPr indent="0" marL="0">
              <a:buNone/>
            </a:pPr>
            <a:r>
              <a:rPr lang="en-US" sz="1900" b="1" dirty="0">
                <a:solidFill>
                  <a:srgbClr val="241C3F"/>
                </a:solidFill>
                <a:latin typeface="Arial" pitchFamily="34" charset="0"/>
                <a:ea typeface="Arial" pitchFamily="34" charset="-122"/>
                <a:cs typeface="Arial" pitchFamily="34" charset="-120"/>
              </a:rPr>
              <a:t>Integrated</a:t>
            </a:r>
            <a:endParaRPr lang="en-US" sz="1900" dirty="0"/>
          </a:p>
        </p:txBody>
      </p:sp>
      <p:sp>
        <p:nvSpPr>
          <p:cNvPr id="18" name="Text 14"/>
          <p:cNvSpPr/>
          <p:nvPr/>
        </p:nvSpPr>
        <p:spPr>
          <a:xfrm>
            <a:off x="594360" y="5486400"/>
            <a:ext cx="5230368" cy="576072"/>
          </a:xfrm>
          <a:prstGeom prst="rect">
            <a:avLst/>
          </a:prstGeom>
          <a:noFill/>
          <a:ln/>
        </p:spPr>
        <p:txBody>
          <a:bodyPr wrap="square" lIns="0" tIns="0" rIns="0" bIns="0" rtlCol="0" anchor="t"/>
          <a:lstStyle/>
          <a:p>
            <a:pPr indent="0" marL="0">
              <a:buNone/>
            </a:pPr>
            <a:r>
              <a:rPr lang="en-US" sz="1400" dirty="0">
                <a:solidFill>
                  <a:srgbClr val="746C85"/>
                </a:solidFill>
                <a:latin typeface="Arial" pitchFamily="34" charset="0"/>
                <a:ea typeface="Arial" pitchFamily="34" charset="-122"/>
                <a:cs typeface="Arial" pitchFamily="34" charset="-120"/>
              </a:rPr>
              <a:t>Responsive 250 px preview, inline SVG icons, CSS login pulse and reduced-motion support.</a:t>
            </a:r>
            <a:endParaRPr lang="en-US" sz="1400" dirty="0"/>
          </a:p>
        </p:txBody>
      </p:sp>
      <p:sp>
        <p:nvSpPr>
          <p:cNvPr id="19" name="Text 15"/>
          <p:cNvSpPr/>
          <p:nvPr/>
        </p:nvSpPr>
        <p:spPr>
          <a:xfrm>
            <a:off x="6373368" y="5093208"/>
            <a:ext cx="5257800" cy="274320"/>
          </a:xfrm>
          <a:prstGeom prst="rect">
            <a:avLst/>
          </a:prstGeom>
          <a:noFill/>
          <a:ln/>
        </p:spPr>
        <p:txBody>
          <a:bodyPr wrap="square" lIns="0" tIns="0" rIns="0" bIns="0" rtlCol="0" anchor="t"/>
          <a:lstStyle/>
          <a:p>
            <a:pPr indent="0" marL="0">
              <a:buNone/>
            </a:pPr>
            <a:r>
              <a:rPr lang="en-US" sz="1900" b="1" dirty="0">
                <a:solidFill>
                  <a:srgbClr val="241C3F"/>
                </a:solidFill>
                <a:latin typeface="Arial" pitchFamily="34" charset="0"/>
                <a:ea typeface="Arial" pitchFamily="34" charset="-122"/>
                <a:cs typeface="Arial" pitchFamily="34" charset="-120"/>
              </a:rPr>
              <a:t>Still to measure</a:t>
            </a:r>
            <a:endParaRPr lang="en-US" sz="1900" dirty="0"/>
          </a:p>
        </p:txBody>
      </p:sp>
      <p:sp>
        <p:nvSpPr>
          <p:cNvPr id="20" name="Text 16"/>
          <p:cNvSpPr/>
          <p:nvPr/>
        </p:nvSpPr>
        <p:spPr>
          <a:xfrm>
            <a:off x="6373368" y="5486400"/>
            <a:ext cx="5230368" cy="576072"/>
          </a:xfrm>
          <a:prstGeom prst="rect">
            <a:avLst/>
          </a:prstGeom>
          <a:noFill/>
          <a:ln/>
        </p:spPr>
        <p:txBody>
          <a:bodyPr wrap="square" lIns="0" tIns="0" rIns="0" bIns="0" rtlCol="0" anchor="t"/>
          <a:lstStyle/>
          <a:p>
            <a:pPr indent="0" marL="0">
              <a:buNone/>
            </a:pPr>
            <a:r>
              <a:rPr lang="en-US" sz="1400" dirty="0">
                <a:solidFill>
                  <a:srgbClr val="746C85"/>
                </a:solidFill>
                <a:latin typeface="Arial" pitchFamily="34" charset="0"/>
                <a:ea typeface="Arial" pitchFamily="34" charset="-122"/>
                <a:cs typeface="Arial" pitchFamily="34" charset="-120"/>
              </a:rPr>
              <a:t>DevTools: transferred bytes, requests and Finish/Load time on Fast 4G with cache disabled.</a:t>
            </a:r>
            <a:endParaRPr lang="en-US" sz="1400" dirty="0"/>
          </a:p>
        </p:txBody>
      </p:sp>
      <p:sp>
        <p:nvSpPr>
          <p:cNvPr id="21" name="Text 17"/>
          <p:cNvSpPr/>
          <p:nvPr/>
        </p:nvSpPr>
        <p:spPr>
          <a:xfrm>
            <a:off x="594360" y="6163056"/>
            <a:ext cx="10972800" cy="173736"/>
          </a:xfrm>
          <a:prstGeom prst="rect">
            <a:avLst/>
          </a:prstGeom>
          <a:noFill/>
          <a:ln/>
        </p:spPr>
        <p:txBody>
          <a:bodyPr wrap="square" lIns="0" tIns="0" rIns="0" bIns="0" rtlCol="0" anchor="t"/>
          <a:lstStyle/>
          <a:p>
            <a:pPr indent="0" marL="0">
              <a:buNone/>
            </a:pPr>
            <a:r>
              <a:rPr lang="en-US" sz="930" dirty="0">
                <a:solidFill>
                  <a:srgbClr val="746C85"/>
                </a:solidFill>
                <a:latin typeface="Arial" pitchFamily="34" charset="0"/>
                <a:ea typeface="Arial" pitchFamily="34" charset="-122"/>
                <a:cs typeface="Arial" pitchFamily="34" charset="-120"/>
              </a:rPr>
              <a:t>Source: Part B inventory, 23 Oct 2026. Calculated local file bytes; external traffic and compression are excluded.</a:t>
            </a:r>
            <a:endParaRPr lang="en-US" sz="9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B"/>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6540DB"/>
                </a:solidFill>
                <a:latin typeface="Arial" pitchFamily="34" charset="0"/>
                <a:ea typeface="Arial" pitchFamily="34" charset="-122"/>
                <a:cs typeface="Arial" pitchFamily="34" charset="-120"/>
              </a:rPr>
              <a:t>B3 / MEDIA ACCESSIBILITY</a:t>
            </a:r>
            <a:endParaRPr lang="en-US" sz="1050" dirty="0"/>
          </a:p>
        </p:txBody>
      </p:sp>
      <p:sp>
        <p:nvSpPr>
          <p:cNvPr id="3" name="Text 1"/>
          <p:cNvSpPr/>
          <p:nvPr/>
        </p:nvSpPr>
        <p:spPr>
          <a:xfrm>
            <a:off x="530352" y="795528"/>
            <a:ext cx="11109960" cy="594360"/>
          </a:xfrm>
          <a:prstGeom prst="rect">
            <a:avLst/>
          </a:prstGeom>
          <a:noFill/>
          <a:ln/>
        </p:spPr>
        <p:txBody>
          <a:bodyPr wrap="square" lIns="0" tIns="0" rIns="0" bIns="0" rtlCol="0" anchor="t"/>
          <a:lstStyle/>
          <a:p>
            <a:pPr indent="0" marL="0">
              <a:buNone/>
            </a:pPr>
            <a:r>
              <a:rPr lang="en-US" sz="3300" b="1" dirty="0">
                <a:solidFill>
                  <a:srgbClr val="241C3F"/>
                </a:solidFill>
                <a:latin typeface="Arial" pitchFamily="34" charset="0"/>
                <a:ea typeface="Arial" pitchFamily="34" charset="-122"/>
                <a:cs typeface="Arial" pitchFamily="34" charset="-120"/>
              </a:rPr>
              <a:t>Make the experience understandable.</a:t>
            </a:r>
            <a:endParaRPr lang="en-US" sz="3300" dirty="0"/>
          </a:p>
        </p:txBody>
      </p:sp>
      <p:sp>
        <p:nvSpPr>
          <p:cNvPr id="4" name="Text 2"/>
          <p:cNvSpPr/>
          <p:nvPr/>
        </p:nvSpPr>
        <p:spPr>
          <a:xfrm>
            <a:off x="548640" y="1481328"/>
            <a:ext cx="11000232" cy="365760"/>
          </a:xfrm>
          <a:prstGeom prst="rect">
            <a:avLst/>
          </a:prstGeom>
          <a:noFill/>
          <a:ln/>
        </p:spPr>
        <p:txBody>
          <a:bodyPr wrap="square" lIns="0" tIns="0" rIns="0" bIns="0" rtlCol="0" anchor="t"/>
          <a:lstStyle/>
          <a:p>
            <a:pPr indent="0" marL="0">
              <a:buNone/>
            </a:pPr>
            <a:r>
              <a:rPr lang="en-US" sz="1400" dirty="0">
                <a:solidFill>
                  <a:srgbClr val="746C85"/>
                </a:solidFill>
                <a:latin typeface="Arial" pitchFamily="34" charset="0"/>
                <a:ea typeface="Arial" pitchFamily="34" charset="-122"/>
                <a:cs typeface="Arial" pitchFamily="34" charset="-120"/>
              </a:rPr>
              <a:t>Implemented behaviours and checks from the prototype inventory.</a:t>
            </a:r>
            <a:endParaRPr lang="en-US" sz="1400" dirty="0"/>
          </a:p>
        </p:txBody>
      </p:sp>
      <p:sp>
        <p:nvSpPr>
          <p:cNvPr id="5" name="Text 3"/>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746C85"/>
                </a:solidFill>
                <a:latin typeface="Arial" pitchFamily="34" charset="0"/>
                <a:ea typeface="Arial" pitchFamily="34" charset="-122"/>
                <a:cs typeface="Arial" pitchFamily="34" charset="-120"/>
              </a:rPr>
              <a:t>MY AITU  /  ICT ASSIGNMENT 4</a:t>
            </a:r>
            <a:endParaRPr lang="en-US" sz="930" dirty="0"/>
          </a:p>
        </p:txBody>
      </p:sp>
      <p:sp>
        <p:nvSpPr>
          <p:cNvPr id="6" name="Text 4"/>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746C85"/>
                </a:solidFill>
                <a:latin typeface="Arial" pitchFamily="34" charset="0"/>
                <a:ea typeface="Arial" pitchFamily="34" charset="-122"/>
                <a:cs typeface="Arial" pitchFamily="34" charset="-120"/>
              </a:rPr>
              <a:t>10 / 19</a:t>
            </a:r>
            <a:endParaRPr lang="en-US" sz="930" dirty="0"/>
          </a:p>
        </p:txBody>
      </p:sp>
      <p:sp>
        <p:nvSpPr>
          <p:cNvPr id="8" name="Shape 5"/>
          <p:cNvSpPr/>
          <p:nvPr/>
        </p:nvSpPr>
        <p:spPr>
          <a:xfrm>
            <a:off x="548640" y="1975104"/>
            <a:ext cx="3575304" cy="1901952"/>
          </a:xfrm>
          <a:prstGeom prst="roundRect">
            <a:avLst>
              <a:gd name="adj" fmla="val 7212"/>
            </a:avLst>
          </a:prstGeom>
          <a:solidFill>
            <a:srgbClr val="FFFFFF"/>
          </a:solidFill>
          <a:ln w="12700">
            <a:solidFill>
              <a:srgbClr val="FFFFFF"/>
            </a:solidFill>
            <a:prstDash val="solid"/>
          </a:ln>
        </p:spPr>
      </p:sp>
      <p:sp>
        <p:nvSpPr>
          <p:cNvPr id="9" name="Shape 6"/>
          <p:cNvSpPr/>
          <p:nvPr/>
        </p:nvSpPr>
        <p:spPr>
          <a:xfrm>
            <a:off x="731520" y="2157984"/>
            <a:ext cx="1371600" cy="301752"/>
          </a:xfrm>
          <a:prstGeom prst="roundRect">
            <a:avLst>
              <a:gd name="adj" fmla="val 48485"/>
            </a:avLst>
          </a:prstGeom>
          <a:solidFill>
            <a:srgbClr val="E5F5EE"/>
          </a:solidFill>
          <a:ln w="12700">
            <a:solidFill>
              <a:srgbClr val="E5F5EE"/>
            </a:solidFill>
            <a:prstDash val="solid"/>
          </a:ln>
        </p:spPr>
      </p:sp>
      <p:sp>
        <p:nvSpPr>
          <p:cNvPr id="10" name="Text 7"/>
          <p:cNvSpPr/>
          <p:nvPr/>
        </p:nvSpPr>
        <p:spPr>
          <a:xfrm>
            <a:off x="822960" y="2217420"/>
            <a:ext cx="1188720" cy="173736"/>
          </a:xfrm>
          <a:prstGeom prst="rect">
            <a:avLst/>
          </a:prstGeom>
          <a:noFill/>
          <a:ln/>
        </p:spPr>
        <p:txBody>
          <a:bodyPr wrap="square" lIns="0" tIns="0" rIns="0" bIns="0" rtlCol="0" anchor="t"/>
          <a:lstStyle/>
          <a:p>
            <a:pPr algn="ctr" indent="0" marL="0">
              <a:buNone/>
            </a:pPr>
            <a:r>
              <a:rPr lang="en-US" sz="1000" b="1" dirty="0">
                <a:solidFill>
                  <a:srgbClr val="12836F"/>
                </a:solidFill>
                <a:latin typeface="Arial" pitchFamily="34" charset="0"/>
                <a:ea typeface="Arial" pitchFamily="34" charset="-122"/>
                <a:cs typeface="Arial" pitchFamily="34" charset="-120"/>
              </a:rPr>
              <a:t>IMPLEMENTED</a:t>
            </a:r>
            <a:endParaRPr lang="en-US" sz="1000" dirty="0"/>
          </a:p>
        </p:txBody>
      </p:sp>
      <p:sp>
        <p:nvSpPr>
          <p:cNvPr id="11" name="Text 8"/>
          <p:cNvSpPr/>
          <p:nvPr/>
        </p:nvSpPr>
        <p:spPr>
          <a:xfrm>
            <a:off x="731520" y="2660904"/>
            <a:ext cx="3209544" cy="320040"/>
          </a:xfrm>
          <a:prstGeom prst="rect">
            <a:avLst/>
          </a:prstGeom>
          <a:noFill/>
          <a:ln/>
        </p:spPr>
        <p:txBody>
          <a:bodyPr wrap="square" lIns="0" tIns="0" rIns="0" bIns="0" rtlCol="0" anchor="t"/>
          <a:lstStyle/>
          <a:p>
            <a:pPr indent="0" marL="0">
              <a:buNone/>
            </a:pPr>
            <a:r>
              <a:rPr lang="en-US" sz="1800" b="1" dirty="0">
                <a:solidFill>
                  <a:srgbClr val="241C3F"/>
                </a:solidFill>
                <a:latin typeface="Arial" pitchFamily="34" charset="0"/>
                <a:ea typeface="Arial" pitchFamily="34" charset="-122"/>
                <a:cs typeface="Arial" pitchFamily="34" charset="-120"/>
              </a:rPr>
              <a:t>Descriptive alt text</a:t>
            </a:r>
            <a:endParaRPr lang="en-US" sz="1800" dirty="0"/>
          </a:p>
        </p:txBody>
      </p:sp>
      <p:sp>
        <p:nvSpPr>
          <p:cNvPr id="12" name="Text 9"/>
          <p:cNvSpPr/>
          <p:nvPr/>
        </p:nvSpPr>
        <p:spPr>
          <a:xfrm>
            <a:off x="731520" y="3118104"/>
            <a:ext cx="3209544" cy="594360"/>
          </a:xfrm>
          <a:prstGeom prst="rect">
            <a:avLst/>
          </a:prstGeom>
          <a:noFill/>
          <a:ln/>
        </p:spPr>
        <p:txBody>
          <a:bodyPr wrap="square" lIns="0" tIns="0" rIns="0" bIns="0" rtlCol="0" anchor="t"/>
          <a:lstStyle/>
          <a:p>
            <a:pPr indent="0" marL="0">
              <a:buNone/>
            </a:pPr>
            <a:r>
              <a:rPr lang="en-US" sz="1300" dirty="0">
                <a:solidFill>
                  <a:srgbClr val="746C85"/>
                </a:solidFill>
                <a:latin typeface="Arial" pitchFamily="34" charset="0"/>
                <a:ea typeface="Arial" pitchFamily="34" charset="-122"/>
                <a:cs typeface="Arial" pitchFamily="34" charset="-120"/>
              </a:rPr>
              <a:t>The attendance preview describes the calendar and status counts.</a:t>
            </a:r>
            <a:endParaRPr lang="en-US" sz="1300" dirty="0"/>
          </a:p>
        </p:txBody>
      </p:sp>
      <p:sp>
        <p:nvSpPr>
          <p:cNvPr id="13" name="Shape 10"/>
          <p:cNvSpPr/>
          <p:nvPr/>
        </p:nvSpPr>
        <p:spPr>
          <a:xfrm>
            <a:off x="4306824" y="1975104"/>
            <a:ext cx="3575304" cy="1901952"/>
          </a:xfrm>
          <a:prstGeom prst="roundRect">
            <a:avLst>
              <a:gd name="adj" fmla="val 7212"/>
            </a:avLst>
          </a:prstGeom>
          <a:solidFill>
            <a:srgbClr val="FFFFFF"/>
          </a:solidFill>
          <a:ln w="12700">
            <a:solidFill>
              <a:srgbClr val="FFFFFF"/>
            </a:solidFill>
            <a:prstDash val="solid"/>
          </a:ln>
        </p:spPr>
      </p:sp>
      <p:sp>
        <p:nvSpPr>
          <p:cNvPr id="14" name="Shape 11"/>
          <p:cNvSpPr/>
          <p:nvPr/>
        </p:nvSpPr>
        <p:spPr>
          <a:xfrm>
            <a:off x="4489704" y="2157984"/>
            <a:ext cx="1371600" cy="301752"/>
          </a:xfrm>
          <a:prstGeom prst="roundRect">
            <a:avLst>
              <a:gd name="adj" fmla="val 48485"/>
            </a:avLst>
          </a:prstGeom>
          <a:solidFill>
            <a:srgbClr val="E5F5EE"/>
          </a:solidFill>
          <a:ln w="12700">
            <a:solidFill>
              <a:srgbClr val="E5F5EE"/>
            </a:solidFill>
            <a:prstDash val="solid"/>
          </a:ln>
        </p:spPr>
      </p:sp>
      <p:sp>
        <p:nvSpPr>
          <p:cNvPr id="15" name="Text 12"/>
          <p:cNvSpPr/>
          <p:nvPr/>
        </p:nvSpPr>
        <p:spPr>
          <a:xfrm>
            <a:off x="4581144" y="2217420"/>
            <a:ext cx="1188720" cy="173736"/>
          </a:xfrm>
          <a:prstGeom prst="rect">
            <a:avLst/>
          </a:prstGeom>
          <a:noFill/>
          <a:ln/>
        </p:spPr>
        <p:txBody>
          <a:bodyPr wrap="square" lIns="0" tIns="0" rIns="0" bIns="0" rtlCol="0" anchor="t"/>
          <a:lstStyle/>
          <a:p>
            <a:pPr algn="ctr" indent="0" marL="0">
              <a:buNone/>
            </a:pPr>
            <a:r>
              <a:rPr lang="en-US" sz="1000" b="1" dirty="0">
                <a:solidFill>
                  <a:srgbClr val="12836F"/>
                </a:solidFill>
                <a:latin typeface="Arial" pitchFamily="34" charset="0"/>
                <a:ea typeface="Arial" pitchFamily="34" charset="-122"/>
                <a:cs typeface="Arial" pitchFamily="34" charset="-120"/>
              </a:rPr>
              <a:t>IMPLEMENTED</a:t>
            </a:r>
            <a:endParaRPr lang="en-US" sz="1000" dirty="0"/>
          </a:p>
        </p:txBody>
      </p:sp>
      <p:sp>
        <p:nvSpPr>
          <p:cNvPr id="16" name="Text 13"/>
          <p:cNvSpPr/>
          <p:nvPr/>
        </p:nvSpPr>
        <p:spPr>
          <a:xfrm>
            <a:off x="4489704" y="2660904"/>
            <a:ext cx="3209544" cy="320040"/>
          </a:xfrm>
          <a:prstGeom prst="rect">
            <a:avLst/>
          </a:prstGeom>
          <a:noFill/>
          <a:ln/>
        </p:spPr>
        <p:txBody>
          <a:bodyPr wrap="square" lIns="0" tIns="0" rIns="0" bIns="0" rtlCol="0" anchor="t"/>
          <a:lstStyle/>
          <a:p>
            <a:pPr indent="0" marL="0">
              <a:buNone/>
            </a:pPr>
            <a:r>
              <a:rPr lang="en-US" sz="1800" b="1" dirty="0">
                <a:solidFill>
                  <a:srgbClr val="241C3F"/>
                </a:solidFill>
                <a:latin typeface="Arial" pitchFamily="34" charset="0"/>
                <a:ea typeface="Arial" pitchFamily="34" charset="-122"/>
                <a:cs typeface="Arial" pitchFamily="34" charset="-120"/>
              </a:rPr>
              <a:t>Decorative SVGs</a:t>
            </a:r>
            <a:endParaRPr lang="en-US" sz="1800" dirty="0"/>
          </a:p>
        </p:txBody>
      </p:sp>
      <p:sp>
        <p:nvSpPr>
          <p:cNvPr id="17" name="Text 14"/>
          <p:cNvSpPr/>
          <p:nvPr/>
        </p:nvSpPr>
        <p:spPr>
          <a:xfrm>
            <a:off x="4489704" y="3118104"/>
            <a:ext cx="3209544" cy="594360"/>
          </a:xfrm>
          <a:prstGeom prst="rect">
            <a:avLst/>
          </a:prstGeom>
          <a:noFill/>
          <a:ln/>
        </p:spPr>
        <p:txBody>
          <a:bodyPr wrap="square" lIns="0" tIns="0" rIns="0" bIns="0" rtlCol="0" anchor="t"/>
          <a:lstStyle/>
          <a:p>
            <a:pPr indent="0" marL="0">
              <a:buNone/>
            </a:pPr>
            <a:r>
              <a:rPr lang="en-US" sz="1300" dirty="0">
                <a:solidFill>
                  <a:srgbClr val="746C85"/>
                </a:solidFill>
                <a:latin typeface="Arial" pitchFamily="34" charset="0"/>
                <a:ea typeface="Arial" pitchFamily="34" charset="-122"/>
                <a:cs typeface="Arial" pitchFamily="34" charset="-120"/>
              </a:rPr>
              <a:t>Icons are hidden from screen readers; controls keep text or labels.</a:t>
            </a:r>
            <a:endParaRPr lang="en-US" sz="1300" dirty="0"/>
          </a:p>
        </p:txBody>
      </p:sp>
      <p:sp>
        <p:nvSpPr>
          <p:cNvPr id="18" name="Shape 15"/>
          <p:cNvSpPr/>
          <p:nvPr/>
        </p:nvSpPr>
        <p:spPr>
          <a:xfrm>
            <a:off x="8065008" y="1975104"/>
            <a:ext cx="3575304" cy="1901952"/>
          </a:xfrm>
          <a:prstGeom prst="roundRect">
            <a:avLst>
              <a:gd name="adj" fmla="val 7212"/>
            </a:avLst>
          </a:prstGeom>
          <a:solidFill>
            <a:srgbClr val="FFFFFF"/>
          </a:solidFill>
          <a:ln w="12700">
            <a:solidFill>
              <a:srgbClr val="FFFFFF"/>
            </a:solidFill>
            <a:prstDash val="solid"/>
          </a:ln>
        </p:spPr>
      </p:sp>
      <p:sp>
        <p:nvSpPr>
          <p:cNvPr id="19" name="Shape 16"/>
          <p:cNvSpPr/>
          <p:nvPr/>
        </p:nvSpPr>
        <p:spPr>
          <a:xfrm>
            <a:off x="8247888" y="2157984"/>
            <a:ext cx="1371600" cy="301752"/>
          </a:xfrm>
          <a:prstGeom prst="roundRect">
            <a:avLst>
              <a:gd name="adj" fmla="val 48485"/>
            </a:avLst>
          </a:prstGeom>
          <a:solidFill>
            <a:srgbClr val="E5F5EE"/>
          </a:solidFill>
          <a:ln w="12700">
            <a:solidFill>
              <a:srgbClr val="E5F5EE"/>
            </a:solidFill>
            <a:prstDash val="solid"/>
          </a:ln>
        </p:spPr>
      </p:sp>
      <p:sp>
        <p:nvSpPr>
          <p:cNvPr id="20" name="Text 17"/>
          <p:cNvSpPr/>
          <p:nvPr/>
        </p:nvSpPr>
        <p:spPr>
          <a:xfrm>
            <a:off x="8339328" y="2217420"/>
            <a:ext cx="1188720" cy="173736"/>
          </a:xfrm>
          <a:prstGeom prst="rect">
            <a:avLst/>
          </a:prstGeom>
          <a:noFill/>
          <a:ln/>
        </p:spPr>
        <p:txBody>
          <a:bodyPr wrap="square" lIns="0" tIns="0" rIns="0" bIns="0" rtlCol="0" anchor="t"/>
          <a:lstStyle/>
          <a:p>
            <a:pPr algn="ctr" indent="0" marL="0">
              <a:buNone/>
            </a:pPr>
            <a:r>
              <a:rPr lang="en-US" sz="1000" b="1" dirty="0">
                <a:solidFill>
                  <a:srgbClr val="12836F"/>
                </a:solidFill>
                <a:latin typeface="Arial" pitchFamily="34" charset="0"/>
                <a:ea typeface="Arial" pitchFamily="34" charset="-122"/>
                <a:cs typeface="Arial" pitchFamily="34" charset="-120"/>
              </a:rPr>
              <a:t>IMPLEMENTED</a:t>
            </a:r>
            <a:endParaRPr lang="en-US" sz="1000" dirty="0"/>
          </a:p>
        </p:txBody>
      </p:sp>
      <p:sp>
        <p:nvSpPr>
          <p:cNvPr id="21" name="Text 18"/>
          <p:cNvSpPr/>
          <p:nvPr/>
        </p:nvSpPr>
        <p:spPr>
          <a:xfrm>
            <a:off x="8247888" y="2660904"/>
            <a:ext cx="3209544" cy="320040"/>
          </a:xfrm>
          <a:prstGeom prst="rect">
            <a:avLst/>
          </a:prstGeom>
          <a:noFill/>
          <a:ln/>
        </p:spPr>
        <p:txBody>
          <a:bodyPr wrap="square" lIns="0" tIns="0" rIns="0" bIns="0" rtlCol="0" anchor="t"/>
          <a:lstStyle/>
          <a:p>
            <a:pPr indent="0" marL="0">
              <a:buNone/>
            </a:pPr>
            <a:r>
              <a:rPr lang="en-US" sz="1800" b="1" dirty="0">
                <a:solidFill>
                  <a:srgbClr val="241C3F"/>
                </a:solidFill>
                <a:latin typeface="Arial" pitchFamily="34" charset="0"/>
                <a:ea typeface="Arial" pitchFamily="34" charset="-122"/>
                <a:cs typeface="Arial" pitchFamily="34" charset="-120"/>
              </a:rPr>
              <a:t>Reduced motion</a:t>
            </a:r>
            <a:endParaRPr lang="en-US" sz="1800" dirty="0"/>
          </a:p>
        </p:txBody>
      </p:sp>
      <p:sp>
        <p:nvSpPr>
          <p:cNvPr id="22" name="Text 19"/>
          <p:cNvSpPr/>
          <p:nvPr/>
        </p:nvSpPr>
        <p:spPr>
          <a:xfrm>
            <a:off x="8247888" y="3118104"/>
            <a:ext cx="3209544" cy="594360"/>
          </a:xfrm>
          <a:prstGeom prst="rect">
            <a:avLst/>
          </a:prstGeom>
          <a:noFill/>
          <a:ln/>
        </p:spPr>
        <p:txBody>
          <a:bodyPr wrap="square" lIns="0" tIns="0" rIns="0" bIns="0" rtlCol="0" anchor="t"/>
          <a:lstStyle/>
          <a:p>
            <a:pPr indent="0" marL="0">
              <a:buNone/>
            </a:pPr>
            <a:r>
              <a:rPr lang="en-US" sz="1300" dirty="0">
                <a:solidFill>
                  <a:srgbClr val="746C85"/>
                </a:solidFill>
                <a:latin typeface="Arial" pitchFamily="34" charset="0"/>
                <a:ea typeface="Arial" pitchFamily="34" charset="-122"/>
                <a:cs typeface="Arial" pitchFamily="34" charset="-120"/>
              </a:rPr>
              <a:t>The user’s preference disables animations and transitions.</a:t>
            </a:r>
            <a:endParaRPr lang="en-US" sz="1300" dirty="0"/>
          </a:p>
        </p:txBody>
      </p:sp>
      <p:sp>
        <p:nvSpPr>
          <p:cNvPr id="23" name="Shape 20"/>
          <p:cNvSpPr/>
          <p:nvPr/>
        </p:nvSpPr>
        <p:spPr>
          <a:xfrm>
            <a:off x="548640" y="4059936"/>
            <a:ext cx="3575304" cy="1901952"/>
          </a:xfrm>
          <a:prstGeom prst="roundRect">
            <a:avLst>
              <a:gd name="adj" fmla="val 7212"/>
            </a:avLst>
          </a:prstGeom>
          <a:solidFill>
            <a:srgbClr val="FFFFFF"/>
          </a:solidFill>
          <a:ln w="12700">
            <a:solidFill>
              <a:srgbClr val="FFFFFF"/>
            </a:solidFill>
            <a:prstDash val="solid"/>
          </a:ln>
        </p:spPr>
      </p:sp>
      <p:sp>
        <p:nvSpPr>
          <p:cNvPr id="24" name="Shape 21"/>
          <p:cNvSpPr/>
          <p:nvPr/>
        </p:nvSpPr>
        <p:spPr>
          <a:xfrm>
            <a:off x="731520" y="4242816"/>
            <a:ext cx="1371600" cy="301752"/>
          </a:xfrm>
          <a:prstGeom prst="roundRect">
            <a:avLst>
              <a:gd name="adj" fmla="val 48485"/>
            </a:avLst>
          </a:prstGeom>
          <a:solidFill>
            <a:srgbClr val="E5F5EE"/>
          </a:solidFill>
          <a:ln w="12700">
            <a:solidFill>
              <a:srgbClr val="E5F5EE"/>
            </a:solidFill>
            <a:prstDash val="solid"/>
          </a:ln>
        </p:spPr>
      </p:sp>
      <p:sp>
        <p:nvSpPr>
          <p:cNvPr id="25" name="Text 22"/>
          <p:cNvSpPr/>
          <p:nvPr/>
        </p:nvSpPr>
        <p:spPr>
          <a:xfrm>
            <a:off x="822960" y="4302252"/>
            <a:ext cx="1188720" cy="173736"/>
          </a:xfrm>
          <a:prstGeom prst="rect">
            <a:avLst/>
          </a:prstGeom>
          <a:noFill/>
          <a:ln/>
        </p:spPr>
        <p:txBody>
          <a:bodyPr wrap="square" lIns="0" tIns="0" rIns="0" bIns="0" rtlCol="0" anchor="t"/>
          <a:lstStyle/>
          <a:p>
            <a:pPr algn="ctr" indent="0" marL="0">
              <a:buNone/>
            </a:pPr>
            <a:r>
              <a:rPr lang="en-US" sz="1000" b="1" dirty="0">
                <a:solidFill>
                  <a:srgbClr val="12836F"/>
                </a:solidFill>
                <a:latin typeface="Arial" pitchFamily="34" charset="0"/>
                <a:ea typeface="Arial" pitchFamily="34" charset="-122"/>
                <a:cs typeface="Arial" pitchFamily="34" charset="-120"/>
              </a:rPr>
              <a:t>IMPLEMENTED</a:t>
            </a:r>
            <a:endParaRPr lang="en-US" sz="1000" dirty="0"/>
          </a:p>
        </p:txBody>
      </p:sp>
      <p:sp>
        <p:nvSpPr>
          <p:cNvPr id="26" name="Text 23"/>
          <p:cNvSpPr/>
          <p:nvPr/>
        </p:nvSpPr>
        <p:spPr>
          <a:xfrm>
            <a:off x="731520" y="4745736"/>
            <a:ext cx="3209544" cy="320040"/>
          </a:xfrm>
          <a:prstGeom prst="rect">
            <a:avLst/>
          </a:prstGeom>
          <a:noFill/>
          <a:ln/>
        </p:spPr>
        <p:txBody>
          <a:bodyPr wrap="square" lIns="0" tIns="0" rIns="0" bIns="0" rtlCol="0" anchor="t"/>
          <a:lstStyle/>
          <a:p>
            <a:pPr indent="0" marL="0">
              <a:buNone/>
            </a:pPr>
            <a:r>
              <a:rPr lang="en-US" sz="1800" b="1" dirty="0">
                <a:solidFill>
                  <a:srgbClr val="241C3F"/>
                </a:solidFill>
                <a:latin typeface="Arial" pitchFamily="34" charset="0"/>
                <a:ea typeface="Arial" pitchFamily="34" charset="-122"/>
                <a:cs typeface="Arial" pitchFamily="34" charset="-120"/>
              </a:rPr>
              <a:t>Visible progress</a:t>
            </a:r>
            <a:endParaRPr lang="en-US" sz="1800" dirty="0"/>
          </a:p>
        </p:txBody>
      </p:sp>
      <p:sp>
        <p:nvSpPr>
          <p:cNvPr id="27" name="Text 24"/>
          <p:cNvSpPr/>
          <p:nvPr/>
        </p:nvSpPr>
        <p:spPr>
          <a:xfrm>
            <a:off x="731520" y="5202936"/>
            <a:ext cx="3209544" cy="594360"/>
          </a:xfrm>
          <a:prstGeom prst="rect">
            <a:avLst/>
          </a:prstGeom>
          <a:noFill/>
          <a:ln/>
        </p:spPr>
        <p:txBody>
          <a:bodyPr wrap="square" lIns="0" tIns="0" rIns="0" bIns="0" rtlCol="0" anchor="t"/>
          <a:lstStyle/>
          <a:p>
            <a:pPr indent="0" marL="0">
              <a:buNone/>
            </a:pPr>
            <a:r>
              <a:rPr lang="en-US" sz="1300" dirty="0">
                <a:solidFill>
                  <a:srgbClr val="746C85"/>
                </a:solidFill>
                <a:latin typeface="Arial" pitchFamily="34" charset="0"/>
                <a:ea typeface="Arial" pitchFamily="34" charset="-122"/>
                <a:cs typeface="Arial" pitchFamily="34" charset="-120"/>
              </a:rPr>
              <a:t>Login progress has text and a visual pulse. No sound-only information.</a:t>
            </a:r>
            <a:endParaRPr lang="en-US" sz="1300" dirty="0"/>
          </a:p>
        </p:txBody>
      </p:sp>
      <p:sp>
        <p:nvSpPr>
          <p:cNvPr id="28" name="Shape 25"/>
          <p:cNvSpPr/>
          <p:nvPr/>
        </p:nvSpPr>
        <p:spPr>
          <a:xfrm>
            <a:off x="4306824" y="4059936"/>
            <a:ext cx="3575304" cy="1901952"/>
          </a:xfrm>
          <a:prstGeom prst="roundRect">
            <a:avLst>
              <a:gd name="adj" fmla="val 7212"/>
            </a:avLst>
          </a:prstGeom>
          <a:solidFill>
            <a:srgbClr val="FFFFFF"/>
          </a:solidFill>
          <a:ln w="12700">
            <a:solidFill>
              <a:srgbClr val="FFFFFF"/>
            </a:solidFill>
            <a:prstDash val="solid"/>
          </a:ln>
        </p:spPr>
      </p:sp>
      <p:sp>
        <p:nvSpPr>
          <p:cNvPr id="29" name="Shape 26"/>
          <p:cNvSpPr/>
          <p:nvPr/>
        </p:nvSpPr>
        <p:spPr>
          <a:xfrm>
            <a:off x="4489704" y="4242816"/>
            <a:ext cx="1764792" cy="301752"/>
          </a:xfrm>
          <a:prstGeom prst="roundRect">
            <a:avLst>
              <a:gd name="adj" fmla="val 48485"/>
            </a:avLst>
          </a:prstGeom>
          <a:solidFill>
            <a:srgbClr val="E9E1FC"/>
          </a:solidFill>
          <a:ln w="12700">
            <a:solidFill>
              <a:srgbClr val="E9E1FC"/>
            </a:solidFill>
            <a:prstDash val="solid"/>
          </a:ln>
        </p:spPr>
      </p:sp>
      <p:sp>
        <p:nvSpPr>
          <p:cNvPr id="30" name="Text 27"/>
          <p:cNvSpPr/>
          <p:nvPr/>
        </p:nvSpPr>
        <p:spPr>
          <a:xfrm>
            <a:off x="4581144" y="4302252"/>
            <a:ext cx="1581912" cy="173736"/>
          </a:xfrm>
          <a:prstGeom prst="rect">
            <a:avLst/>
          </a:prstGeom>
          <a:noFill/>
          <a:ln/>
        </p:spPr>
        <p:txBody>
          <a:bodyPr wrap="square" lIns="0" tIns="0" rIns="0" bIns="0" rtlCol="0" anchor="t"/>
          <a:lstStyle/>
          <a:p>
            <a:pPr algn="ctr" indent="0" marL="0">
              <a:buNone/>
            </a:pPr>
            <a:r>
              <a:rPr lang="en-US" sz="1000" b="1" dirty="0">
                <a:solidFill>
                  <a:srgbClr val="6540DB"/>
                </a:solidFill>
                <a:latin typeface="Arial" pitchFamily="34" charset="0"/>
                <a:ea typeface="Arial" pitchFamily="34" charset="-122"/>
                <a:cs typeface="Arial" pitchFamily="34" charset="-120"/>
              </a:rPr>
              <a:t>NOT APPLICABLE</a:t>
            </a:r>
            <a:endParaRPr lang="en-US" sz="1000" dirty="0"/>
          </a:p>
        </p:txBody>
      </p:sp>
      <p:sp>
        <p:nvSpPr>
          <p:cNvPr id="31" name="Text 28"/>
          <p:cNvSpPr/>
          <p:nvPr/>
        </p:nvSpPr>
        <p:spPr>
          <a:xfrm>
            <a:off x="4489704" y="4745736"/>
            <a:ext cx="3209544" cy="320040"/>
          </a:xfrm>
          <a:prstGeom prst="rect">
            <a:avLst/>
          </a:prstGeom>
          <a:noFill/>
          <a:ln/>
        </p:spPr>
        <p:txBody>
          <a:bodyPr wrap="square" lIns="0" tIns="0" rIns="0" bIns="0" rtlCol="0" anchor="t"/>
          <a:lstStyle/>
          <a:p>
            <a:pPr indent="0" marL="0">
              <a:buNone/>
            </a:pPr>
            <a:r>
              <a:rPr lang="en-US" sz="1800" b="1" dirty="0">
                <a:solidFill>
                  <a:srgbClr val="241C3F"/>
                </a:solidFill>
                <a:latin typeface="Arial" pitchFamily="34" charset="0"/>
                <a:ea typeface="Arial" pitchFamily="34" charset="-122"/>
                <a:cs typeface="Arial" pitchFamily="34" charset="-120"/>
              </a:rPr>
              <a:t>Captions / transcript</a:t>
            </a:r>
            <a:endParaRPr lang="en-US" sz="1800" dirty="0"/>
          </a:p>
        </p:txBody>
      </p:sp>
      <p:sp>
        <p:nvSpPr>
          <p:cNvPr id="32" name="Text 29"/>
          <p:cNvSpPr/>
          <p:nvPr/>
        </p:nvSpPr>
        <p:spPr>
          <a:xfrm>
            <a:off x="4489704" y="5202936"/>
            <a:ext cx="3209544" cy="594360"/>
          </a:xfrm>
          <a:prstGeom prst="rect">
            <a:avLst/>
          </a:prstGeom>
          <a:noFill/>
          <a:ln/>
        </p:spPr>
        <p:txBody>
          <a:bodyPr wrap="square" lIns="0" tIns="0" rIns="0" bIns="0" rtlCol="0" anchor="t"/>
          <a:lstStyle/>
          <a:p>
            <a:pPr indent="0" marL="0">
              <a:buNone/>
            </a:pPr>
            <a:r>
              <a:rPr lang="en-US" sz="1300" dirty="0">
                <a:solidFill>
                  <a:srgbClr val="746C85"/>
                </a:solidFill>
                <a:latin typeface="Arial" pitchFamily="34" charset="0"/>
                <a:ea typeface="Arial" pitchFamily="34" charset="-122"/>
                <a:cs typeface="Arial" pitchFamily="34" charset="-120"/>
              </a:rPr>
              <a:t>No speech audio or video is embedded in the prototype.</a:t>
            </a:r>
            <a:endParaRPr lang="en-US" sz="1300" dirty="0"/>
          </a:p>
        </p:txBody>
      </p:sp>
      <p:sp>
        <p:nvSpPr>
          <p:cNvPr id="33" name="Shape 30"/>
          <p:cNvSpPr/>
          <p:nvPr/>
        </p:nvSpPr>
        <p:spPr>
          <a:xfrm>
            <a:off x="8065008" y="4059936"/>
            <a:ext cx="3575304" cy="1901952"/>
          </a:xfrm>
          <a:prstGeom prst="roundRect">
            <a:avLst>
              <a:gd name="adj" fmla="val 7212"/>
            </a:avLst>
          </a:prstGeom>
          <a:solidFill>
            <a:srgbClr val="FFFFFF"/>
          </a:solidFill>
          <a:ln w="12700">
            <a:solidFill>
              <a:srgbClr val="FFFFFF"/>
            </a:solidFill>
            <a:prstDash val="solid"/>
          </a:ln>
        </p:spPr>
      </p:sp>
      <p:sp>
        <p:nvSpPr>
          <p:cNvPr id="34" name="Shape 31"/>
          <p:cNvSpPr/>
          <p:nvPr/>
        </p:nvSpPr>
        <p:spPr>
          <a:xfrm>
            <a:off x="8247888" y="4242816"/>
            <a:ext cx="1764792" cy="301752"/>
          </a:xfrm>
          <a:prstGeom prst="roundRect">
            <a:avLst>
              <a:gd name="adj" fmla="val 48485"/>
            </a:avLst>
          </a:prstGeom>
          <a:solidFill>
            <a:srgbClr val="E9E1FC"/>
          </a:solidFill>
          <a:ln w="12700">
            <a:solidFill>
              <a:srgbClr val="E9E1FC"/>
            </a:solidFill>
            <a:prstDash val="solid"/>
          </a:ln>
        </p:spPr>
      </p:sp>
      <p:sp>
        <p:nvSpPr>
          <p:cNvPr id="35" name="Text 32"/>
          <p:cNvSpPr/>
          <p:nvPr/>
        </p:nvSpPr>
        <p:spPr>
          <a:xfrm>
            <a:off x="8339328" y="4302252"/>
            <a:ext cx="1581912" cy="173736"/>
          </a:xfrm>
          <a:prstGeom prst="rect">
            <a:avLst/>
          </a:prstGeom>
          <a:noFill/>
          <a:ln/>
        </p:spPr>
        <p:txBody>
          <a:bodyPr wrap="square" lIns="0" tIns="0" rIns="0" bIns="0" rtlCol="0" anchor="t"/>
          <a:lstStyle/>
          <a:p>
            <a:pPr algn="ctr" indent="0" marL="0">
              <a:buNone/>
            </a:pPr>
            <a:r>
              <a:rPr lang="en-US" sz="1000" b="1" dirty="0">
                <a:solidFill>
                  <a:srgbClr val="6540DB"/>
                </a:solidFill>
                <a:latin typeface="Arial" pitchFamily="34" charset="0"/>
                <a:ea typeface="Arial" pitchFamily="34" charset="-122"/>
                <a:cs typeface="Arial" pitchFamily="34" charset="-120"/>
              </a:rPr>
              <a:t>NOT APPLICABLE</a:t>
            </a:r>
            <a:endParaRPr lang="en-US" sz="1000" dirty="0"/>
          </a:p>
        </p:txBody>
      </p:sp>
      <p:sp>
        <p:nvSpPr>
          <p:cNvPr id="36" name="Text 33"/>
          <p:cNvSpPr/>
          <p:nvPr/>
        </p:nvSpPr>
        <p:spPr>
          <a:xfrm>
            <a:off x="8247888" y="4745736"/>
            <a:ext cx="3209544" cy="320040"/>
          </a:xfrm>
          <a:prstGeom prst="rect">
            <a:avLst/>
          </a:prstGeom>
          <a:noFill/>
          <a:ln/>
        </p:spPr>
        <p:txBody>
          <a:bodyPr wrap="square" lIns="0" tIns="0" rIns="0" bIns="0" rtlCol="0" anchor="t"/>
          <a:lstStyle/>
          <a:p>
            <a:pPr indent="0" marL="0">
              <a:buNone/>
            </a:pPr>
            <a:r>
              <a:rPr lang="en-US" sz="1800" b="1" dirty="0">
                <a:solidFill>
                  <a:srgbClr val="241C3F"/>
                </a:solidFill>
                <a:latin typeface="Arial" pitchFamily="34" charset="0"/>
                <a:ea typeface="Arial" pitchFamily="34" charset="-122"/>
                <a:cs typeface="Arial" pitchFamily="34" charset="-120"/>
              </a:rPr>
              <a:t>Text over images</a:t>
            </a:r>
            <a:endParaRPr lang="en-US" sz="1800" dirty="0"/>
          </a:p>
        </p:txBody>
      </p:sp>
      <p:sp>
        <p:nvSpPr>
          <p:cNvPr id="37" name="Text 34"/>
          <p:cNvSpPr/>
          <p:nvPr/>
        </p:nvSpPr>
        <p:spPr>
          <a:xfrm>
            <a:off x="8247888" y="5202936"/>
            <a:ext cx="3209544" cy="594360"/>
          </a:xfrm>
          <a:prstGeom prst="rect">
            <a:avLst/>
          </a:prstGeom>
          <a:noFill/>
          <a:ln/>
        </p:spPr>
        <p:txBody>
          <a:bodyPr wrap="square" lIns="0" tIns="0" rIns="0" bIns="0" rtlCol="0" anchor="t"/>
          <a:lstStyle/>
          <a:p>
            <a:pPr indent="0" marL="0">
              <a:buNone/>
            </a:pPr>
            <a:r>
              <a:rPr lang="en-US" sz="1300" dirty="0">
                <a:solidFill>
                  <a:srgbClr val="746C85"/>
                </a:solidFill>
                <a:latin typeface="Arial" pitchFamily="34" charset="0"/>
                <a:ea typeface="Arial" pitchFamily="34" charset="-122"/>
                <a:cs typeface="Arial" pitchFamily="34" charset="-120"/>
              </a:rPr>
              <a:t>Captions sit below images; live text does not overlay raster images.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41448"/>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C9B7FA"/>
                </a:solidFill>
                <a:latin typeface="Arial" pitchFamily="34" charset="0"/>
                <a:ea typeface="Arial" pitchFamily="34" charset="-122"/>
                <a:cs typeface="Arial" pitchFamily="34" charset="-120"/>
              </a:rPr>
              <a:t>PART C / MULTIMEDIA PRESENTATION</a:t>
            </a:r>
            <a:endParaRPr lang="en-US" sz="1050" dirty="0"/>
          </a:p>
        </p:txBody>
      </p:sp>
      <p:sp>
        <p:nvSpPr>
          <p:cNvPr id="3" name="Text 1"/>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C7B9EC"/>
                </a:solidFill>
                <a:latin typeface="Arial" pitchFamily="34" charset="0"/>
                <a:ea typeface="Arial" pitchFamily="34" charset="-122"/>
                <a:cs typeface="Arial" pitchFamily="34" charset="-120"/>
              </a:rPr>
              <a:t>MY AITU  /  ICT ASSIGNMENT 4</a:t>
            </a:r>
            <a:endParaRPr lang="en-US" sz="930" dirty="0"/>
          </a:p>
        </p:txBody>
      </p:sp>
      <p:sp>
        <p:nvSpPr>
          <p:cNvPr id="4" name="Text 2"/>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C7B9EC"/>
                </a:solidFill>
                <a:latin typeface="Arial" pitchFamily="34" charset="0"/>
                <a:ea typeface="Arial" pitchFamily="34" charset="-122"/>
                <a:cs typeface="Arial" pitchFamily="34" charset="-120"/>
              </a:rPr>
              <a:t>11 / 19</a:t>
            </a:r>
            <a:endParaRPr lang="en-US" sz="930" dirty="0"/>
          </a:p>
        </p:txBody>
      </p:sp>
      <p:sp>
        <p:nvSpPr>
          <p:cNvPr id="6" name="Shape 3"/>
          <p:cNvSpPr/>
          <p:nvPr/>
        </p:nvSpPr>
        <p:spPr>
          <a:xfrm>
            <a:off x="10652760" y="594360"/>
            <a:ext cx="59436" cy="59436"/>
          </a:xfrm>
          <a:prstGeom prst="rect">
            <a:avLst/>
          </a:prstGeom>
          <a:solidFill>
            <a:srgbClr val="8061BB"/>
          </a:solidFill>
          <a:ln w="12700">
            <a:solidFill>
              <a:srgbClr val="8061BB"/>
            </a:solidFill>
            <a:prstDash val="solid"/>
          </a:ln>
        </p:spPr>
      </p:sp>
      <p:sp>
        <p:nvSpPr>
          <p:cNvPr id="7" name="Shape 4"/>
          <p:cNvSpPr/>
          <p:nvPr/>
        </p:nvSpPr>
        <p:spPr>
          <a:xfrm>
            <a:off x="10652760" y="758952"/>
            <a:ext cx="59436" cy="59436"/>
          </a:xfrm>
          <a:prstGeom prst="rect">
            <a:avLst/>
          </a:prstGeom>
          <a:solidFill>
            <a:srgbClr val="8061BB"/>
          </a:solidFill>
          <a:ln w="12700">
            <a:solidFill>
              <a:srgbClr val="8061BB"/>
            </a:solidFill>
            <a:prstDash val="solid"/>
          </a:ln>
        </p:spPr>
      </p:sp>
      <p:sp>
        <p:nvSpPr>
          <p:cNvPr id="8" name="Shape 5"/>
          <p:cNvSpPr/>
          <p:nvPr/>
        </p:nvSpPr>
        <p:spPr>
          <a:xfrm>
            <a:off x="10652760" y="923544"/>
            <a:ext cx="59436" cy="59436"/>
          </a:xfrm>
          <a:prstGeom prst="rect">
            <a:avLst/>
          </a:prstGeom>
          <a:solidFill>
            <a:srgbClr val="8061BB"/>
          </a:solidFill>
          <a:ln w="12700">
            <a:solidFill>
              <a:srgbClr val="8061BB"/>
            </a:solidFill>
            <a:prstDash val="solid"/>
          </a:ln>
        </p:spPr>
      </p:sp>
      <p:sp>
        <p:nvSpPr>
          <p:cNvPr id="9" name="Shape 6"/>
          <p:cNvSpPr/>
          <p:nvPr/>
        </p:nvSpPr>
        <p:spPr>
          <a:xfrm>
            <a:off x="10652760" y="1088136"/>
            <a:ext cx="59436" cy="59436"/>
          </a:xfrm>
          <a:prstGeom prst="rect">
            <a:avLst/>
          </a:prstGeom>
          <a:solidFill>
            <a:srgbClr val="8061BB"/>
          </a:solidFill>
          <a:ln w="12700">
            <a:solidFill>
              <a:srgbClr val="8061BB"/>
            </a:solidFill>
            <a:prstDash val="solid"/>
          </a:ln>
        </p:spPr>
      </p:sp>
      <p:sp>
        <p:nvSpPr>
          <p:cNvPr id="10" name="Shape 7"/>
          <p:cNvSpPr/>
          <p:nvPr/>
        </p:nvSpPr>
        <p:spPr>
          <a:xfrm>
            <a:off x="10817352" y="594360"/>
            <a:ext cx="59436" cy="59436"/>
          </a:xfrm>
          <a:prstGeom prst="rect">
            <a:avLst/>
          </a:prstGeom>
          <a:solidFill>
            <a:srgbClr val="8061BB"/>
          </a:solidFill>
          <a:ln w="12700">
            <a:solidFill>
              <a:srgbClr val="8061BB"/>
            </a:solidFill>
            <a:prstDash val="solid"/>
          </a:ln>
        </p:spPr>
      </p:sp>
      <p:sp>
        <p:nvSpPr>
          <p:cNvPr id="11" name="Shape 8"/>
          <p:cNvSpPr/>
          <p:nvPr/>
        </p:nvSpPr>
        <p:spPr>
          <a:xfrm>
            <a:off x="10817352" y="758952"/>
            <a:ext cx="59436" cy="59436"/>
          </a:xfrm>
          <a:prstGeom prst="rect">
            <a:avLst/>
          </a:prstGeom>
          <a:solidFill>
            <a:srgbClr val="8061BB"/>
          </a:solidFill>
          <a:ln w="12700">
            <a:solidFill>
              <a:srgbClr val="8061BB"/>
            </a:solidFill>
            <a:prstDash val="solid"/>
          </a:ln>
        </p:spPr>
      </p:sp>
      <p:sp>
        <p:nvSpPr>
          <p:cNvPr id="12" name="Shape 9"/>
          <p:cNvSpPr/>
          <p:nvPr/>
        </p:nvSpPr>
        <p:spPr>
          <a:xfrm>
            <a:off x="10817352" y="923544"/>
            <a:ext cx="59436" cy="59436"/>
          </a:xfrm>
          <a:prstGeom prst="rect">
            <a:avLst/>
          </a:prstGeom>
          <a:solidFill>
            <a:srgbClr val="8061BB"/>
          </a:solidFill>
          <a:ln w="12700">
            <a:solidFill>
              <a:srgbClr val="8061BB"/>
            </a:solidFill>
            <a:prstDash val="solid"/>
          </a:ln>
        </p:spPr>
      </p:sp>
      <p:sp>
        <p:nvSpPr>
          <p:cNvPr id="13" name="Shape 10"/>
          <p:cNvSpPr/>
          <p:nvPr/>
        </p:nvSpPr>
        <p:spPr>
          <a:xfrm>
            <a:off x="10817352" y="1088136"/>
            <a:ext cx="59436" cy="59436"/>
          </a:xfrm>
          <a:prstGeom prst="rect">
            <a:avLst/>
          </a:prstGeom>
          <a:solidFill>
            <a:srgbClr val="8061BB"/>
          </a:solidFill>
          <a:ln w="12700">
            <a:solidFill>
              <a:srgbClr val="8061BB"/>
            </a:solidFill>
            <a:prstDash val="solid"/>
          </a:ln>
        </p:spPr>
      </p:sp>
      <p:sp>
        <p:nvSpPr>
          <p:cNvPr id="14" name="Shape 11"/>
          <p:cNvSpPr/>
          <p:nvPr/>
        </p:nvSpPr>
        <p:spPr>
          <a:xfrm>
            <a:off x="10981944" y="594360"/>
            <a:ext cx="59436" cy="59436"/>
          </a:xfrm>
          <a:prstGeom prst="rect">
            <a:avLst/>
          </a:prstGeom>
          <a:solidFill>
            <a:srgbClr val="8061BB"/>
          </a:solidFill>
          <a:ln w="12700">
            <a:solidFill>
              <a:srgbClr val="8061BB"/>
            </a:solidFill>
            <a:prstDash val="solid"/>
          </a:ln>
        </p:spPr>
      </p:sp>
      <p:sp>
        <p:nvSpPr>
          <p:cNvPr id="15" name="Shape 12"/>
          <p:cNvSpPr/>
          <p:nvPr/>
        </p:nvSpPr>
        <p:spPr>
          <a:xfrm>
            <a:off x="10981944" y="758952"/>
            <a:ext cx="59436" cy="59436"/>
          </a:xfrm>
          <a:prstGeom prst="rect">
            <a:avLst/>
          </a:prstGeom>
          <a:solidFill>
            <a:srgbClr val="8061BB"/>
          </a:solidFill>
          <a:ln w="12700">
            <a:solidFill>
              <a:srgbClr val="8061BB"/>
            </a:solidFill>
            <a:prstDash val="solid"/>
          </a:ln>
        </p:spPr>
      </p:sp>
      <p:sp>
        <p:nvSpPr>
          <p:cNvPr id="16" name="Shape 13"/>
          <p:cNvSpPr/>
          <p:nvPr/>
        </p:nvSpPr>
        <p:spPr>
          <a:xfrm>
            <a:off x="10981944" y="923544"/>
            <a:ext cx="59436" cy="59436"/>
          </a:xfrm>
          <a:prstGeom prst="rect">
            <a:avLst/>
          </a:prstGeom>
          <a:solidFill>
            <a:srgbClr val="8061BB"/>
          </a:solidFill>
          <a:ln w="12700">
            <a:solidFill>
              <a:srgbClr val="8061BB"/>
            </a:solidFill>
            <a:prstDash val="solid"/>
          </a:ln>
        </p:spPr>
      </p:sp>
      <p:sp>
        <p:nvSpPr>
          <p:cNvPr id="17" name="Shape 14"/>
          <p:cNvSpPr/>
          <p:nvPr/>
        </p:nvSpPr>
        <p:spPr>
          <a:xfrm>
            <a:off x="10981944" y="1088136"/>
            <a:ext cx="59436" cy="59436"/>
          </a:xfrm>
          <a:prstGeom prst="rect">
            <a:avLst/>
          </a:prstGeom>
          <a:solidFill>
            <a:srgbClr val="8061BB"/>
          </a:solidFill>
          <a:ln w="12700">
            <a:solidFill>
              <a:srgbClr val="8061BB"/>
            </a:solidFill>
            <a:prstDash val="solid"/>
          </a:ln>
        </p:spPr>
      </p:sp>
      <p:sp>
        <p:nvSpPr>
          <p:cNvPr id="18" name="Shape 15"/>
          <p:cNvSpPr/>
          <p:nvPr/>
        </p:nvSpPr>
        <p:spPr>
          <a:xfrm>
            <a:off x="11146536" y="594360"/>
            <a:ext cx="59436" cy="59436"/>
          </a:xfrm>
          <a:prstGeom prst="rect">
            <a:avLst/>
          </a:prstGeom>
          <a:solidFill>
            <a:srgbClr val="8061BB"/>
          </a:solidFill>
          <a:ln w="12700">
            <a:solidFill>
              <a:srgbClr val="8061BB"/>
            </a:solidFill>
            <a:prstDash val="solid"/>
          </a:ln>
        </p:spPr>
      </p:sp>
      <p:sp>
        <p:nvSpPr>
          <p:cNvPr id="19" name="Shape 16"/>
          <p:cNvSpPr/>
          <p:nvPr/>
        </p:nvSpPr>
        <p:spPr>
          <a:xfrm>
            <a:off x="11146536" y="758952"/>
            <a:ext cx="59436" cy="59436"/>
          </a:xfrm>
          <a:prstGeom prst="rect">
            <a:avLst/>
          </a:prstGeom>
          <a:solidFill>
            <a:srgbClr val="8061BB"/>
          </a:solidFill>
          <a:ln w="12700">
            <a:solidFill>
              <a:srgbClr val="8061BB"/>
            </a:solidFill>
            <a:prstDash val="solid"/>
          </a:ln>
        </p:spPr>
      </p:sp>
      <p:sp>
        <p:nvSpPr>
          <p:cNvPr id="20" name="Shape 17"/>
          <p:cNvSpPr/>
          <p:nvPr/>
        </p:nvSpPr>
        <p:spPr>
          <a:xfrm>
            <a:off x="11146536" y="923544"/>
            <a:ext cx="59436" cy="59436"/>
          </a:xfrm>
          <a:prstGeom prst="rect">
            <a:avLst/>
          </a:prstGeom>
          <a:solidFill>
            <a:srgbClr val="8061BB"/>
          </a:solidFill>
          <a:ln w="12700">
            <a:solidFill>
              <a:srgbClr val="8061BB"/>
            </a:solidFill>
            <a:prstDash val="solid"/>
          </a:ln>
        </p:spPr>
      </p:sp>
      <p:sp>
        <p:nvSpPr>
          <p:cNvPr id="21" name="Shape 18"/>
          <p:cNvSpPr/>
          <p:nvPr/>
        </p:nvSpPr>
        <p:spPr>
          <a:xfrm>
            <a:off x="11146536" y="1088136"/>
            <a:ext cx="59436" cy="59436"/>
          </a:xfrm>
          <a:prstGeom prst="rect">
            <a:avLst/>
          </a:prstGeom>
          <a:solidFill>
            <a:srgbClr val="8061BB"/>
          </a:solidFill>
          <a:ln w="12700">
            <a:solidFill>
              <a:srgbClr val="8061BB"/>
            </a:solidFill>
            <a:prstDash val="solid"/>
          </a:ln>
        </p:spPr>
      </p:sp>
      <p:sp>
        <p:nvSpPr>
          <p:cNvPr id="22" name="Text 19"/>
          <p:cNvSpPr/>
          <p:nvPr/>
        </p:nvSpPr>
        <p:spPr>
          <a:xfrm>
            <a:off x="566928" y="1207008"/>
            <a:ext cx="7909560" cy="1527048"/>
          </a:xfrm>
          <a:prstGeom prst="rect">
            <a:avLst/>
          </a:prstGeom>
          <a:noFill/>
          <a:ln/>
        </p:spPr>
        <p:txBody>
          <a:bodyPr wrap="square" lIns="0" tIns="0" rIns="0" bIns="0" rtlCol="0" anchor="t"/>
          <a:lstStyle/>
          <a:p>
            <a:pPr indent="0" marL="0">
              <a:buNone/>
            </a:pPr>
            <a:r>
              <a:rPr lang="en-US" sz="4300" b="1" dirty="0">
                <a:solidFill>
                  <a:srgbClr val="FFFFFF"/>
                </a:solidFill>
                <a:latin typeface="Arial" pitchFamily="34" charset="0"/>
                <a:ea typeface="Arial" pitchFamily="34" charset="-122"/>
                <a:cs typeface="Arial" pitchFamily="34" charset="-120"/>
              </a:rPr>
              <a:t>Show the product.</a:t>
            </a:r>
            <a:endParaRPr lang="en-US" sz="4300" dirty="0"/>
          </a:p>
          <a:p>
            <a:pPr indent="0" marL="0">
              <a:buNone/>
            </a:pPr>
            <a:r>
              <a:rPr lang="en-US" sz="4300" b="1" dirty="0">
                <a:solidFill>
                  <a:srgbClr val="FFFFFF"/>
                </a:solidFill>
                <a:latin typeface="Arial" pitchFamily="34" charset="0"/>
                <a:ea typeface="Arial" pitchFamily="34" charset="-122"/>
                <a:cs typeface="Arial" pitchFamily="34" charset="-120"/>
              </a:rPr>
              <a:t>Tell its story.</a:t>
            </a:r>
            <a:endParaRPr lang="en-US" sz="4300" dirty="0"/>
          </a:p>
        </p:txBody>
      </p:sp>
      <p:sp>
        <p:nvSpPr>
          <p:cNvPr id="23" name="Text 20"/>
          <p:cNvSpPr/>
          <p:nvPr/>
        </p:nvSpPr>
        <p:spPr>
          <a:xfrm>
            <a:off x="594360" y="3182112"/>
            <a:ext cx="9784080" cy="420624"/>
          </a:xfrm>
          <a:prstGeom prst="rect">
            <a:avLst/>
          </a:prstGeom>
          <a:noFill/>
          <a:ln/>
        </p:spPr>
        <p:txBody>
          <a:bodyPr wrap="square" lIns="0" tIns="0" rIns="0" bIns="0" rtlCol="0" anchor="t"/>
          <a:lstStyle/>
          <a:p>
            <a:pPr indent="0" marL="0">
              <a:buNone/>
            </a:pPr>
            <a:r>
              <a:rPr lang="en-US" sz="2000" dirty="0">
                <a:solidFill>
                  <a:srgbClr val="D2C4EC"/>
                </a:solidFill>
                <a:latin typeface="Arial" pitchFamily="34" charset="0"/>
                <a:ea typeface="Arial" pitchFamily="34" charset="-122"/>
                <a:cs typeface="Arial" pitchFamily="34" charset="-120"/>
              </a:rPr>
              <a:t>A narrated walkthrough of the My AITU / LMS bridge.</a:t>
            </a:r>
            <a:endParaRPr lang="en-US" sz="2000" dirty="0"/>
          </a:p>
        </p:txBody>
      </p:sp>
      <p:sp>
        <p:nvSpPr>
          <p:cNvPr id="24" name="Text 21"/>
          <p:cNvSpPr/>
          <p:nvPr/>
        </p:nvSpPr>
        <p:spPr>
          <a:xfrm>
            <a:off x="594360" y="4297680"/>
            <a:ext cx="3017520" cy="868680"/>
          </a:xfrm>
          <a:prstGeom prst="rect">
            <a:avLst/>
          </a:prstGeom>
          <a:noFill/>
          <a:ln/>
        </p:spPr>
        <p:txBody>
          <a:bodyPr wrap="square" lIns="0" tIns="0" rIns="0" bIns="0" rtlCol="0" anchor="t"/>
          <a:lstStyle/>
          <a:p>
            <a:pPr indent="0" marL="0">
              <a:buNone/>
            </a:pPr>
            <a:r>
              <a:rPr lang="en-US" sz="5700" b="1" dirty="0">
                <a:solidFill>
                  <a:srgbClr val="BFA4FF"/>
                </a:solidFill>
                <a:latin typeface="Arial" pitchFamily="34" charset="0"/>
                <a:ea typeface="Arial" pitchFamily="34" charset="-122"/>
                <a:cs typeface="Arial" pitchFamily="34" charset="-120"/>
              </a:rPr>
              <a:t>2:10</a:t>
            </a:r>
            <a:endParaRPr lang="en-US" sz="5700" dirty="0"/>
          </a:p>
        </p:txBody>
      </p:sp>
      <p:sp>
        <p:nvSpPr>
          <p:cNvPr id="25" name="Text 22"/>
          <p:cNvSpPr/>
          <p:nvPr/>
        </p:nvSpPr>
        <p:spPr>
          <a:xfrm>
            <a:off x="621792" y="5303520"/>
            <a:ext cx="3520440" cy="274320"/>
          </a:xfrm>
          <a:prstGeom prst="rect">
            <a:avLst/>
          </a:prstGeom>
          <a:noFill/>
          <a:ln/>
        </p:spPr>
        <p:txBody>
          <a:bodyPr wrap="square" lIns="0" tIns="0" rIns="0" bIns="0" rtlCol="0" anchor="t"/>
          <a:lstStyle/>
          <a:p>
            <a:pPr indent="0" marL="0">
              <a:buNone/>
            </a:pPr>
            <a:r>
              <a:rPr lang="en-US" sz="1500" dirty="0">
                <a:solidFill>
                  <a:srgbClr val="D2C4EC"/>
                </a:solidFill>
                <a:latin typeface="Arial" pitchFamily="34" charset="0"/>
                <a:ea typeface="Arial" pitchFamily="34" charset="-122"/>
                <a:cs typeface="Arial" pitchFamily="34" charset="-120"/>
              </a:rPr>
              <a:t>planned running time</a:t>
            </a:r>
            <a:endParaRPr lang="en-US" sz="1500" dirty="0"/>
          </a:p>
        </p:txBody>
      </p:sp>
      <p:sp>
        <p:nvSpPr>
          <p:cNvPr id="26" name="Shape 23"/>
          <p:cNvSpPr/>
          <p:nvPr/>
        </p:nvSpPr>
        <p:spPr>
          <a:xfrm>
            <a:off x="4617720" y="4416552"/>
            <a:ext cx="475488" cy="475488"/>
          </a:xfrm>
          <a:prstGeom prst="ellipse">
            <a:avLst/>
          </a:prstGeom>
          <a:solidFill>
            <a:srgbClr val="49316F"/>
          </a:solidFill>
          <a:ln w="12700">
            <a:solidFill>
              <a:srgbClr val="49316F"/>
            </a:solidFill>
            <a:prstDash val="solid"/>
          </a:ln>
        </p:spPr>
      </p:sp>
      <p:sp>
        <p:nvSpPr>
          <p:cNvPr id="27" name="Text 24"/>
          <p:cNvSpPr/>
          <p:nvPr/>
        </p:nvSpPr>
        <p:spPr>
          <a:xfrm>
            <a:off x="4713732" y="4562856"/>
            <a:ext cx="283464" cy="155448"/>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28" name="Text 25"/>
          <p:cNvSpPr/>
          <p:nvPr/>
        </p:nvSpPr>
        <p:spPr>
          <a:xfrm>
            <a:off x="4617720" y="5157216"/>
            <a:ext cx="1645920" cy="3108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Sign in</a:t>
            </a:r>
            <a:endParaRPr lang="en-US" sz="1400" dirty="0"/>
          </a:p>
        </p:txBody>
      </p:sp>
      <p:sp>
        <p:nvSpPr>
          <p:cNvPr id="29" name="Shape 26"/>
          <p:cNvSpPr/>
          <p:nvPr/>
        </p:nvSpPr>
        <p:spPr>
          <a:xfrm>
            <a:off x="6364224" y="4416552"/>
            <a:ext cx="475488" cy="475488"/>
          </a:xfrm>
          <a:prstGeom prst="ellipse">
            <a:avLst/>
          </a:prstGeom>
          <a:solidFill>
            <a:srgbClr val="49316F"/>
          </a:solidFill>
          <a:ln w="12700">
            <a:solidFill>
              <a:srgbClr val="49316F"/>
            </a:solidFill>
            <a:prstDash val="solid"/>
          </a:ln>
        </p:spPr>
      </p:sp>
      <p:sp>
        <p:nvSpPr>
          <p:cNvPr id="30" name="Text 27"/>
          <p:cNvSpPr/>
          <p:nvPr/>
        </p:nvSpPr>
        <p:spPr>
          <a:xfrm>
            <a:off x="6460236" y="4562856"/>
            <a:ext cx="283464" cy="155448"/>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31" name="Text 28"/>
          <p:cNvSpPr/>
          <p:nvPr/>
        </p:nvSpPr>
        <p:spPr>
          <a:xfrm>
            <a:off x="6364224" y="5157216"/>
            <a:ext cx="1645920" cy="3108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Explore</a:t>
            </a:r>
            <a:endParaRPr lang="en-US" sz="1400" dirty="0"/>
          </a:p>
        </p:txBody>
      </p:sp>
      <p:sp>
        <p:nvSpPr>
          <p:cNvPr id="32" name="Shape 29"/>
          <p:cNvSpPr/>
          <p:nvPr/>
        </p:nvSpPr>
        <p:spPr>
          <a:xfrm>
            <a:off x="8110728" y="4416552"/>
            <a:ext cx="475488" cy="475488"/>
          </a:xfrm>
          <a:prstGeom prst="ellipse">
            <a:avLst/>
          </a:prstGeom>
          <a:solidFill>
            <a:srgbClr val="49316F"/>
          </a:solidFill>
          <a:ln w="12700">
            <a:solidFill>
              <a:srgbClr val="49316F"/>
            </a:solidFill>
            <a:prstDash val="solid"/>
          </a:ln>
        </p:spPr>
      </p:sp>
      <p:sp>
        <p:nvSpPr>
          <p:cNvPr id="33" name="Text 30"/>
          <p:cNvSpPr/>
          <p:nvPr/>
        </p:nvSpPr>
        <p:spPr>
          <a:xfrm>
            <a:off x="8206740" y="4562856"/>
            <a:ext cx="283464" cy="155448"/>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34" name="Text 31"/>
          <p:cNvSpPr/>
          <p:nvPr/>
        </p:nvSpPr>
        <p:spPr>
          <a:xfrm>
            <a:off x="8110728" y="5157216"/>
            <a:ext cx="1645920" cy="3108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Explain</a:t>
            </a:r>
            <a:endParaRPr lang="en-US" sz="1400" dirty="0"/>
          </a:p>
        </p:txBody>
      </p:sp>
      <p:sp>
        <p:nvSpPr>
          <p:cNvPr id="35" name="Shape 32"/>
          <p:cNvSpPr/>
          <p:nvPr/>
        </p:nvSpPr>
        <p:spPr>
          <a:xfrm>
            <a:off x="9857232" y="4416552"/>
            <a:ext cx="475488" cy="475488"/>
          </a:xfrm>
          <a:prstGeom prst="ellipse">
            <a:avLst/>
          </a:prstGeom>
          <a:solidFill>
            <a:srgbClr val="49316F"/>
          </a:solidFill>
          <a:ln w="12700">
            <a:solidFill>
              <a:srgbClr val="49316F"/>
            </a:solidFill>
            <a:prstDash val="solid"/>
          </a:ln>
        </p:spPr>
      </p:sp>
      <p:sp>
        <p:nvSpPr>
          <p:cNvPr id="36" name="Text 33"/>
          <p:cNvSpPr/>
          <p:nvPr/>
        </p:nvSpPr>
        <p:spPr>
          <a:xfrm>
            <a:off x="9953244" y="4562856"/>
            <a:ext cx="283464" cy="155448"/>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37" name="Text 34"/>
          <p:cNvSpPr/>
          <p:nvPr/>
        </p:nvSpPr>
        <p:spPr>
          <a:xfrm>
            <a:off x="9857232" y="5157216"/>
            <a:ext cx="1645920" cy="3108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Look ahead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B"/>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6540DB"/>
                </a:solidFill>
                <a:latin typeface="Arial" pitchFamily="34" charset="0"/>
                <a:ea typeface="Arial" pitchFamily="34" charset="-122"/>
                <a:cs typeface="Arial" pitchFamily="34" charset="-120"/>
              </a:rPr>
              <a:t>C1 / STORYBOARD</a:t>
            </a:r>
            <a:endParaRPr lang="en-US" sz="1050" dirty="0"/>
          </a:p>
        </p:txBody>
      </p:sp>
      <p:sp>
        <p:nvSpPr>
          <p:cNvPr id="3" name="Text 1"/>
          <p:cNvSpPr/>
          <p:nvPr/>
        </p:nvSpPr>
        <p:spPr>
          <a:xfrm>
            <a:off x="530352" y="795528"/>
            <a:ext cx="11109960" cy="594360"/>
          </a:xfrm>
          <a:prstGeom prst="rect">
            <a:avLst/>
          </a:prstGeom>
          <a:noFill/>
          <a:ln/>
        </p:spPr>
        <p:txBody>
          <a:bodyPr wrap="square" lIns="0" tIns="0" rIns="0" bIns="0" rtlCol="0" anchor="t"/>
          <a:lstStyle/>
          <a:p>
            <a:pPr indent="0" marL="0">
              <a:buNone/>
            </a:pPr>
            <a:r>
              <a:rPr lang="en-US" sz="3300" b="1" dirty="0">
                <a:solidFill>
                  <a:srgbClr val="241C3F"/>
                </a:solidFill>
                <a:latin typeface="Arial" pitchFamily="34" charset="0"/>
                <a:ea typeface="Arial" pitchFamily="34" charset="-122"/>
                <a:cs typeface="Arial" pitchFamily="34" charset="-120"/>
              </a:rPr>
              <a:t>A clear role for every narrator.</a:t>
            </a:r>
            <a:endParaRPr lang="en-US" sz="3300" dirty="0"/>
          </a:p>
        </p:txBody>
      </p:sp>
      <p:sp>
        <p:nvSpPr>
          <p:cNvPr id="4" name="Text 2"/>
          <p:cNvSpPr/>
          <p:nvPr/>
        </p:nvSpPr>
        <p:spPr>
          <a:xfrm>
            <a:off x="548640" y="1481328"/>
            <a:ext cx="11000232" cy="365760"/>
          </a:xfrm>
          <a:prstGeom prst="rect">
            <a:avLst/>
          </a:prstGeom>
          <a:noFill/>
          <a:ln/>
        </p:spPr>
        <p:txBody>
          <a:bodyPr wrap="square" lIns="0" tIns="0" rIns="0" bIns="0" rtlCol="0" anchor="t"/>
          <a:lstStyle/>
          <a:p>
            <a:pPr indent="0" marL="0">
              <a:buNone/>
            </a:pPr>
            <a:r>
              <a:rPr lang="en-US" sz="1400" dirty="0">
                <a:solidFill>
                  <a:srgbClr val="746C85"/>
                </a:solidFill>
                <a:latin typeface="Arial" pitchFamily="34" charset="0"/>
                <a:ea typeface="Arial" pitchFamily="34" charset="-122"/>
                <a:cs typeface="Arial" pitchFamily="34" charset="-120"/>
              </a:rPr>
              <a:t>Four scenes connect the working prototype to its purpose and next steps.</a:t>
            </a:r>
            <a:endParaRPr lang="en-US" sz="1400" dirty="0"/>
          </a:p>
        </p:txBody>
      </p:sp>
      <p:sp>
        <p:nvSpPr>
          <p:cNvPr id="5" name="Text 3"/>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746C85"/>
                </a:solidFill>
                <a:latin typeface="Arial" pitchFamily="34" charset="0"/>
                <a:ea typeface="Arial" pitchFamily="34" charset="-122"/>
                <a:cs typeface="Arial" pitchFamily="34" charset="-120"/>
              </a:rPr>
              <a:t>MY AITU  /  ICT ASSIGNMENT 4</a:t>
            </a:r>
            <a:endParaRPr lang="en-US" sz="930" dirty="0"/>
          </a:p>
        </p:txBody>
      </p:sp>
      <p:sp>
        <p:nvSpPr>
          <p:cNvPr id="6" name="Text 4"/>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746C85"/>
                </a:solidFill>
                <a:latin typeface="Arial" pitchFamily="34" charset="0"/>
                <a:ea typeface="Arial" pitchFamily="34" charset="-122"/>
                <a:cs typeface="Arial" pitchFamily="34" charset="-120"/>
              </a:rPr>
              <a:t>12 / 19</a:t>
            </a:r>
            <a:endParaRPr lang="en-US" sz="93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3520440"/>
        </p:xfrm>
        <a:graphic>
          <a:graphicData uri="http://schemas.openxmlformats.org/drawingml/2006/table">
            <a:tbl>
              <a:tblPr/>
              <a:tblGrid>
                <a:gridCol w="1508760"/>
                <a:gridCol w="3108960"/>
                <a:gridCol w="1508760"/>
                <a:gridCol w="4965192"/>
              </a:tblGrid>
              <a:tr h="475488">
                <a:tc>
                  <a:txBody>
                    <a:bodyPr/>
                    <a:lstStyle/>
                    <a:p>
                      <a:pPr indent="0" marL="0">
                        <a:buNone/>
                      </a:pPr>
                      <a:r>
                        <a:rPr lang="en-US" sz="1500" b="1" dirty="0">
                          <a:solidFill>
                            <a:srgbClr val="FFFFFF"/>
                          </a:solidFill>
                          <a:latin typeface="Arial" pitchFamily="34" charset="0"/>
                          <a:ea typeface="Arial" pitchFamily="34" charset="-122"/>
                          <a:cs typeface="Arial" pitchFamily="34" charset="-120"/>
                        </a:rPr>
                        <a:t>TIME</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ON SCREEN</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NARRATOR</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TALKING POINT</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r>
              <a:tr h="761238">
                <a:tc>
                  <a:txBody>
                    <a:bodyPr/>
                    <a:lstStyle/>
                    <a:p>
                      <a:pPr indent="0" marL="0">
                        <a:buNone/>
                      </a:pPr>
                      <a:r>
                        <a:rPr lang="en-US" sz="1500" b="1" dirty="0">
                          <a:solidFill>
                            <a:srgbClr val="241C3F"/>
                          </a:solidFill>
                          <a:latin typeface="Arial" pitchFamily="34" charset="0"/>
                          <a:ea typeface="Arial" pitchFamily="34" charset="-122"/>
                          <a:cs typeface="Arial" pitchFamily="34" charset="-120"/>
                        </a:rPr>
                        <a:t>0:00–0:30</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500" dirty="0">
                          <a:solidFill>
                            <a:srgbClr val="241C3F"/>
                          </a:solidFill>
                          <a:latin typeface="Arial" pitchFamily="34" charset="0"/>
                          <a:ea typeface="Arial" pitchFamily="34" charset="-122"/>
                          <a:cs typeface="Arial" pitchFamily="34" charset="-120"/>
                        </a:rPr>
                        <a:t>Login screen</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500" dirty="0">
                          <a:solidFill>
                            <a:srgbClr val="241C3F"/>
                          </a:solidFill>
                          <a:latin typeface="Arial" pitchFamily="34" charset="0"/>
                          <a:ea typeface="Arial" pitchFamily="34" charset="-122"/>
                          <a:cs typeface="Arial" pitchFamily="34" charset="-120"/>
                        </a:rPr>
                        <a:t>Nurassyl</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500" dirty="0">
                          <a:solidFill>
                            <a:srgbClr val="241C3F"/>
                          </a:solidFill>
                          <a:latin typeface="Arial" pitchFamily="34" charset="0"/>
                          <a:ea typeface="Arial" pitchFamily="34" charset="-122"/>
                          <a:cs typeface="Arial" pitchFamily="34" charset="-120"/>
                        </a:rPr>
                        <a:t>Explain how sign-in works.</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761238">
                <a:tc>
                  <a:txBody>
                    <a:bodyPr/>
                    <a:lstStyle/>
                    <a:p>
                      <a:pPr indent="0" marL="0">
                        <a:buNone/>
                      </a:pPr>
                      <a:r>
                        <a:rPr lang="en-US" sz="1500" b="1" dirty="0">
                          <a:solidFill>
                            <a:srgbClr val="241C3F"/>
                          </a:solidFill>
                          <a:latin typeface="Arial" pitchFamily="34" charset="0"/>
                          <a:ea typeface="Arial" pitchFamily="34" charset="-122"/>
                          <a:cs typeface="Arial" pitchFamily="34" charset="-120"/>
                        </a:rPr>
                        <a:t>0:30–1:10</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500" dirty="0">
                          <a:solidFill>
                            <a:srgbClr val="241C3F"/>
                          </a:solidFill>
                          <a:latin typeface="Arial" pitchFamily="34" charset="0"/>
                          <a:ea typeface="Arial" pitchFamily="34" charset="-122"/>
                          <a:cs typeface="Arial" pitchFamily="34" charset="-120"/>
                        </a:rPr>
                        <a:t>Main pages and navigation</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500" dirty="0">
                          <a:solidFill>
                            <a:srgbClr val="241C3F"/>
                          </a:solidFill>
                          <a:latin typeface="Arial" pitchFamily="34" charset="0"/>
                          <a:ea typeface="Arial" pitchFamily="34" charset="-122"/>
                          <a:cs typeface="Arial" pitchFamily="34" charset="-120"/>
                        </a:rPr>
                        <a:t>Salima</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500" dirty="0">
                          <a:solidFill>
                            <a:srgbClr val="241C3F"/>
                          </a:solidFill>
                          <a:latin typeface="Arial" pitchFamily="34" charset="0"/>
                          <a:ea typeface="Arial" pitchFamily="34" charset="-122"/>
                          <a:cs typeface="Arial" pitchFamily="34" charset="-120"/>
                        </a:rPr>
                        <a:t>Walk through content and design decisions.</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761238">
                <a:tc>
                  <a:txBody>
                    <a:bodyPr/>
                    <a:lstStyle/>
                    <a:p>
                      <a:pPr indent="0" marL="0">
                        <a:buNone/>
                      </a:pPr>
                      <a:r>
                        <a:rPr lang="en-US" sz="1500" b="1" dirty="0">
                          <a:solidFill>
                            <a:srgbClr val="241C3F"/>
                          </a:solidFill>
                          <a:latin typeface="Arial" pitchFamily="34" charset="0"/>
                          <a:ea typeface="Arial" pitchFamily="34" charset="-122"/>
                          <a:cs typeface="Arial" pitchFamily="34" charset="-120"/>
                        </a:rPr>
                        <a:t>1:10–1:40</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500" dirty="0">
                          <a:solidFill>
                            <a:srgbClr val="241C3F"/>
                          </a:solidFill>
                          <a:latin typeface="Arial" pitchFamily="34" charset="0"/>
                          <a:ea typeface="Arial" pitchFamily="34" charset="-122"/>
                          <a:cs typeface="Arial" pitchFamily="34" charset="-120"/>
                        </a:rPr>
                        <a:t>Statistics and Stage 1 survey</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500" dirty="0">
                          <a:solidFill>
                            <a:srgbClr val="241C3F"/>
                          </a:solidFill>
                          <a:latin typeface="Arial" pitchFamily="34" charset="0"/>
                          <a:ea typeface="Arial" pitchFamily="34" charset="-122"/>
                          <a:cs typeface="Arial" pitchFamily="34" charset="-120"/>
                        </a:rPr>
                        <a:t>Azhar</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500" dirty="0">
                          <a:solidFill>
                            <a:srgbClr val="241C3F"/>
                          </a:solidFill>
                          <a:latin typeface="Arial" pitchFamily="34" charset="0"/>
                          <a:ea typeface="Arial" pitchFamily="34" charset="-122"/>
                          <a:cs typeface="Arial" pitchFamily="34" charset="-120"/>
                        </a:rPr>
                        <a:t>Explain the project’s purpose.</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761238">
                <a:tc>
                  <a:txBody>
                    <a:bodyPr/>
                    <a:lstStyle/>
                    <a:p>
                      <a:pPr indent="0" marL="0">
                        <a:buNone/>
                      </a:pPr>
                      <a:r>
                        <a:rPr lang="en-US" sz="1500" b="1" dirty="0">
                          <a:solidFill>
                            <a:srgbClr val="241C3F"/>
                          </a:solidFill>
                          <a:latin typeface="Arial" pitchFamily="34" charset="0"/>
                          <a:ea typeface="Arial" pitchFamily="34" charset="-122"/>
                          <a:cs typeface="Arial" pitchFamily="34" charset="-120"/>
                        </a:rPr>
                        <a:t>1:40–2:10</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500" dirty="0">
                          <a:solidFill>
                            <a:srgbClr val="241C3F"/>
                          </a:solidFill>
                          <a:latin typeface="Arial" pitchFamily="34" charset="0"/>
                          <a:ea typeface="Arial" pitchFamily="34" charset="-122"/>
                          <a:cs typeface="Arial" pitchFamily="34" charset="-120"/>
                        </a:rPr>
                        <a:t>Demo sketches</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500" dirty="0">
                          <a:solidFill>
                            <a:srgbClr val="241C3F"/>
                          </a:solidFill>
                          <a:latin typeface="Arial" pitchFamily="34" charset="0"/>
                          <a:ea typeface="Arial" pitchFamily="34" charset="-122"/>
                          <a:cs typeface="Arial" pitchFamily="34" charset="-120"/>
                        </a:rPr>
                        <a:t>Azhar</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500" dirty="0">
                          <a:solidFill>
                            <a:srgbClr val="241C3F"/>
                          </a:solidFill>
                          <a:latin typeface="Arial" pitchFamily="34" charset="0"/>
                          <a:ea typeface="Arial" pitchFamily="34" charset="-122"/>
                          <a:cs typeface="Arial" pitchFamily="34" charset="-120"/>
                        </a:rPr>
                        <a:t>Outline the project’s future.</a:t>
                      </a:r>
                      <a:endParaRPr lang="en-US" sz="15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bl>
          </a:graphicData>
        </a:graphic>
      </p:graphicFrame>
      <p:sp>
        <p:nvSpPr>
          <p:cNvPr id="9" name="Shape 5"/>
          <p:cNvSpPr/>
          <p:nvPr/>
        </p:nvSpPr>
        <p:spPr>
          <a:xfrm>
            <a:off x="594360" y="5870448"/>
            <a:ext cx="2103120" cy="301752"/>
          </a:xfrm>
          <a:prstGeom prst="roundRect">
            <a:avLst>
              <a:gd name="adj" fmla="val 48485"/>
            </a:avLst>
          </a:prstGeom>
          <a:solidFill>
            <a:srgbClr val="E9E1FC"/>
          </a:solidFill>
          <a:ln w="12700">
            <a:solidFill>
              <a:srgbClr val="E9E1FC"/>
            </a:solidFill>
            <a:prstDash val="solid"/>
          </a:ln>
        </p:spPr>
      </p:sp>
      <p:sp>
        <p:nvSpPr>
          <p:cNvPr id="10" name="Text 6"/>
          <p:cNvSpPr/>
          <p:nvPr/>
        </p:nvSpPr>
        <p:spPr>
          <a:xfrm>
            <a:off x="685800" y="5929884"/>
            <a:ext cx="1920240" cy="173736"/>
          </a:xfrm>
          <a:prstGeom prst="rect">
            <a:avLst/>
          </a:prstGeom>
          <a:noFill/>
          <a:ln/>
        </p:spPr>
        <p:txBody>
          <a:bodyPr wrap="square" lIns="0" tIns="0" rIns="0" bIns="0" rtlCol="0" anchor="t"/>
          <a:lstStyle/>
          <a:p>
            <a:pPr algn="ctr" indent="0" marL="0">
              <a:buNone/>
            </a:pPr>
            <a:r>
              <a:rPr lang="en-US" sz="1000" b="1" dirty="0">
                <a:solidFill>
                  <a:srgbClr val="6540DB"/>
                </a:solidFill>
                <a:latin typeface="Arial" pitchFamily="34" charset="0"/>
                <a:ea typeface="Arial" pitchFamily="34" charset="-122"/>
                <a:cs typeface="Arial" pitchFamily="34" charset="-120"/>
              </a:rPr>
              <a:t>TOTAL · 2 MIN 10 SEC</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B"/>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6540DB"/>
                </a:solidFill>
                <a:latin typeface="Arial" pitchFamily="34" charset="0"/>
                <a:ea typeface="Arial" pitchFamily="34" charset="-122"/>
                <a:cs typeface="Arial" pitchFamily="34" charset="-120"/>
              </a:rPr>
              <a:t>C2 / THE VIDEO</a:t>
            </a:r>
            <a:endParaRPr lang="en-US" sz="1050" dirty="0"/>
          </a:p>
        </p:txBody>
      </p:sp>
      <p:sp>
        <p:nvSpPr>
          <p:cNvPr id="3" name="Text 1"/>
          <p:cNvSpPr/>
          <p:nvPr/>
        </p:nvSpPr>
        <p:spPr>
          <a:xfrm>
            <a:off x="530352" y="795528"/>
            <a:ext cx="11109960" cy="594360"/>
          </a:xfrm>
          <a:prstGeom prst="rect">
            <a:avLst/>
          </a:prstGeom>
          <a:noFill/>
          <a:ln/>
        </p:spPr>
        <p:txBody>
          <a:bodyPr wrap="square" lIns="0" tIns="0" rIns="0" bIns="0" rtlCol="0" anchor="t"/>
          <a:lstStyle/>
          <a:p>
            <a:pPr indent="0" marL="0">
              <a:buNone/>
            </a:pPr>
            <a:r>
              <a:rPr lang="en-US" sz="3300" b="1" dirty="0">
                <a:solidFill>
                  <a:srgbClr val="241C3F"/>
                </a:solidFill>
                <a:latin typeface="Arial" pitchFamily="34" charset="0"/>
                <a:ea typeface="Arial" pitchFamily="34" charset="-122"/>
                <a:cs typeface="Arial" pitchFamily="34" charset="-120"/>
              </a:rPr>
              <a:t>Open the project demonstration.</a:t>
            </a:r>
            <a:endParaRPr lang="en-US" sz="3300" dirty="0"/>
          </a:p>
        </p:txBody>
      </p:sp>
      <p:sp>
        <p:nvSpPr>
          <p:cNvPr id="4" name="Text 2"/>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746C85"/>
                </a:solidFill>
                <a:latin typeface="Arial" pitchFamily="34" charset="0"/>
                <a:ea typeface="Arial" pitchFamily="34" charset="-122"/>
                <a:cs typeface="Arial" pitchFamily="34" charset="-120"/>
              </a:rPr>
              <a:t>MY AITU  /  ICT ASSIGNMENT 4</a:t>
            </a:r>
            <a:endParaRPr lang="en-US" sz="930" dirty="0"/>
          </a:p>
        </p:txBody>
      </p:sp>
      <p:sp>
        <p:nvSpPr>
          <p:cNvPr id="5" name="Text 3"/>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746C85"/>
                </a:solidFill>
                <a:latin typeface="Arial" pitchFamily="34" charset="0"/>
                <a:ea typeface="Arial" pitchFamily="34" charset="-122"/>
                <a:cs typeface="Arial" pitchFamily="34" charset="-120"/>
              </a:rPr>
              <a:t>13 / 19</a:t>
            </a:r>
            <a:endParaRPr lang="en-US" sz="930" dirty="0"/>
          </a:p>
        </p:txBody>
      </p:sp>
      <p:sp>
        <p:nvSpPr>
          <p:cNvPr id="7" name="Shape 4"/>
          <p:cNvSpPr/>
          <p:nvPr/>
        </p:nvSpPr>
        <p:spPr>
          <a:xfrm>
            <a:off x="548640" y="1792224"/>
            <a:ext cx="7424928" cy="4370832"/>
          </a:xfrm>
          <a:prstGeom prst="roundRect">
            <a:avLst>
              <a:gd name="adj" fmla="val 3138"/>
            </a:avLst>
          </a:prstGeom>
          <a:solidFill>
            <a:srgbClr val="241448"/>
          </a:solidFill>
          <a:ln w="12700">
            <a:solidFill>
              <a:srgbClr val="241448"/>
            </a:solidFill>
            <a:prstDash val="solid"/>
          </a:ln>
        </p:spPr>
      </p:sp>
      <p:sp>
        <p:nvSpPr>
          <p:cNvPr id="8" name="Shape 5"/>
          <p:cNvSpPr/>
          <p:nvPr/>
        </p:nvSpPr>
        <p:spPr>
          <a:xfrm>
            <a:off x="3566160" y="2487168"/>
            <a:ext cx="1316736" cy="1316736"/>
          </a:xfrm>
          <a:prstGeom prst="ellipse">
            <a:avLst/>
          </a:prstGeom>
          <a:solidFill>
            <a:srgbClr val="6540DB"/>
          </a:solidFill>
          <a:ln w="12700">
            <a:solidFill>
              <a:srgbClr val="6540DB"/>
            </a:solidFill>
            <a:prstDash val="solid"/>
          </a:ln>
        </p:spPr>
      </p:sp>
      <p:sp>
        <p:nvSpPr>
          <p:cNvPr id="9" name="Shape 6">
            <a:hlinkClick r:id="rId1" tooltip=""/>
          </p:cNvPr>
          <p:cNvSpPr/>
          <p:nvPr/>
        </p:nvSpPr>
        <p:spPr>
          <a:xfrm rot="5400000">
            <a:off x="4023360" y="2898648"/>
            <a:ext cx="457200" cy="475488"/>
          </a:xfrm>
          <a:prstGeom prst="triangle">
            <a:avLst/>
          </a:prstGeom>
          <a:solidFill>
            <a:srgbClr val="FFFFFF"/>
          </a:solidFill>
          <a:ln w="12700">
            <a:solidFill>
              <a:srgbClr val="FFFFFF"/>
            </a:solidFill>
            <a:prstDash val="solid"/>
          </a:ln>
        </p:spPr>
      </p:sp>
      <p:sp>
        <p:nvSpPr>
          <p:cNvPr id="10" name="Text 7"/>
          <p:cNvSpPr/>
          <p:nvPr/>
        </p:nvSpPr>
        <p:spPr>
          <a:xfrm>
            <a:off x="914400" y="4178808"/>
            <a:ext cx="6675120" cy="438912"/>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My AITU / LMS bridge</a:t>
            </a:r>
            <a:endParaRPr lang="en-US" sz="2800" dirty="0"/>
          </a:p>
        </p:txBody>
      </p:sp>
      <p:sp>
        <p:nvSpPr>
          <p:cNvPr id="11" name="Text 8"/>
          <p:cNvSpPr/>
          <p:nvPr/>
        </p:nvSpPr>
        <p:spPr>
          <a:xfrm>
            <a:off x="932688" y="4837176"/>
            <a:ext cx="6510528" cy="320040"/>
          </a:xfrm>
          <a:prstGeom prst="rect">
            <a:avLst/>
          </a:prstGeom>
          <a:noFill/>
          <a:ln/>
        </p:spPr>
        <p:txBody>
          <a:bodyPr wrap="square" lIns="0" tIns="0" rIns="0" bIns="0" rtlCol="0" anchor="t"/>
          <a:lstStyle/>
          <a:p>
            <a:pPr indent="0" marL="0">
              <a:buNone/>
            </a:pPr>
            <a:r>
              <a:rPr lang="en-US" sz="1700" dirty="0">
                <a:solidFill>
                  <a:srgbClr val="D7C9EE"/>
                </a:solidFill>
                <a:latin typeface="Arial" pitchFamily="34" charset="0"/>
                <a:ea typeface="Arial" pitchFamily="34" charset="-122"/>
                <a:cs typeface="Arial" pitchFamily="34" charset="-120"/>
              </a:rPr>
              <a:t>Team walkthrough · Google Drive folder</a:t>
            </a:r>
            <a:endParaRPr lang="en-US" sz="1700" dirty="0"/>
          </a:p>
        </p:txBody>
      </p:sp>
      <p:sp>
        <p:nvSpPr>
          <p:cNvPr id="12" name="Shape 9"/>
          <p:cNvSpPr/>
          <p:nvPr/>
        </p:nvSpPr>
        <p:spPr>
          <a:xfrm>
            <a:off x="941832" y="5486400"/>
            <a:ext cx="2898648" cy="521208"/>
          </a:xfrm>
          <a:prstGeom prst="roundRect">
            <a:avLst>
              <a:gd name="adj" fmla="val 28070"/>
            </a:avLst>
          </a:prstGeom>
          <a:solidFill>
            <a:srgbClr val="6540DB"/>
          </a:solidFill>
          <a:ln w="12700">
            <a:solidFill>
              <a:srgbClr val="6540DB"/>
            </a:solidFill>
            <a:prstDash val="solid"/>
          </a:ln>
        </p:spPr>
      </p:sp>
      <p:sp>
        <p:nvSpPr>
          <p:cNvPr id="13" name="Text 10">
            <a:hlinkClick r:id="rId2" tooltip=""/>
          </p:cNvPr>
          <p:cNvSpPr/>
          <p:nvPr/>
        </p:nvSpPr>
        <p:spPr>
          <a:xfrm>
            <a:off x="1124712" y="5623560"/>
            <a:ext cx="2532888" cy="219456"/>
          </a:xfrm>
          <a:prstGeom prst="rect">
            <a:avLst/>
          </a:prstGeom>
          <a:noFill/>
          <a:ln/>
        </p:spPr>
        <p:txBody>
          <a:bodyPr wrap="square" lIns="0" tIns="0" rIns="0" bIns="0" rtlCol="0" anchor="t"/>
          <a:lstStyle/>
          <a:p>
            <a:pPr algn="ctr" indent="0" marL="0">
              <a:buNone/>
            </a:pPr>
            <a:r>
              <a:rPr lang="en-US" sz="1400" b="1" u="sng" dirty="0">
                <a:solidFill>
                  <a:srgbClr val="FFFFF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 VIDEO FOLDER</a:t>
            </a:r>
            <a:endParaRPr lang="en-US" sz="1400" dirty="0"/>
          </a:p>
        </p:txBody>
      </p:sp>
      <p:sp>
        <p:nvSpPr>
          <p:cNvPr id="14" name="Shape 11"/>
          <p:cNvSpPr/>
          <p:nvPr/>
        </p:nvSpPr>
        <p:spPr>
          <a:xfrm>
            <a:off x="8540496" y="1975104"/>
            <a:ext cx="2606040" cy="2606040"/>
          </a:xfrm>
          <a:prstGeom prst="roundRect">
            <a:avLst>
              <a:gd name="adj" fmla="val 4211"/>
            </a:avLst>
          </a:prstGeom>
          <a:solidFill>
            <a:srgbClr val="FFFFFF"/>
          </a:solidFill>
          <a:ln w="12700">
            <a:solidFill>
              <a:srgbClr val="FFFFFF"/>
            </a:solidFill>
            <a:prstDash val="solid"/>
          </a:ln>
        </p:spPr>
      </p:sp>
      <p:pic>
        <p:nvPicPr>
          <p:cNvPr id="15" name="Image 0" descr="/home/nuras/Documents/AITU/endterm/assignment4/presentation/assets/video-qr.png">    </p:cNvPr>
          <p:cNvPicPr>
            <a:picLocks noChangeAspect="1"/>
          </p:cNvPicPr>
          <p:nvPr/>
        </p:nvPicPr>
        <p:blipFill>
          <a:blip r:embed="rId3"/>
          <a:stretch>
            <a:fillRect/>
          </a:stretch>
        </p:blipFill>
        <p:spPr>
          <a:xfrm>
            <a:off x="8650224" y="2084832"/>
            <a:ext cx="2386584" cy="2386584"/>
          </a:xfrm>
          <a:prstGeom prst="rect">
            <a:avLst/>
          </a:prstGeom>
        </p:spPr>
      </p:pic>
      <p:sp>
        <p:nvSpPr>
          <p:cNvPr id="16" name="Text 12"/>
          <p:cNvSpPr/>
          <p:nvPr/>
        </p:nvSpPr>
        <p:spPr>
          <a:xfrm>
            <a:off x="8311896" y="4828032"/>
            <a:ext cx="3200400" cy="310896"/>
          </a:xfrm>
          <a:prstGeom prst="rect">
            <a:avLst/>
          </a:prstGeom>
          <a:noFill/>
          <a:ln/>
        </p:spPr>
        <p:txBody>
          <a:bodyPr wrap="square" lIns="0" tIns="0" rIns="0" bIns="0" rtlCol="0" anchor="t"/>
          <a:lstStyle/>
          <a:p>
            <a:pPr algn="ctr" indent="0" marL="0">
              <a:buNone/>
            </a:pPr>
            <a:r>
              <a:rPr lang="en-US" sz="2100" b="1" dirty="0">
                <a:solidFill>
                  <a:srgbClr val="241C3F"/>
                </a:solidFill>
                <a:latin typeface="Arial" pitchFamily="34" charset="0"/>
                <a:ea typeface="Arial" pitchFamily="34" charset="-122"/>
                <a:cs typeface="Arial" pitchFamily="34" charset="-120"/>
              </a:rPr>
              <a:t>Scan to open</a:t>
            </a:r>
            <a:endParaRPr lang="en-US" sz="2100" dirty="0"/>
          </a:p>
        </p:txBody>
      </p:sp>
      <p:sp>
        <p:nvSpPr>
          <p:cNvPr id="17" name="Text 13"/>
          <p:cNvSpPr/>
          <p:nvPr/>
        </p:nvSpPr>
        <p:spPr>
          <a:xfrm>
            <a:off x="8321040" y="5404104"/>
            <a:ext cx="3200400" cy="548640"/>
          </a:xfrm>
          <a:prstGeom prst="rect">
            <a:avLst/>
          </a:prstGeom>
          <a:noFill/>
          <a:ln/>
        </p:spPr>
        <p:txBody>
          <a:bodyPr wrap="square" lIns="0" tIns="0" rIns="0" bIns="0" rtlCol="0" anchor="t"/>
          <a:lstStyle/>
          <a:p>
            <a:pPr algn="ctr" indent="0" marL="0">
              <a:buNone/>
            </a:pPr>
            <a:r>
              <a:rPr lang="en-US" sz="1400" dirty="0">
                <a:solidFill>
                  <a:srgbClr val="746C85"/>
                </a:solidFill>
                <a:latin typeface="Arial" pitchFamily="34" charset="0"/>
                <a:ea typeface="Arial" pitchFamily="34" charset="-122"/>
                <a:cs typeface="Arial" pitchFamily="34" charset="-120"/>
              </a:rPr>
              <a:t>Opens the project’s</a:t>
            </a:r>
            <a:endParaRPr lang="en-US" sz="1400" dirty="0"/>
          </a:p>
          <a:p>
            <a:pPr algn="ctr" indent="0" marL="0">
              <a:buNone/>
            </a:pPr>
            <a:r>
              <a:rPr lang="en-US" sz="1400" dirty="0">
                <a:solidFill>
                  <a:srgbClr val="746C85"/>
                </a:solidFill>
                <a:latin typeface="Arial" pitchFamily="34" charset="0"/>
                <a:ea typeface="Arial" pitchFamily="34" charset="-122"/>
                <a:cs typeface="Arial" pitchFamily="34" charset="-120"/>
              </a:rPr>
              <a:t>Google Drive folder.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B"/>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6540DB"/>
                </a:solidFill>
                <a:latin typeface="Arial" pitchFamily="34" charset="0"/>
                <a:ea typeface="Arial" pitchFamily="34" charset="-122"/>
                <a:cs typeface="Arial" pitchFamily="34" charset="-120"/>
              </a:rPr>
              <a:t>C3 / PRODUCTION NOTE</a:t>
            </a:r>
            <a:endParaRPr lang="en-US" sz="1050" dirty="0"/>
          </a:p>
        </p:txBody>
      </p:sp>
      <p:sp>
        <p:nvSpPr>
          <p:cNvPr id="3" name="Text 1"/>
          <p:cNvSpPr/>
          <p:nvPr/>
        </p:nvSpPr>
        <p:spPr>
          <a:xfrm>
            <a:off x="530352" y="795528"/>
            <a:ext cx="11109960" cy="594360"/>
          </a:xfrm>
          <a:prstGeom prst="rect">
            <a:avLst/>
          </a:prstGeom>
          <a:noFill/>
          <a:ln/>
        </p:spPr>
        <p:txBody>
          <a:bodyPr wrap="square" lIns="0" tIns="0" rIns="0" bIns="0" rtlCol="0" anchor="t"/>
          <a:lstStyle/>
          <a:p>
            <a:pPr indent="0" marL="0">
              <a:buNone/>
            </a:pPr>
            <a:r>
              <a:rPr lang="en-US" sz="3300" b="1" dirty="0">
                <a:solidFill>
                  <a:srgbClr val="241C3F"/>
                </a:solidFill>
                <a:latin typeface="Arial" pitchFamily="34" charset="0"/>
                <a:ea typeface="Arial" pitchFamily="34" charset="-122"/>
                <a:cs typeface="Arial" pitchFamily="34" charset="-120"/>
              </a:rPr>
              <a:t>The plan is defined. Export details remain.</a:t>
            </a:r>
            <a:endParaRPr lang="en-US" sz="3300" dirty="0"/>
          </a:p>
        </p:txBody>
      </p:sp>
      <p:sp>
        <p:nvSpPr>
          <p:cNvPr id="4" name="Text 2"/>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746C85"/>
                </a:solidFill>
                <a:latin typeface="Arial" pitchFamily="34" charset="0"/>
                <a:ea typeface="Arial" pitchFamily="34" charset="-122"/>
                <a:cs typeface="Arial" pitchFamily="34" charset="-120"/>
              </a:rPr>
              <a:t>MY AITU  /  ICT ASSIGNMENT 4</a:t>
            </a:r>
            <a:endParaRPr lang="en-US" sz="930" dirty="0"/>
          </a:p>
        </p:txBody>
      </p:sp>
      <p:sp>
        <p:nvSpPr>
          <p:cNvPr id="5" name="Text 3"/>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746C85"/>
                </a:solidFill>
                <a:latin typeface="Arial" pitchFamily="34" charset="0"/>
                <a:ea typeface="Arial" pitchFamily="34" charset="-122"/>
                <a:cs typeface="Arial" pitchFamily="34" charset="-120"/>
              </a:rPr>
              <a:t>14 / 19</a:t>
            </a:r>
            <a:endParaRPr lang="en-US" sz="930" dirty="0"/>
          </a:p>
        </p:txBody>
      </p:sp>
      <p:sp>
        <p:nvSpPr>
          <p:cNvPr id="7" name="Shape 4"/>
          <p:cNvSpPr/>
          <p:nvPr/>
        </p:nvSpPr>
        <p:spPr>
          <a:xfrm>
            <a:off x="548640" y="1819656"/>
            <a:ext cx="7315200" cy="4370832"/>
          </a:xfrm>
          <a:prstGeom prst="roundRect">
            <a:avLst>
              <a:gd name="adj" fmla="val 3138"/>
            </a:avLst>
          </a:prstGeom>
          <a:solidFill>
            <a:srgbClr val="FFFFFF"/>
          </a:solidFill>
          <a:ln w="12700">
            <a:solidFill>
              <a:srgbClr val="FFFFFF"/>
            </a:solidFill>
            <a:prstDash val="solid"/>
          </a:ln>
        </p:spPr>
      </p:sp>
      <p:sp>
        <p:nvSpPr>
          <p:cNvPr id="8" name="Text 5"/>
          <p:cNvSpPr/>
          <p:nvPr/>
        </p:nvSpPr>
        <p:spPr>
          <a:xfrm>
            <a:off x="804672" y="2093976"/>
            <a:ext cx="6793992" cy="347472"/>
          </a:xfrm>
          <a:prstGeom prst="rect">
            <a:avLst/>
          </a:prstGeom>
          <a:noFill/>
          <a:ln/>
        </p:spPr>
        <p:txBody>
          <a:bodyPr wrap="square" lIns="0" tIns="0" rIns="0" bIns="0" rtlCol="0" anchor="t"/>
          <a:lstStyle/>
          <a:p>
            <a:pPr indent="0" marL="0">
              <a:buNone/>
            </a:pPr>
            <a:r>
              <a:rPr lang="en-US" sz="2200" b="1" dirty="0">
                <a:solidFill>
                  <a:srgbClr val="241C3F"/>
                </a:solidFill>
                <a:latin typeface="Arial" pitchFamily="34" charset="0"/>
                <a:ea typeface="Arial" pitchFamily="34" charset="-122"/>
                <a:cs typeface="Arial" pitchFamily="34" charset="-120"/>
              </a:rPr>
              <a:t>Production note</a:t>
            </a:r>
            <a:endParaRPr lang="en-US" sz="2200" dirty="0"/>
          </a:p>
        </p:txBody>
      </p:sp>
      <p:sp>
        <p:nvSpPr>
          <p:cNvPr id="9" name="Text 6"/>
          <p:cNvSpPr/>
          <p:nvPr/>
        </p:nvSpPr>
        <p:spPr>
          <a:xfrm>
            <a:off x="822960" y="2734056"/>
            <a:ext cx="6729984" cy="2971800"/>
          </a:xfrm>
          <a:prstGeom prst="rect">
            <a:avLst/>
          </a:prstGeom>
          <a:noFill/>
          <a:ln/>
        </p:spPr>
        <p:txBody>
          <a:bodyPr wrap="square" lIns="0" tIns="0" rIns="0" bIns="0" rtlCol="0" anchor="t"/>
          <a:lstStyle/>
          <a:p>
            <a:pPr indent="0" marL="0">
              <a:buNone/>
            </a:pPr>
            <a:r>
              <a:rPr lang="en-US" sz="1700" dirty="0">
                <a:solidFill>
                  <a:srgbClr val="746C85"/>
                </a:solidFill>
                <a:latin typeface="Arial" pitchFamily="34" charset="0"/>
                <a:ea typeface="Arial" pitchFamily="34" charset="-122"/>
                <a:cs typeface="Arial" pitchFamily="34" charset="-120"/>
              </a:rPr>
              <a:t>The storyboard plans a 2-minute 10-second walkthrough of the My AITU / LMS bridge, with narration from all three team members. It covers sign-in, key pages, the project’s purpose and future work. MP4 with H.264 video and AAC audio is the planned delivery format for broad device playback. The linked Drive folder is the hand-off location. Recording and editing tools, final resolution, frame rate, bitrate and file size were not supplied, so they cannot yet be reported as completed production settings. These values should be checked against the final exported video before submission.</a:t>
            </a:r>
            <a:endParaRPr lang="en-US" sz="1700" dirty="0"/>
          </a:p>
        </p:txBody>
      </p:sp>
      <p:sp>
        <p:nvSpPr>
          <p:cNvPr id="10" name="Shape 7"/>
          <p:cNvSpPr/>
          <p:nvPr/>
        </p:nvSpPr>
        <p:spPr>
          <a:xfrm>
            <a:off x="8174736" y="1819656"/>
            <a:ext cx="3465576" cy="4370832"/>
          </a:xfrm>
          <a:prstGeom prst="roundRect">
            <a:avLst>
              <a:gd name="adj" fmla="val 3958"/>
            </a:avLst>
          </a:prstGeom>
          <a:solidFill>
            <a:srgbClr val="E9E1FC"/>
          </a:solidFill>
          <a:ln w="12700">
            <a:solidFill>
              <a:srgbClr val="E9E1FC"/>
            </a:solidFill>
            <a:prstDash val="solid"/>
          </a:ln>
        </p:spPr>
      </p:sp>
      <p:sp>
        <p:nvSpPr>
          <p:cNvPr id="11" name="Shape 8"/>
          <p:cNvSpPr/>
          <p:nvPr/>
        </p:nvSpPr>
        <p:spPr>
          <a:xfrm>
            <a:off x="8366760" y="2039112"/>
            <a:ext cx="3072384" cy="301752"/>
          </a:xfrm>
          <a:prstGeom prst="roundRect">
            <a:avLst>
              <a:gd name="adj" fmla="val 48485"/>
            </a:avLst>
          </a:prstGeom>
          <a:solidFill>
            <a:srgbClr val="FFFFFF"/>
          </a:solidFill>
          <a:ln w="12700">
            <a:solidFill>
              <a:srgbClr val="FFFFFF"/>
            </a:solidFill>
            <a:prstDash val="solid"/>
          </a:ln>
        </p:spPr>
      </p:sp>
      <p:sp>
        <p:nvSpPr>
          <p:cNvPr id="12" name="Text 9"/>
          <p:cNvSpPr/>
          <p:nvPr/>
        </p:nvSpPr>
        <p:spPr>
          <a:xfrm>
            <a:off x="8458200" y="2098548"/>
            <a:ext cx="2889504" cy="173736"/>
          </a:xfrm>
          <a:prstGeom prst="rect">
            <a:avLst/>
          </a:prstGeom>
          <a:noFill/>
          <a:ln/>
        </p:spPr>
        <p:txBody>
          <a:bodyPr wrap="square" lIns="0" tIns="0" rIns="0" bIns="0" rtlCol="0" anchor="t"/>
          <a:lstStyle/>
          <a:p>
            <a:pPr algn="ctr" indent="0" marL="0">
              <a:buNone/>
            </a:pPr>
            <a:r>
              <a:rPr lang="en-US" sz="1000" b="1" dirty="0">
                <a:solidFill>
                  <a:srgbClr val="6540DB"/>
                </a:solidFill>
                <a:latin typeface="Arial" pitchFamily="34" charset="0"/>
                <a:ea typeface="Arial" pitchFamily="34" charset="-122"/>
                <a:cs typeface="Arial" pitchFamily="34" charset="-120"/>
              </a:rPr>
              <a:t>FINAL FILE NOT INSPECTED</a:t>
            </a:r>
            <a:endParaRPr lang="en-US" sz="1000" dirty="0"/>
          </a:p>
        </p:txBody>
      </p:sp>
      <p:sp>
        <p:nvSpPr>
          <p:cNvPr id="13" name="Text 10"/>
          <p:cNvSpPr/>
          <p:nvPr/>
        </p:nvSpPr>
        <p:spPr>
          <a:xfrm>
            <a:off x="8403336" y="2724912"/>
            <a:ext cx="3026664" cy="832104"/>
          </a:xfrm>
          <a:prstGeom prst="rect">
            <a:avLst/>
          </a:prstGeom>
          <a:noFill/>
          <a:ln/>
        </p:spPr>
        <p:txBody>
          <a:bodyPr wrap="square" lIns="0" tIns="0" rIns="0" bIns="0" rtlCol="0" anchor="t"/>
          <a:lstStyle/>
          <a:p>
            <a:pPr indent="0" marL="0">
              <a:buNone/>
            </a:pPr>
            <a:r>
              <a:rPr lang="en-US" sz="2600" b="1" dirty="0">
                <a:solidFill>
                  <a:srgbClr val="241C3F"/>
                </a:solidFill>
                <a:latin typeface="Arial" pitchFamily="34" charset="0"/>
                <a:ea typeface="Arial" pitchFamily="34" charset="-122"/>
                <a:cs typeface="Arial" pitchFamily="34" charset="-120"/>
              </a:rPr>
              <a:t>Confirm before</a:t>
            </a:r>
            <a:endParaRPr lang="en-US" sz="2600" dirty="0"/>
          </a:p>
          <a:p>
            <a:pPr indent="0" marL="0">
              <a:buNone/>
            </a:pPr>
            <a:r>
              <a:rPr lang="en-US" sz="2600" b="1" dirty="0">
                <a:solidFill>
                  <a:srgbClr val="241C3F"/>
                </a:solidFill>
                <a:latin typeface="Arial" pitchFamily="34" charset="0"/>
                <a:ea typeface="Arial" pitchFamily="34" charset="-122"/>
                <a:cs typeface="Arial" pitchFamily="34" charset="-120"/>
              </a:rPr>
              <a:t>submission</a:t>
            </a:r>
            <a:endParaRPr lang="en-US" sz="2600" dirty="0"/>
          </a:p>
        </p:txBody>
      </p:sp>
      <p:sp>
        <p:nvSpPr>
          <p:cNvPr id="14" name="Text 11"/>
          <p:cNvSpPr/>
          <p:nvPr/>
        </p:nvSpPr>
        <p:spPr>
          <a:xfrm>
            <a:off x="8403336" y="3977640"/>
            <a:ext cx="3026664" cy="1609344"/>
          </a:xfrm>
          <a:prstGeom prst="rect">
            <a:avLst/>
          </a:prstGeom>
          <a:noFill/>
          <a:ln/>
        </p:spPr>
        <p:txBody>
          <a:bodyPr wrap="square" lIns="0" tIns="0" rIns="0" bIns="0" rtlCol="0" anchor="t"/>
          <a:lstStyle/>
          <a:p>
            <a:pPr indent="0" marL="0">
              <a:buNone/>
            </a:pPr>
            <a:r>
              <a:rPr lang="en-US" sz="1550" dirty="0">
                <a:solidFill>
                  <a:srgbClr val="241C3F"/>
                </a:solidFill>
                <a:latin typeface="Arial" pitchFamily="34" charset="0"/>
                <a:ea typeface="Arial" pitchFamily="34" charset="-122"/>
                <a:cs typeface="Arial" pitchFamily="34" charset="-120"/>
              </a:rPr>
              <a:t>Recording + editing tools</a:t>
            </a:r>
            <a:endParaRPr lang="en-US" sz="1550" dirty="0"/>
          </a:p>
          <a:p>
            <a:pPr indent="0" marL="0">
              <a:buNone/>
            </a:pPr>
            <a:r>
              <a:rPr lang="en-US" sz="1550" dirty="0">
                <a:solidFill>
                  <a:srgbClr val="241C3F"/>
                </a:solidFill>
                <a:latin typeface="Arial" pitchFamily="34" charset="0"/>
                <a:ea typeface="Arial" pitchFamily="34" charset="-122"/>
                <a:cs typeface="Arial" pitchFamily="34" charset="-120"/>
              </a:rPr>
              <a:t>Resolution + frame rate</a:t>
            </a:r>
            <a:endParaRPr lang="en-US" sz="1550" dirty="0"/>
          </a:p>
          <a:p>
            <a:pPr indent="0" marL="0">
              <a:buNone/>
            </a:pPr>
            <a:r>
              <a:rPr lang="en-US" sz="1550" dirty="0">
                <a:solidFill>
                  <a:srgbClr val="241C3F"/>
                </a:solidFill>
                <a:latin typeface="Arial" pitchFamily="34" charset="0"/>
                <a:ea typeface="Arial" pitchFamily="34" charset="-122"/>
                <a:cs typeface="Arial" pitchFamily="34" charset="-120"/>
              </a:rPr>
              <a:t>Video + audio bitrate</a:t>
            </a:r>
            <a:endParaRPr lang="en-US" sz="1550" dirty="0"/>
          </a:p>
          <a:p>
            <a:pPr indent="0" marL="0">
              <a:buNone/>
            </a:pPr>
            <a:r>
              <a:rPr lang="en-US" sz="1550" dirty="0">
                <a:solidFill>
                  <a:srgbClr val="241C3F"/>
                </a:solidFill>
                <a:latin typeface="Arial" pitchFamily="34" charset="0"/>
                <a:ea typeface="Arial" pitchFamily="34" charset="-122"/>
                <a:cs typeface="Arial" pitchFamily="34" charset="-120"/>
              </a:rPr>
              <a:t>Final duration + file size</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41448"/>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C9B7FA"/>
                </a:solidFill>
                <a:latin typeface="Arial" pitchFamily="34" charset="0"/>
                <a:ea typeface="Arial" pitchFamily="34" charset="-122"/>
                <a:cs typeface="Arial" pitchFamily="34" charset="-120"/>
              </a:rPr>
              <a:t>PART D / INTEGRATION</a:t>
            </a:r>
            <a:endParaRPr lang="en-US" sz="1050" dirty="0"/>
          </a:p>
        </p:txBody>
      </p:sp>
      <p:sp>
        <p:nvSpPr>
          <p:cNvPr id="3" name="Text 1"/>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C7B9EC"/>
                </a:solidFill>
                <a:latin typeface="Arial" pitchFamily="34" charset="0"/>
                <a:ea typeface="Arial" pitchFamily="34" charset="-122"/>
                <a:cs typeface="Arial" pitchFamily="34" charset="-120"/>
              </a:rPr>
              <a:t>MY AITU  /  ICT ASSIGNMENT 4</a:t>
            </a:r>
            <a:endParaRPr lang="en-US" sz="930" dirty="0"/>
          </a:p>
        </p:txBody>
      </p:sp>
      <p:sp>
        <p:nvSpPr>
          <p:cNvPr id="4" name="Text 2"/>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C7B9EC"/>
                </a:solidFill>
                <a:latin typeface="Arial" pitchFamily="34" charset="0"/>
                <a:ea typeface="Arial" pitchFamily="34" charset="-122"/>
                <a:cs typeface="Arial" pitchFamily="34" charset="-120"/>
              </a:rPr>
              <a:t>15 / 19</a:t>
            </a:r>
            <a:endParaRPr lang="en-US" sz="930" dirty="0"/>
          </a:p>
        </p:txBody>
      </p:sp>
      <p:sp>
        <p:nvSpPr>
          <p:cNvPr id="6" name="Text 3"/>
          <p:cNvSpPr/>
          <p:nvPr/>
        </p:nvSpPr>
        <p:spPr>
          <a:xfrm>
            <a:off x="594360" y="1143000"/>
            <a:ext cx="10789920" cy="1463040"/>
          </a:xfrm>
          <a:prstGeom prst="rect">
            <a:avLst/>
          </a:prstGeom>
          <a:noFill/>
          <a:ln/>
        </p:spPr>
        <p:txBody>
          <a:bodyPr wrap="square" lIns="0" tIns="0" rIns="0" bIns="0" rtlCol="0" anchor="t"/>
          <a:lstStyle/>
          <a:p>
            <a:pPr indent="0" marL="0">
              <a:buNone/>
            </a:pPr>
            <a:r>
              <a:rPr lang="en-US" sz="4200" b="1" dirty="0">
                <a:solidFill>
                  <a:srgbClr val="FFFFFF"/>
                </a:solidFill>
                <a:latin typeface="Arial" pitchFamily="34" charset="0"/>
                <a:ea typeface="Arial" pitchFamily="34" charset="-122"/>
                <a:cs typeface="Arial" pitchFamily="34" charset="-120"/>
              </a:rPr>
              <a:t>From media assets</a:t>
            </a:r>
            <a:endParaRPr lang="en-US" sz="4200" dirty="0"/>
          </a:p>
          <a:p>
            <a:pPr indent="0" marL="0">
              <a:buNone/>
            </a:pPr>
            <a:r>
              <a:rPr lang="en-US" sz="4200" b="1" dirty="0">
                <a:solidFill>
                  <a:srgbClr val="FFFFFF"/>
                </a:solidFill>
                <a:latin typeface="Arial" pitchFamily="34" charset="0"/>
                <a:ea typeface="Arial" pitchFamily="34" charset="-122"/>
                <a:cs typeface="Arial" pitchFamily="34" charset="-120"/>
              </a:rPr>
              <a:t>to a working bridge.</a:t>
            </a:r>
            <a:endParaRPr lang="en-US" sz="4200" dirty="0"/>
          </a:p>
        </p:txBody>
      </p:sp>
      <p:sp>
        <p:nvSpPr>
          <p:cNvPr id="7" name="Text 4"/>
          <p:cNvSpPr/>
          <p:nvPr/>
        </p:nvSpPr>
        <p:spPr>
          <a:xfrm>
            <a:off x="621792" y="2980944"/>
            <a:ext cx="10515600" cy="384048"/>
          </a:xfrm>
          <a:prstGeom prst="rect">
            <a:avLst/>
          </a:prstGeom>
          <a:noFill/>
          <a:ln/>
        </p:spPr>
        <p:txBody>
          <a:bodyPr wrap="square" lIns="0" tIns="0" rIns="0" bIns="0" rtlCol="0" anchor="t"/>
          <a:lstStyle/>
          <a:p>
            <a:pPr indent="0" marL="0">
              <a:buNone/>
            </a:pPr>
            <a:r>
              <a:rPr lang="en-US" sz="2000" dirty="0">
                <a:solidFill>
                  <a:srgbClr val="D2C4EC"/>
                </a:solidFill>
                <a:latin typeface="Arial" pitchFamily="34" charset="0"/>
                <a:ea typeface="Arial" pitchFamily="34" charset="-122"/>
                <a:cs typeface="Arial" pitchFamily="34" charset="-120"/>
              </a:rPr>
              <a:t>The multimedia layer supports the same project and prototype.</a:t>
            </a:r>
            <a:endParaRPr lang="en-US" sz="2000" dirty="0"/>
          </a:p>
        </p:txBody>
      </p:sp>
      <p:sp>
        <p:nvSpPr>
          <p:cNvPr id="8" name="Shape 5"/>
          <p:cNvSpPr/>
          <p:nvPr/>
        </p:nvSpPr>
        <p:spPr>
          <a:xfrm>
            <a:off x="594360" y="4014216"/>
            <a:ext cx="3063240" cy="1554480"/>
          </a:xfrm>
          <a:prstGeom prst="roundRect">
            <a:avLst>
              <a:gd name="adj" fmla="val 8824"/>
            </a:avLst>
          </a:prstGeom>
          <a:solidFill>
            <a:srgbClr val="3A2858"/>
          </a:solidFill>
          <a:ln w="12700">
            <a:solidFill>
              <a:srgbClr val="3A2858"/>
            </a:solidFill>
            <a:prstDash val="solid"/>
          </a:ln>
        </p:spPr>
      </p:sp>
      <p:sp>
        <p:nvSpPr>
          <p:cNvPr id="9" name="Text 6"/>
          <p:cNvSpPr/>
          <p:nvPr/>
        </p:nvSpPr>
        <p:spPr>
          <a:xfrm>
            <a:off x="777240" y="4224528"/>
            <a:ext cx="548640" cy="256032"/>
          </a:xfrm>
          <a:prstGeom prst="rect">
            <a:avLst/>
          </a:prstGeom>
          <a:noFill/>
          <a:ln/>
        </p:spPr>
        <p:txBody>
          <a:bodyPr wrap="square" lIns="0" tIns="0" rIns="0" bIns="0" rtlCol="0" anchor="t"/>
          <a:lstStyle/>
          <a:p>
            <a:pPr indent="0" marL="0">
              <a:buNone/>
            </a:pPr>
            <a:r>
              <a:rPr lang="en-US" sz="1300" b="1" dirty="0">
                <a:solidFill>
                  <a:srgbClr val="BFA4FF"/>
                </a:solidFill>
                <a:latin typeface="Arial" pitchFamily="34" charset="0"/>
                <a:ea typeface="Arial" pitchFamily="34" charset="-122"/>
                <a:cs typeface="Arial" pitchFamily="34" charset="-120"/>
              </a:rPr>
              <a:t>01</a:t>
            </a:r>
            <a:endParaRPr lang="en-US" sz="1300" dirty="0"/>
          </a:p>
        </p:txBody>
      </p:sp>
      <p:sp>
        <p:nvSpPr>
          <p:cNvPr id="10" name="Text 7"/>
          <p:cNvSpPr/>
          <p:nvPr/>
        </p:nvSpPr>
        <p:spPr>
          <a:xfrm>
            <a:off x="777240" y="4608576"/>
            <a:ext cx="2697480" cy="347472"/>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Sign in</a:t>
            </a:r>
            <a:endParaRPr lang="en-US" sz="2400" dirty="0"/>
          </a:p>
        </p:txBody>
      </p:sp>
      <p:sp>
        <p:nvSpPr>
          <p:cNvPr id="11" name="Text 8"/>
          <p:cNvSpPr/>
          <p:nvPr/>
        </p:nvSpPr>
        <p:spPr>
          <a:xfrm>
            <a:off x="777240" y="5129784"/>
            <a:ext cx="2697480" cy="246888"/>
          </a:xfrm>
          <a:prstGeom prst="rect">
            <a:avLst/>
          </a:prstGeom>
          <a:noFill/>
          <a:ln/>
        </p:spPr>
        <p:txBody>
          <a:bodyPr wrap="square" lIns="0" tIns="0" rIns="0" bIns="0" rtlCol="0" anchor="t"/>
          <a:lstStyle/>
          <a:p>
            <a:pPr indent="0" marL="0">
              <a:buNone/>
            </a:pPr>
            <a:r>
              <a:rPr lang="en-US" sz="1200" dirty="0">
                <a:solidFill>
                  <a:srgbClr val="D2C4EC"/>
                </a:solidFill>
                <a:latin typeface="Arial" pitchFamily="34" charset="0"/>
                <a:ea typeface="Arial" pitchFamily="34" charset="-122"/>
                <a:cs typeface="Arial" pitchFamily="34" charset="-120"/>
              </a:rPr>
              <a:t>Individual user session</a:t>
            </a:r>
            <a:endParaRPr lang="en-US" sz="1200" dirty="0"/>
          </a:p>
        </p:txBody>
      </p:sp>
      <p:sp>
        <p:nvSpPr>
          <p:cNvPr id="12" name="Text 9"/>
          <p:cNvSpPr/>
          <p:nvPr/>
        </p:nvSpPr>
        <p:spPr>
          <a:xfrm>
            <a:off x="3931920" y="4590288"/>
            <a:ext cx="438912" cy="365760"/>
          </a:xfrm>
          <a:prstGeom prst="rect">
            <a:avLst/>
          </a:prstGeom>
          <a:noFill/>
          <a:ln/>
        </p:spPr>
        <p:txBody>
          <a:bodyPr wrap="square" lIns="0" tIns="0" rIns="0" bIns="0" rtlCol="0" anchor="t"/>
          <a:lstStyle/>
          <a:p>
            <a:pPr indent="0" marL="0">
              <a:buNone/>
            </a:pPr>
            <a:r>
              <a:rPr lang="en-US" sz="2500" dirty="0">
                <a:solidFill>
                  <a:srgbClr val="BFA4FF"/>
                </a:solidFill>
                <a:latin typeface="Arial" pitchFamily="34" charset="0"/>
                <a:ea typeface="Arial" pitchFamily="34" charset="-122"/>
                <a:cs typeface="Arial" pitchFamily="34" charset="-120"/>
              </a:rPr>
              <a:t>→</a:t>
            </a:r>
            <a:endParaRPr lang="en-US" sz="2500" dirty="0"/>
          </a:p>
        </p:txBody>
      </p:sp>
      <p:sp>
        <p:nvSpPr>
          <p:cNvPr id="13" name="Shape 10"/>
          <p:cNvSpPr/>
          <p:nvPr/>
        </p:nvSpPr>
        <p:spPr>
          <a:xfrm>
            <a:off x="4572000" y="4014216"/>
            <a:ext cx="3063240" cy="1554480"/>
          </a:xfrm>
          <a:prstGeom prst="roundRect">
            <a:avLst>
              <a:gd name="adj" fmla="val 8824"/>
            </a:avLst>
          </a:prstGeom>
          <a:solidFill>
            <a:srgbClr val="3A2858"/>
          </a:solidFill>
          <a:ln w="12700">
            <a:solidFill>
              <a:srgbClr val="3A2858"/>
            </a:solidFill>
            <a:prstDash val="solid"/>
          </a:ln>
        </p:spPr>
      </p:sp>
      <p:sp>
        <p:nvSpPr>
          <p:cNvPr id="14" name="Text 11"/>
          <p:cNvSpPr/>
          <p:nvPr/>
        </p:nvSpPr>
        <p:spPr>
          <a:xfrm>
            <a:off x="4754880" y="4224528"/>
            <a:ext cx="548640" cy="256032"/>
          </a:xfrm>
          <a:prstGeom prst="rect">
            <a:avLst/>
          </a:prstGeom>
          <a:noFill/>
          <a:ln/>
        </p:spPr>
        <p:txBody>
          <a:bodyPr wrap="square" lIns="0" tIns="0" rIns="0" bIns="0" rtlCol="0" anchor="t"/>
          <a:lstStyle/>
          <a:p>
            <a:pPr indent="0" marL="0">
              <a:buNone/>
            </a:pPr>
            <a:r>
              <a:rPr lang="en-US" sz="1300" b="1" dirty="0">
                <a:solidFill>
                  <a:srgbClr val="BFA4FF"/>
                </a:solidFill>
                <a:latin typeface="Arial" pitchFamily="34" charset="0"/>
                <a:ea typeface="Arial" pitchFamily="34" charset="-122"/>
                <a:cs typeface="Arial" pitchFamily="34" charset="-120"/>
              </a:rPr>
              <a:t>02</a:t>
            </a:r>
            <a:endParaRPr lang="en-US" sz="1300" dirty="0"/>
          </a:p>
        </p:txBody>
      </p:sp>
      <p:sp>
        <p:nvSpPr>
          <p:cNvPr id="15" name="Text 12"/>
          <p:cNvSpPr/>
          <p:nvPr/>
        </p:nvSpPr>
        <p:spPr>
          <a:xfrm>
            <a:off x="4754880" y="4608576"/>
            <a:ext cx="2697480" cy="347472"/>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Read LMS</a:t>
            </a:r>
            <a:endParaRPr lang="en-US" sz="2400" dirty="0"/>
          </a:p>
        </p:txBody>
      </p:sp>
      <p:sp>
        <p:nvSpPr>
          <p:cNvPr id="16" name="Text 13"/>
          <p:cNvSpPr/>
          <p:nvPr/>
        </p:nvSpPr>
        <p:spPr>
          <a:xfrm>
            <a:off x="4754880" y="5129784"/>
            <a:ext cx="2697480" cy="246888"/>
          </a:xfrm>
          <a:prstGeom prst="rect">
            <a:avLst/>
          </a:prstGeom>
          <a:noFill/>
          <a:ln/>
        </p:spPr>
        <p:txBody>
          <a:bodyPr wrap="square" lIns="0" tIns="0" rIns="0" bIns="0" rtlCol="0" anchor="t"/>
          <a:lstStyle/>
          <a:p>
            <a:pPr indent="0" marL="0">
              <a:buNone/>
            </a:pPr>
            <a:r>
              <a:rPr lang="en-US" sz="1200" dirty="0">
                <a:solidFill>
                  <a:srgbClr val="D2C4EC"/>
                </a:solidFill>
                <a:latin typeface="Arial" pitchFamily="34" charset="0"/>
                <a:ea typeface="Arial" pitchFamily="34" charset="-122"/>
                <a:cs typeface="Arial" pitchFamily="34" charset="-120"/>
              </a:rPr>
              <a:t>Course and attendance data</a:t>
            </a:r>
            <a:endParaRPr lang="en-US" sz="1200" dirty="0"/>
          </a:p>
        </p:txBody>
      </p:sp>
      <p:sp>
        <p:nvSpPr>
          <p:cNvPr id="17" name="Text 14"/>
          <p:cNvSpPr/>
          <p:nvPr/>
        </p:nvSpPr>
        <p:spPr>
          <a:xfrm>
            <a:off x="7909560" y="4590288"/>
            <a:ext cx="438912" cy="365760"/>
          </a:xfrm>
          <a:prstGeom prst="rect">
            <a:avLst/>
          </a:prstGeom>
          <a:noFill/>
          <a:ln/>
        </p:spPr>
        <p:txBody>
          <a:bodyPr wrap="square" lIns="0" tIns="0" rIns="0" bIns="0" rtlCol="0" anchor="t"/>
          <a:lstStyle/>
          <a:p>
            <a:pPr indent="0" marL="0">
              <a:buNone/>
            </a:pPr>
            <a:r>
              <a:rPr lang="en-US" sz="2500" dirty="0">
                <a:solidFill>
                  <a:srgbClr val="BFA4FF"/>
                </a:solidFill>
                <a:latin typeface="Arial" pitchFamily="34" charset="0"/>
                <a:ea typeface="Arial" pitchFamily="34" charset="-122"/>
                <a:cs typeface="Arial" pitchFamily="34" charset="-120"/>
              </a:rPr>
              <a:t>→</a:t>
            </a:r>
            <a:endParaRPr lang="en-US" sz="2500" dirty="0"/>
          </a:p>
        </p:txBody>
      </p:sp>
      <p:sp>
        <p:nvSpPr>
          <p:cNvPr id="18" name="Shape 15"/>
          <p:cNvSpPr/>
          <p:nvPr/>
        </p:nvSpPr>
        <p:spPr>
          <a:xfrm>
            <a:off x="8549640" y="4014216"/>
            <a:ext cx="3063240" cy="1554480"/>
          </a:xfrm>
          <a:prstGeom prst="roundRect">
            <a:avLst>
              <a:gd name="adj" fmla="val 8824"/>
            </a:avLst>
          </a:prstGeom>
          <a:solidFill>
            <a:srgbClr val="3A2858"/>
          </a:solidFill>
          <a:ln w="12700">
            <a:solidFill>
              <a:srgbClr val="3A2858"/>
            </a:solidFill>
            <a:prstDash val="solid"/>
          </a:ln>
        </p:spPr>
      </p:sp>
      <p:sp>
        <p:nvSpPr>
          <p:cNvPr id="19" name="Text 16"/>
          <p:cNvSpPr/>
          <p:nvPr/>
        </p:nvSpPr>
        <p:spPr>
          <a:xfrm>
            <a:off x="8732520" y="4224528"/>
            <a:ext cx="548640" cy="256032"/>
          </a:xfrm>
          <a:prstGeom prst="rect">
            <a:avLst/>
          </a:prstGeom>
          <a:noFill/>
          <a:ln/>
        </p:spPr>
        <p:txBody>
          <a:bodyPr wrap="square" lIns="0" tIns="0" rIns="0" bIns="0" rtlCol="0" anchor="t"/>
          <a:lstStyle/>
          <a:p>
            <a:pPr indent="0" marL="0">
              <a:buNone/>
            </a:pPr>
            <a:r>
              <a:rPr lang="en-US" sz="1300" b="1" dirty="0">
                <a:solidFill>
                  <a:srgbClr val="BFA4FF"/>
                </a:solidFill>
                <a:latin typeface="Arial" pitchFamily="34" charset="0"/>
                <a:ea typeface="Arial" pitchFamily="34" charset="-122"/>
                <a:cs typeface="Arial" pitchFamily="34" charset="-120"/>
              </a:rPr>
              <a:t>03</a:t>
            </a:r>
            <a:endParaRPr lang="en-US" sz="1300" dirty="0"/>
          </a:p>
        </p:txBody>
      </p:sp>
      <p:sp>
        <p:nvSpPr>
          <p:cNvPr id="20" name="Text 17"/>
          <p:cNvSpPr/>
          <p:nvPr/>
        </p:nvSpPr>
        <p:spPr>
          <a:xfrm>
            <a:off x="8732520" y="4608576"/>
            <a:ext cx="2697480" cy="347472"/>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Present clearly</a:t>
            </a:r>
            <a:endParaRPr lang="en-US" sz="2400" dirty="0"/>
          </a:p>
        </p:txBody>
      </p:sp>
      <p:sp>
        <p:nvSpPr>
          <p:cNvPr id="21" name="Text 18"/>
          <p:cNvSpPr/>
          <p:nvPr/>
        </p:nvSpPr>
        <p:spPr>
          <a:xfrm>
            <a:off x="8732520" y="5129784"/>
            <a:ext cx="2697480" cy="246888"/>
          </a:xfrm>
          <a:prstGeom prst="rect">
            <a:avLst/>
          </a:prstGeom>
          <a:noFill/>
          <a:ln/>
        </p:spPr>
        <p:txBody>
          <a:bodyPr wrap="square" lIns="0" tIns="0" rIns="0" bIns="0" rtlCol="0" anchor="t"/>
          <a:lstStyle/>
          <a:p>
            <a:pPr indent="0" marL="0">
              <a:buNone/>
            </a:pPr>
            <a:r>
              <a:rPr lang="en-US" sz="1200" dirty="0">
                <a:solidFill>
                  <a:srgbClr val="D2C4EC"/>
                </a:solidFill>
                <a:latin typeface="Arial" pitchFamily="34" charset="0"/>
                <a:ea typeface="Arial" pitchFamily="34" charset="-122"/>
                <a:cs typeface="Arial" pitchFamily="34" charset="-120"/>
              </a:rPr>
              <a:t>A responsive student interface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B"/>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6540DB"/>
                </a:solidFill>
                <a:latin typeface="Arial" pitchFamily="34" charset="0"/>
                <a:ea typeface="Arial" pitchFamily="34" charset="-122"/>
                <a:cs typeface="Arial" pitchFamily="34" charset="-120"/>
              </a:rPr>
              <a:t>D1 / UPDATED PROTOTYPE</a:t>
            </a:r>
            <a:endParaRPr lang="en-US" sz="1050" dirty="0"/>
          </a:p>
        </p:txBody>
      </p:sp>
      <p:sp>
        <p:nvSpPr>
          <p:cNvPr id="3" name="Text 1"/>
          <p:cNvSpPr/>
          <p:nvPr/>
        </p:nvSpPr>
        <p:spPr>
          <a:xfrm>
            <a:off x="530352" y="795528"/>
            <a:ext cx="11109960" cy="594360"/>
          </a:xfrm>
          <a:prstGeom prst="rect">
            <a:avLst/>
          </a:prstGeom>
          <a:noFill/>
          <a:ln/>
        </p:spPr>
        <p:txBody>
          <a:bodyPr wrap="square" lIns="0" tIns="0" rIns="0" bIns="0" rtlCol="0" anchor="t"/>
          <a:lstStyle/>
          <a:p>
            <a:pPr indent="0" marL="0">
              <a:buNone/>
            </a:pPr>
            <a:r>
              <a:rPr lang="en-US" sz="3300" b="1" dirty="0">
                <a:solidFill>
                  <a:srgbClr val="241C3F"/>
                </a:solidFill>
                <a:latin typeface="Arial" pitchFamily="34" charset="0"/>
                <a:ea typeface="Arial" pitchFamily="34" charset="-122"/>
                <a:cs typeface="Arial" pitchFamily="34" charset="-120"/>
              </a:rPr>
              <a:t>Run the project from its repository.</a:t>
            </a:r>
            <a:endParaRPr lang="en-US" sz="3300" dirty="0"/>
          </a:p>
        </p:txBody>
      </p:sp>
      <p:sp>
        <p:nvSpPr>
          <p:cNvPr id="4" name="Text 2"/>
          <p:cNvSpPr/>
          <p:nvPr/>
        </p:nvSpPr>
        <p:spPr>
          <a:xfrm>
            <a:off x="548640" y="1481328"/>
            <a:ext cx="11000232" cy="365760"/>
          </a:xfrm>
          <a:prstGeom prst="rect">
            <a:avLst/>
          </a:prstGeom>
          <a:noFill/>
          <a:ln/>
        </p:spPr>
        <p:txBody>
          <a:bodyPr wrap="square" lIns="0" tIns="0" rIns="0" bIns="0" rtlCol="0" anchor="t"/>
          <a:lstStyle/>
          <a:p>
            <a:pPr indent="0" marL="0">
              <a:buNone/>
            </a:pPr>
            <a:r>
              <a:rPr lang="en-US" sz="1400" dirty="0">
                <a:solidFill>
                  <a:srgbClr val="746C85"/>
                </a:solidFill>
                <a:latin typeface="Arial" pitchFamily="34" charset="0"/>
                <a:ea typeface="Arial" pitchFamily="34" charset="-122"/>
                <a:cs typeface="Arial" pitchFamily="34" charset="-120"/>
              </a:rPr>
              <a:t>Linux launch sequence from bridge-test/README.md.</a:t>
            </a:r>
            <a:endParaRPr lang="en-US" sz="1400" dirty="0"/>
          </a:p>
        </p:txBody>
      </p:sp>
      <p:sp>
        <p:nvSpPr>
          <p:cNvPr id="5" name="Text 3"/>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746C85"/>
                </a:solidFill>
                <a:latin typeface="Arial" pitchFamily="34" charset="0"/>
                <a:ea typeface="Arial" pitchFamily="34" charset="-122"/>
                <a:cs typeface="Arial" pitchFamily="34" charset="-120"/>
              </a:rPr>
              <a:t>MY AITU  /  ICT ASSIGNMENT 4</a:t>
            </a:r>
            <a:endParaRPr lang="en-US" sz="930" dirty="0"/>
          </a:p>
        </p:txBody>
      </p:sp>
      <p:sp>
        <p:nvSpPr>
          <p:cNvPr id="6" name="Text 4"/>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746C85"/>
                </a:solidFill>
                <a:latin typeface="Arial" pitchFamily="34" charset="0"/>
                <a:ea typeface="Arial" pitchFamily="34" charset="-122"/>
                <a:cs typeface="Arial" pitchFamily="34" charset="-120"/>
              </a:rPr>
              <a:t>16 / 19</a:t>
            </a:r>
            <a:endParaRPr lang="en-US" sz="930" dirty="0"/>
          </a:p>
        </p:txBody>
      </p:sp>
      <p:sp>
        <p:nvSpPr>
          <p:cNvPr id="8" name="Shape 5"/>
          <p:cNvSpPr/>
          <p:nvPr/>
        </p:nvSpPr>
        <p:spPr>
          <a:xfrm>
            <a:off x="576072" y="1901952"/>
            <a:ext cx="365760" cy="365760"/>
          </a:xfrm>
          <a:prstGeom prst="ellipse">
            <a:avLst/>
          </a:prstGeom>
          <a:solidFill>
            <a:srgbClr val="E9E1FC"/>
          </a:solidFill>
          <a:ln w="12700">
            <a:solidFill>
              <a:srgbClr val="E9E1FC"/>
            </a:solidFill>
            <a:prstDash val="solid"/>
          </a:ln>
        </p:spPr>
      </p:sp>
      <p:sp>
        <p:nvSpPr>
          <p:cNvPr id="9" name="Text 6"/>
          <p:cNvSpPr/>
          <p:nvPr/>
        </p:nvSpPr>
        <p:spPr>
          <a:xfrm>
            <a:off x="640080" y="2011680"/>
            <a:ext cx="237744" cy="146304"/>
          </a:xfrm>
          <a:prstGeom prst="rect">
            <a:avLst/>
          </a:prstGeom>
          <a:noFill/>
          <a:ln/>
        </p:spPr>
        <p:txBody>
          <a:bodyPr wrap="square" lIns="0" tIns="0" rIns="0" bIns="0" rtlCol="0" anchor="t"/>
          <a:lstStyle/>
          <a:p>
            <a:pPr indent="0" marL="0">
              <a:buNone/>
            </a:pPr>
            <a:r>
              <a:rPr lang="en-US" sz="950" b="1" dirty="0">
                <a:solidFill>
                  <a:srgbClr val="6540DB"/>
                </a:solidFill>
                <a:latin typeface="Arial" pitchFamily="34" charset="0"/>
                <a:ea typeface="Arial" pitchFamily="34" charset="-122"/>
                <a:cs typeface="Arial" pitchFamily="34" charset="-120"/>
              </a:rPr>
              <a:t>01</a:t>
            </a:r>
            <a:endParaRPr lang="en-US" sz="950" dirty="0"/>
          </a:p>
        </p:txBody>
      </p:sp>
      <p:sp>
        <p:nvSpPr>
          <p:cNvPr id="10" name="Text 7"/>
          <p:cNvSpPr/>
          <p:nvPr/>
        </p:nvSpPr>
        <p:spPr>
          <a:xfrm>
            <a:off x="1097280" y="1901952"/>
            <a:ext cx="6976872" cy="256032"/>
          </a:xfrm>
          <a:prstGeom prst="rect">
            <a:avLst/>
          </a:prstGeom>
          <a:noFill/>
          <a:ln/>
        </p:spPr>
        <p:txBody>
          <a:bodyPr wrap="square" lIns="0" tIns="0" rIns="0" bIns="0" rtlCol="0" anchor="t"/>
          <a:lstStyle/>
          <a:p>
            <a:pPr indent="0" marL="0">
              <a:buNone/>
            </a:pPr>
            <a:r>
              <a:rPr lang="en-US" sz="1700" b="1" dirty="0">
                <a:solidFill>
                  <a:srgbClr val="241C3F"/>
                </a:solidFill>
                <a:latin typeface="Arial" pitchFamily="34" charset="0"/>
                <a:ea typeface="Arial" pitchFamily="34" charset="-122"/>
                <a:cs typeface="Arial" pitchFamily="34" charset="-120"/>
              </a:rPr>
              <a:t>Clone the project</a:t>
            </a:r>
            <a:endParaRPr lang="en-US" sz="1700" dirty="0"/>
          </a:p>
        </p:txBody>
      </p:sp>
      <p:sp>
        <p:nvSpPr>
          <p:cNvPr id="11" name="Text 8"/>
          <p:cNvSpPr/>
          <p:nvPr/>
        </p:nvSpPr>
        <p:spPr>
          <a:xfrm>
            <a:off x="1097280" y="2286000"/>
            <a:ext cx="6995160" cy="466344"/>
          </a:xfrm>
          <a:prstGeom prst="rect">
            <a:avLst/>
          </a:prstGeom>
          <a:noFill/>
          <a:ln/>
        </p:spPr>
        <p:txBody>
          <a:bodyPr wrap="square" lIns="0" tIns="0" rIns="0" bIns="0" rtlCol="0" anchor="t"/>
          <a:lstStyle/>
          <a:p>
            <a:pPr indent="0" marL="0">
              <a:buNone/>
            </a:pPr>
            <a:r>
              <a:rPr lang="en-US" sz="1110" dirty="0">
                <a:solidFill>
                  <a:srgbClr val="746C85"/>
                </a:solidFill>
                <a:latin typeface="Courier New" pitchFamily="34" charset="0"/>
                <a:ea typeface="Courier New" pitchFamily="34" charset="-122"/>
                <a:cs typeface="Courier New" pitchFamily="34" charset="-120"/>
              </a:rPr>
              <a:t>git clone https://github.com/d30mantcoder/ICTProject</a:t>
            </a:r>
            <a:endParaRPr lang="en-US" sz="1110" dirty="0"/>
          </a:p>
        </p:txBody>
      </p:sp>
      <p:sp>
        <p:nvSpPr>
          <p:cNvPr id="12" name="Shape 9"/>
          <p:cNvSpPr/>
          <p:nvPr/>
        </p:nvSpPr>
        <p:spPr>
          <a:xfrm>
            <a:off x="576072" y="2889504"/>
            <a:ext cx="365760" cy="365760"/>
          </a:xfrm>
          <a:prstGeom prst="ellipse">
            <a:avLst/>
          </a:prstGeom>
          <a:solidFill>
            <a:srgbClr val="E9E1FC"/>
          </a:solidFill>
          <a:ln w="12700">
            <a:solidFill>
              <a:srgbClr val="E9E1FC"/>
            </a:solidFill>
            <a:prstDash val="solid"/>
          </a:ln>
        </p:spPr>
      </p:sp>
      <p:sp>
        <p:nvSpPr>
          <p:cNvPr id="13" name="Text 10"/>
          <p:cNvSpPr/>
          <p:nvPr/>
        </p:nvSpPr>
        <p:spPr>
          <a:xfrm>
            <a:off x="640080" y="2999232"/>
            <a:ext cx="237744" cy="146304"/>
          </a:xfrm>
          <a:prstGeom prst="rect">
            <a:avLst/>
          </a:prstGeom>
          <a:noFill/>
          <a:ln/>
        </p:spPr>
        <p:txBody>
          <a:bodyPr wrap="square" lIns="0" tIns="0" rIns="0" bIns="0" rtlCol="0" anchor="t"/>
          <a:lstStyle/>
          <a:p>
            <a:pPr indent="0" marL="0">
              <a:buNone/>
            </a:pPr>
            <a:r>
              <a:rPr lang="en-US" sz="950" b="1" dirty="0">
                <a:solidFill>
                  <a:srgbClr val="6540DB"/>
                </a:solidFill>
                <a:latin typeface="Arial" pitchFamily="34" charset="0"/>
                <a:ea typeface="Arial" pitchFamily="34" charset="-122"/>
                <a:cs typeface="Arial" pitchFamily="34" charset="-120"/>
              </a:rPr>
              <a:t>02</a:t>
            </a:r>
            <a:endParaRPr lang="en-US" sz="950" dirty="0"/>
          </a:p>
        </p:txBody>
      </p:sp>
      <p:sp>
        <p:nvSpPr>
          <p:cNvPr id="14" name="Text 11"/>
          <p:cNvSpPr/>
          <p:nvPr/>
        </p:nvSpPr>
        <p:spPr>
          <a:xfrm>
            <a:off x="1097280" y="2889504"/>
            <a:ext cx="6976872" cy="256032"/>
          </a:xfrm>
          <a:prstGeom prst="rect">
            <a:avLst/>
          </a:prstGeom>
          <a:noFill/>
          <a:ln/>
        </p:spPr>
        <p:txBody>
          <a:bodyPr wrap="square" lIns="0" tIns="0" rIns="0" bIns="0" rtlCol="0" anchor="t"/>
          <a:lstStyle/>
          <a:p>
            <a:pPr indent="0" marL="0">
              <a:buNone/>
            </a:pPr>
            <a:r>
              <a:rPr lang="en-US" sz="1700" b="1" dirty="0">
                <a:solidFill>
                  <a:srgbClr val="241C3F"/>
                </a:solidFill>
                <a:latin typeface="Arial" pitchFamily="34" charset="0"/>
                <a:ea typeface="Arial" pitchFamily="34" charset="-122"/>
                <a:cs typeface="Arial" pitchFamily="34" charset="-120"/>
              </a:rPr>
              <a:t>Create an environment</a:t>
            </a:r>
            <a:endParaRPr lang="en-US" sz="1700" dirty="0"/>
          </a:p>
        </p:txBody>
      </p:sp>
      <p:sp>
        <p:nvSpPr>
          <p:cNvPr id="15" name="Text 12"/>
          <p:cNvSpPr/>
          <p:nvPr/>
        </p:nvSpPr>
        <p:spPr>
          <a:xfrm>
            <a:off x="1097280" y="3273552"/>
            <a:ext cx="6995160" cy="466344"/>
          </a:xfrm>
          <a:prstGeom prst="rect">
            <a:avLst/>
          </a:prstGeom>
          <a:noFill/>
          <a:ln/>
        </p:spPr>
        <p:txBody>
          <a:bodyPr wrap="square" lIns="0" tIns="0" rIns="0" bIns="0" rtlCol="0" anchor="t"/>
          <a:lstStyle/>
          <a:p>
            <a:pPr indent="0" marL="0">
              <a:buNone/>
            </a:pPr>
            <a:r>
              <a:rPr lang="en-US" sz="1110" dirty="0">
                <a:solidFill>
                  <a:srgbClr val="746C85"/>
                </a:solidFill>
                <a:latin typeface="Courier New" pitchFamily="34" charset="0"/>
                <a:ea typeface="Courier New" pitchFamily="34" charset="-122"/>
                <a:cs typeface="Courier New" pitchFamily="34" charset="-120"/>
              </a:rPr>
              <a:t>cd ICTProject  &amp;&amp;  python -m venv venv</a:t>
            </a:r>
            <a:endParaRPr lang="en-US" sz="1110" dirty="0"/>
          </a:p>
        </p:txBody>
      </p:sp>
      <p:sp>
        <p:nvSpPr>
          <p:cNvPr id="16" name="Shape 13"/>
          <p:cNvSpPr/>
          <p:nvPr/>
        </p:nvSpPr>
        <p:spPr>
          <a:xfrm>
            <a:off x="576072" y="3877056"/>
            <a:ext cx="365760" cy="365760"/>
          </a:xfrm>
          <a:prstGeom prst="ellipse">
            <a:avLst/>
          </a:prstGeom>
          <a:solidFill>
            <a:srgbClr val="E9E1FC"/>
          </a:solidFill>
          <a:ln w="12700">
            <a:solidFill>
              <a:srgbClr val="E9E1FC"/>
            </a:solidFill>
            <a:prstDash val="solid"/>
          </a:ln>
        </p:spPr>
      </p:sp>
      <p:sp>
        <p:nvSpPr>
          <p:cNvPr id="17" name="Text 14"/>
          <p:cNvSpPr/>
          <p:nvPr/>
        </p:nvSpPr>
        <p:spPr>
          <a:xfrm>
            <a:off x="640080" y="3986784"/>
            <a:ext cx="237744" cy="146304"/>
          </a:xfrm>
          <a:prstGeom prst="rect">
            <a:avLst/>
          </a:prstGeom>
          <a:noFill/>
          <a:ln/>
        </p:spPr>
        <p:txBody>
          <a:bodyPr wrap="square" lIns="0" tIns="0" rIns="0" bIns="0" rtlCol="0" anchor="t"/>
          <a:lstStyle/>
          <a:p>
            <a:pPr indent="0" marL="0">
              <a:buNone/>
            </a:pPr>
            <a:r>
              <a:rPr lang="en-US" sz="950" b="1" dirty="0">
                <a:solidFill>
                  <a:srgbClr val="6540DB"/>
                </a:solidFill>
                <a:latin typeface="Arial" pitchFamily="34" charset="0"/>
                <a:ea typeface="Arial" pitchFamily="34" charset="-122"/>
                <a:cs typeface="Arial" pitchFamily="34" charset="-120"/>
              </a:rPr>
              <a:t>03</a:t>
            </a:r>
            <a:endParaRPr lang="en-US" sz="950" dirty="0"/>
          </a:p>
        </p:txBody>
      </p:sp>
      <p:sp>
        <p:nvSpPr>
          <p:cNvPr id="18" name="Text 15"/>
          <p:cNvSpPr/>
          <p:nvPr/>
        </p:nvSpPr>
        <p:spPr>
          <a:xfrm>
            <a:off x="1097280" y="3877056"/>
            <a:ext cx="6976872" cy="256032"/>
          </a:xfrm>
          <a:prstGeom prst="rect">
            <a:avLst/>
          </a:prstGeom>
          <a:noFill/>
          <a:ln/>
        </p:spPr>
        <p:txBody>
          <a:bodyPr wrap="square" lIns="0" tIns="0" rIns="0" bIns="0" rtlCol="0" anchor="t"/>
          <a:lstStyle/>
          <a:p>
            <a:pPr indent="0" marL="0">
              <a:buNone/>
            </a:pPr>
            <a:r>
              <a:rPr lang="en-US" sz="1700" b="1" dirty="0">
                <a:solidFill>
                  <a:srgbClr val="241C3F"/>
                </a:solidFill>
                <a:latin typeface="Arial" pitchFamily="34" charset="0"/>
                <a:ea typeface="Arial" pitchFamily="34" charset="-122"/>
                <a:cs typeface="Arial" pitchFamily="34" charset="-120"/>
              </a:rPr>
              <a:t>Install dependencies and Chromium</a:t>
            </a:r>
            <a:endParaRPr lang="en-US" sz="1700" dirty="0"/>
          </a:p>
        </p:txBody>
      </p:sp>
      <p:sp>
        <p:nvSpPr>
          <p:cNvPr id="19" name="Text 16"/>
          <p:cNvSpPr/>
          <p:nvPr/>
        </p:nvSpPr>
        <p:spPr>
          <a:xfrm>
            <a:off x="1097280" y="4261104"/>
            <a:ext cx="6995160" cy="466344"/>
          </a:xfrm>
          <a:prstGeom prst="rect">
            <a:avLst/>
          </a:prstGeom>
          <a:noFill/>
          <a:ln/>
        </p:spPr>
        <p:txBody>
          <a:bodyPr wrap="square" lIns="0" tIns="0" rIns="0" bIns="0" rtlCol="0" anchor="t"/>
          <a:lstStyle/>
          <a:p>
            <a:pPr indent="0" marL="0">
              <a:buNone/>
            </a:pPr>
            <a:r>
              <a:rPr lang="en-US" sz="1050" dirty="0">
                <a:solidFill>
                  <a:srgbClr val="746C85"/>
                </a:solidFill>
                <a:latin typeface="Courier New" pitchFamily="34" charset="0"/>
                <a:ea typeface="Courier New" pitchFamily="34" charset="-122"/>
                <a:cs typeface="Courier New" pitchFamily="34" charset="-120"/>
              </a:rPr>
              <a:t>venv/bin/python -m pip install -r bridge-test/requirements.txt</a:t>
            </a:r>
            <a:endParaRPr lang="en-US" sz="1050" dirty="0"/>
          </a:p>
          <a:p>
            <a:pPr indent="0" marL="0">
              <a:buNone/>
            </a:pPr>
            <a:r>
              <a:rPr lang="en-US" sz="1050" dirty="0">
                <a:solidFill>
                  <a:srgbClr val="746C85"/>
                </a:solidFill>
                <a:latin typeface="Courier New" pitchFamily="34" charset="0"/>
                <a:ea typeface="Courier New" pitchFamily="34" charset="-122"/>
                <a:cs typeface="Courier New" pitchFamily="34" charset="-120"/>
              </a:rPr>
              <a:t>venv/bin/python -m playwright install chromium --only-shell</a:t>
            </a:r>
            <a:endParaRPr lang="en-US" sz="1050" dirty="0"/>
          </a:p>
        </p:txBody>
      </p:sp>
      <p:sp>
        <p:nvSpPr>
          <p:cNvPr id="20" name="Shape 17"/>
          <p:cNvSpPr/>
          <p:nvPr/>
        </p:nvSpPr>
        <p:spPr>
          <a:xfrm>
            <a:off x="576072" y="4864608"/>
            <a:ext cx="365760" cy="365760"/>
          </a:xfrm>
          <a:prstGeom prst="ellipse">
            <a:avLst/>
          </a:prstGeom>
          <a:solidFill>
            <a:srgbClr val="E9E1FC"/>
          </a:solidFill>
          <a:ln w="12700">
            <a:solidFill>
              <a:srgbClr val="E9E1FC"/>
            </a:solidFill>
            <a:prstDash val="solid"/>
          </a:ln>
        </p:spPr>
      </p:sp>
      <p:sp>
        <p:nvSpPr>
          <p:cNvPr id="21" name="Text 18"/>
          <p:cNvSpPr/>
          <p:nvPr/>
        </p:nvSpPr>
        <p:spPr>
          <a:xfrm>
            <a:off x="640080" y="4974336"/>
            <a:ext cx="237744" cy="146304"/>
          </a:xfrm>
          <a:prstGeom prst="rect">
            <a:avLst/>
          </a:prstGeom>
          <a:noFill/>
          <a:ln/>
        </p:spPr>
        <p:txBody>
          <a:bodyPr wrap="square" lIns="0" tIns="0" rIns="0" bIns="0" rtlCol="0" anchor="t"/>
          <a:lstStyle/>
          <a:p>
            <a:pPr indent="0" marL="0">
              <a:buNone/>
            </a:pPr>
            <a:r>
              <a:rPr lang="en-US" sz="950" b="1" dirty="0">
                <a:solidFill>
                  <a:srgbClr val="6540DB"/>
                </a:solidFill>
                <a:latin typeface="Arial" pitchFamily="34" charset="0"/>
                <a:ea typeface="Arial" pitchFamily="34" charset="-122"/>
                <a:cs typeface="Arial" pitchFamily="34" charset="-120"/>
              </a:rPr>
              <a:t>04</a:t>
            </a:r>
            <a:endParaRPr lang="en-US" sz="950" dirty="0"/>
          </a:p>
        </p:txBody>
      </p:sp>
      <p:sp>
        <p:nvSpPr>
          <p:cNvPr id="22" name="Text 19"/>
          <p:cNvSpPr/>
          <p:nvPr/>
        </p:nvSpPr>
        <p:spPr>
          <a:xfrm>
            <a:off x="1097280" y="4864608"/>
            <a:ext cx="6976872" cy="256032"/>
          </a:xfrm>
          <a:prstGeom prst="rect">
            <a:avLst/>
          </a:prstGeom>
          <a:noFill/>
          <a:ln/>
        </p:spPr>
        <p:txBody>
          <a:bodyPr wrap="square" lIns="0" tIns="0" rIns="0" bIns="0" rtlCol="0" anchor="t"/>
          <a:lstStyle/>
          <a:p>
            <a:pPr indent="0" marL="0">
              <a:buNone/>
            </a:pPr>
            <a:r>
              <a:rPr lang="en-US" sz="1700" b="1" dirty="0">
                <a:solidFill>
                  <a:srgbClr val="241C3F"/>
                </a:solidFill>
                <a:latin typeface="Arial" pitchFamily="34" charset="0"/>
                <a:ea typeface="Arial" pitchFamily="34" charset="-122"/>
                <a:cs typeface="Arial" pitchFamily="34" charset="-120"/>
              </a:rPr>
              <a:t>Launch the bridge</a:t>
            </a:r>
            <a:endParaRPr lang="en-US" sz="1700" dirty="0"/>
          </a:p>
        </p:txBody>
      </p:sp>
      <p:sp>
        <p:nvSpPr>
          <p:cNvPr id="23" name="Text 20"/>
          <p:cNvSpPr/>
          <p:nvPr/>
        </p:nvSpPr>
        <p:spPr>
          <a:xfrm>
            <a:off x="1097280" y="5248656"/>
            <a:ext cx="6995160" cy="466344"/>
          </a:xfrm>
          <a:prstGeom prst="rect">
            <a:avLst/>
          </a:prstGeom>
          <a:noFill/>
          <a:ln/>
        </p:spPr>
        <p:txBody>
          <a:bodyPr wrap="square" lIns="0" tIns="0" rIns="0" bIns="0" rtlCol="0" anchor="t"/>
          <a:lstStyle/>
          <a:p>
            <a:pPr indent="0" marL="0">
              <a:buNone/>
            </a:pPr>
            <a:r>
              <a:rPr lang="en-US" sz="1110" dirty="0">
                <a:solidFill>
                  <a:srgbClr val="746C85"/>
                </a:solidFill>
                <a:latin typeface="Courier New" pitchFamily="34" charset="0"/>
                <a:ea typeface="Courier New" pitchFamily="34" charset="-122"/>
                <a:cs typeface="Courier New" pitchFamily="34" charset="-120"/>
              </a:rPr>
              <a:t>BRIDGE_HEADLESS=1 venv/bin/python bridge-test/app.py</a:t>
            </a:r>
            <a:endParaRPr lang="en-US" sz="1110" dirty="0"/>
          </a:p>
        </p:txBody>
      </p:sp>
      <p:sp>
        <p:nvSpPr>
          <p:cNvPr id="24" name="Shape 21"/>
          <p:cNvSpPr/>
          <p:nvPr/>
        </p:nvSpPr>
        <p:spPr>
          <a:xfrm>
            <a:off x="8705088" y="2103120"/>
            <a:ext cx="2459736" cy="2459736"/>
          </a:xfrm>
          <a:prstGeom prst="roundRect">
            <a:avLst>
              <a:gd name="adj" fmla="val 4461"/>
            </a:avLst>
          </a:prstGeom>
          <a:solidFill>
            <a:srgbClr val="FFFFFF"/>
          </a:solidFill>
          <a:ln w="12700">
            <a:solidFill>
              <a:srgbClr val="FFFFFF"/>
            </a:solidFill>
            <a:prstDash val="solid"/>
          </a:ln>
        </p:spPr>
      </p:sp>
      <p:pic>
        <p:nvPicPr>
          <p:cNvPr id="25" name="Image 0" descr="/home/nuras/Documents/AITU/endterm/assignment4/presentation/assets/repo-qr.png">    </p:cNvPr>
          <p:cNvPicPr>
            <a:picLocks noChangeAspect="1"/>
          </p:cNvPicPr>
          <p:nvPr/>
        </p:nvPicPr>
        <p:blipFill>
          <a:blip r:embed="rId1"/>
          <a:stretch>
            <a:fillRect/>
          </a:stretch>
        </p:blipFill>
        <p:spPr>
          <a:xfrm>
            <a:off x="8814816" y="2212848"/>
            <a:ext cx="2240280" cy="2240280"/>
          </a:xfrm>
          <a:prstGeom prst="rect">
            <a:avLst/>
          </a:prstGeom>
        </p:spPr>
      </p:pic>
      <p:sp>
        <p:nvSpPr>
          <p:cNvPr id="26" name="Shape 22"/>
          <p:cNvSpPr/>
          <p:nvPr/>
        </p:nvSpPr>
        <p:spPr>
          <a:xfrm>
            <a:off x="8366760" y="4910328"/>
            <a:ext cx="3273552" cy="521208"/>
          </a:xfrm>
          <a:prstGeom prst="roundRect">
            <a:avLst>
              <a:gd name="adj" fmla="val 28070"/>
            </a:avLst>
          </a:prstGeom>
          <a:solidFill>
            <a:srgbClr val="6540DB"/>
          </a:solidFill>
          <a:ln w="12700">
            <a:solidFill>
              <a:srgbClr val="6540DB"/>
            </a:solidFill>
            <a:prstDash val="solid"/>
          </a:ln>
        </p:spPr>
      </p:sp>
      <p:sp>
        <p:nvSpPr>
          <p:cNvPr id="27" name="Text 23">
            <a:hlinkClick r:id="rId2" tooltip=""/>
          </p:cNvPr>
          <p:cNvSpPr/>
          <p:nvPr/>
        </p:nvSpPr>
        <p:spPr>
          <a:xfrm>
            <a:off x="8549640" y="5047488"/>
            <a:ext cx="2907792" cy="219456"/>
          </a:xfrm>
          <a:prstGeom prst="rect">
            <a:avLst/>
          </a:prstGeom>
          <a:noFill/>
          <a:ln/>
        </p:spPr>
        <p:txBody>
          <a:bodyPr wrap="square" lIns="0" tIns="0" rIns="0" bIns="0" rtlCol="0" anchor="t"/>
          <a:lstStyle/>
          <a:p>
            <a:pPr algn="ctr" indent="0" marL="0">
              <a:buNone/>
            </a:pPr>
            <a:r>
              <a:rPr lang="en-US" sz="1400" b="1" u="sng" dirty="0">
                <a:solidFill>
                  <a:srgbClr val="FFFFF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 REPOSITORY</a:t>
            </a:r>
            <a:endParaRPr lang="en-US" sz="1400" dirty="0"/>
          </a:p>
        </p:txBody>
      </p:sp>
      <p:sp>
        <p:nvSpPr>
          <p:cNvPr id="28" name="Text 24"/>
          <p:cNvSpPr/>
          <p:nvPr/>
        </p:nvSpPr>
        <p:spPr>
          <a:xfrm>
            <a:off x="8412480" y="5614416"/>
            <a:ext cx="3172968" cy="466344"/>
          </a:xfrm>
          <a:prstGeom prst="rect">
            <a:avLst/>
          </a:prstGeom>
          <a:noFill/>
          <a:ln/>
        </p:spPr>
        <p:txBody>
          <a:bodyPr wrap="square" lIns="0" tIns="0" rIns="0" bIns="0" rtlCol="0" anchor="t"/>
          <a:lstStyle/>
          <a:p>
            <a:pPr algn="ctr" indent="0" marL="0">
              <a:buNone/>
            </a:pPr>
            <a:r>
              <a:rPr lang="en-US" sz="1400" dirty="0">
                <a:solidFill>
                  <a:srgbClr val="746C85"/>
                </a:solidFill>
                <a:latin typeface="Arial" pitchFamily="34" charset="0"/>
                <a:ea typeface="Arial" pitchFamily="34" charset="-122"/>
                <a:cs typeface="Arial" pitchFamily="34" charset="-120"/>
              </a:rPr>
              <a:t>Local address</a:t>
            </a:r>
            <a:endParaRPr lang="en-US" sz="1400" dirty="0"/>
          </a:p>
          <a:p>
            <a:pPr algn="ctr" indent="0" marL="0">
              <a:buNone/>
            </a:pPr>
            <a:r>
              <a:rPr lang="en-US" sz="1400" dirty="0">
                <a:solidFill>
                  <a:srgbClr val="746C85"/>
                </a:solidFill>
                <a:latin typeface="Arial" pitchFamily="34" charset="0"/>
                <a:ea typeface="Arial" pitchFamily="34" charset="-122"/>
                <a:cs typeface="Arial" pitchFamily="34" charset="-120"/>
              </a:rPr>
              <a:t>127.0.0.1:1740</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B"/>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6540DB"/>
                </a:solidFill>
                <a:latin typeface="Arial" pitchFamily="34" charset="0"/>
                <a:ea typeface="Arial" pitchFamily="34" charset="-122"/>
                <a:cs typeface="Arial" pitchFamily="34" charset="-120"/>
              </a:rPr>
              <a:t>D2 / CHANGE LOG</a:t>
            </a:r>
            <a:endParaRPr lang="en-US" sz="1050" dirty="0"/>
          </a:p>
        </p:txBody>
      </p:sp>
      <p:sp>
        <p:nvSpPr>
          <p:cNvPr id="3" name="Text 1"/>
          <p:cNvSpPr/>
          <p:nvPr/>
        </p:nvSpPr>
        <p:spPr>
          <a:xfrm>
            <a:off x="530352" y="795528"/>
            <a:ext cx="11109960" cy="594360"/>
          </a:xfrm>
          <a:prstGeom prst="rect">
            <a:avLst/>
          </a:prstGeom>
          <a:noFill/>
          <a:ln/>
        </p:spPr>
        <p:txBody>
          <a:bodyPr wrap="square" lIns="0" tIns="0" rIns="0" bIns="0" rtlCol="0" anchor="t"/>
          <a:lstStyle/>
          <a:p>
            <a:pPr indent="0" marL="0">
              <a:buNone/>
            </a:pPr>
            <a:r>
              <a:rPr lang="en-US" sz="3300" b="1" dirty="0">
                <a:solidFill>
                  <a:srgbClr val="241C3F"/>
                </a:solidFill>
                <a:latin typeface="Arial" pitchFamily="34" charset="0"/>
                <a:ea typeface="Arial" pitchFamily="34" charset="-122"/>
                <a:cs typeface="Arial" pitchFamily="34" charset="-120"/>
              </a:rPr>
              <a:t>Three changes that make the bridge useful.</a:t>
            </a:r>
            <a:endParaRPr lang="en-US" sz="3300" dirty="0"/>
          </a:p>
        </p:txBody>
      </p:sp>
      <p:sp>
        <p:nvSpPr>
          <p:cNvPr id="4" name="Text 2"/>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746C85"/>
                </a:solidFill>
                <a:latin typeface="Arial" pitchFamily="34" charset="0"/>
                <a:ea typeface="Arial" pitchFamily="34" charset="-122"/>
                <a:cs typeface="Arial" pitchFamily="34" charset="-120"/>
              </a:rPr>
              <a:t>MY AITU  /  ICT ASSIGNMENT 4</a:t>
            </a:r>
            <a:endParaRPr lang="en-US" sz="930" dirty="0"/>
          </a:p>
        </p:txBody>
      </p:sp>
      <p:sp>
        <p:nvSpPr>
          <p:cNvPr id="5" name="Text 3"/>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746C85"/>
                </a:solidFill>
                <a:latin typeface="Arial" pitchFamily="34" charset="0"/>
                <a:ea typeface="Arial" pitchFamily="34" charset="-122"/>
                <a:cs typeface="Arial" pitchFamily="34" charset="-120"/>
              </a:rPr>
              <a:t>17 / 19</a:t>
            </a:r>
            <a:endParaRPr lang="en-US" sz="93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901952"/>
          <a:ext cx="11091672" cy="3950208"/>
        </p:xfrm>
        <a:graphic>
          <a:graphicData uri="http://schemas.openxmlformats.org/drawingml/2006/table">
            <a:tbl>
              <a:tblPr/>
              <a:tblGrid>
                <a:gridCol w="2468880"/>
                <a:gridCol w="3977640"/>
                <a:gridCol w="4645152"/>
              </a:tblGrid>
              <a:tr h="475488">
                <a:tc>
                  <a:txBody>
                    <a:bodyPr/>
                    <a:lstStyle/>
                    <a:p>
                      <a:pPr indent="0" marL="0">
                        <a:buNone/>
                      </a:pPr>
                      <a:r>
                        <a:rPr lang="en-US" sz="1600" b="1" dirty="0">
                          <a:solidFill>
                            <a:srgbClr val="FFFFFF"/>
                          </a:solidFill>
                          <a:latin typeface="Arial" pitchFamily="34" charset="0"/>
                          <a:ea typeface="Arial" pitchFamily="34" charset="-122"/>
                          <a:cs typeface="Arial" pitchFamily="34" charset="-120"/>
                        </a:rPr>
                        <a:t>CHANGE</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WHY IT WAS NEEDED</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CURRENT BEHAVIOUR</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6540DB"/>
                    </a:solidFill>
                  </a:tcPr>
                </a:tc>
              </a:tr>
              <a:tr h="1158240">
                <a:tc>
                  <a:txBody>
                    <a:bodyPr/>
                    <a:lstStyle/>
                    <a:p>
                      <a:pPr indent="0" marL="0">
                        <a:buNone/>
                      </a:pPr>
                      <a:r>
                        <a:rPr lang="en-US" sz="1600" b="1" dirty="0">
                          <a:solidFill>
                            <a:srgbClr val="241C3F"/>
                          </a:solidFill>
                          <a:latin typeface="Arial" pitchFamily="34" charset="0"/>
                          <a:ea typeface="Arial" pitchFamily="34" charset="-122"/>
                          <a:cs typeface="Arial" pitchFamily="34" charset="-120"/>
                        </a:rPr>
                        <a:t>Real LMS data</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600" dirty="0">
                          <a:solidFill>
                            <a:srgbClr val="241C3F"/>
                          </a:solidFill>
                          <a:latin typeface="Arial" pitchFamily="34" charset="0"/>
                          <a:ea typeface="Arial" pitchFamily="34" charset="-122"/>
                          <a:cs typeface="Arial" pitchFamily="34" charset="-120"/>
                        </a:rPr>
                        <a:t>A prototype needs useful, current course information.</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600" dirty="0">
                          <a:solidFill>
                            <a:srgbClr val="241C3F"/>
                          </a:solidFill>
                          <a:latin typeface="Arial" pitchFamily="34" charset="0"/>
                          <a:ea typeface="Arial" pitchFamily="34" charset="-122"/>
                          <a:cs typeface="Arial" pitchFamily="34" charset="-120"/>
                        </a:rPr>
                        <a:t>Reads the user’s LMS content.</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r h="1158240">
                <a:tc>
                  <a:txBody>
                    <a:bodyPr/>
                    <a:lstStyle/>
                    <a:p>
                      <a:pPr indent="0" marL="0">
                        <a:buNone/>
                      </a:pPr>
                      <a:r>
                        <a:rPr lang="en-US" sz="1600" b="1" dirty="0">
                          <a:solidFill>
                            <a:srgbClr val="241C3F"/>
                          </a:solidFill>
                          <a:latin typeface="Arial" pitchFamily="34" charset="0"/>
                          <a:ea typeface="Arial" pitchFamily="34" charset="-122"/>
                          <a:cs typeface="Arial" pitchFamily="34" charset="-120"/>
                        </a:rPr>
                        <a:t>Interface redesign</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600" dirty="0">
                          <a:solidFill>
                            <a:srgbClr val="241C3F"/>
                          </a:solidFill>
                          <a:latin typeface="Arial" pitchFamily="34" charset="0"/>
                          <a:ea typeface="Arial" pitchFamily="34" charset="-122"/>
                          <a:cs typeface="Arial" pitchFamily="34" charset="-120"/>
                        </a:rPr>
                        <a:t>Frequently used tasks were hard to reach.</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c>
                  <a:txBody>
                    <a:bodyPr/>
                    <a:lstStyle/>
                    <a:p>
                      <a:pPr indent="0" marL="0">
                        <a:buNone/>
                      </a:pPr>
                      <a:r>
                        <a:rPr lang="en-US" sz="1600" dirty="0">
                          <a:solidFill>
                            <a:srgbClr val="241C3F"/>
                          </a:solidFill>
                          <a:latin typeface="Arial" pitchFamily="34" charset="0"/>
                          <a:ea typeface="Arial" pitchFamily="34" charset="-122"/>
                          <a:cs typeface="Arial" pitchFamily="34" charset="-120"/>
                        </a:rPr>
                        <a:t>Key actions are brought to the main page.</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0ECF8"/>
                    </a:solidFill>
                  </a:tcPr>
                </a:tc>
              </a:tr>
              <a:tr h="1158240">
                <a:tc>
                  <a:txBody>
                    <a:bodyPr/>
                    <a:lstStyle/>
                    <a:p>
                      <a:pPr indent="0" marL="0">
                        <a:buNone/>
                      </a:pPr>
                      <a:r>
                        <a:rPr lang="en-US" sz="1600" b="1" dirty="0">
                          <a:solidFill>
                            <a:srgbClr val="241C3F"/>
                          </a:solidFill>
                          <a:latin typeface="Arial" pitchFamily="34" charset="0"/>
                          <a:ea typeface="Arial" pitchFamily="34" charset="-122"/>
                          <a:cs typeface="Arial" pitchFamily="34" charset="-120"/>
                        </a:rPr>
                        <a:t>Asynchronous sessions</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600" dirty="0">
                          <a:solidFill>
                            <a:srgbClr val="241C3F"/>
                          </a:solidFill>
                          <a:latin typeface="Arial" pitchFamily="34" charset="0"/>
                          <a:ea typeface="Arial" pitchFamily="34" charset="-122"/>
                          <a:cs typeface="Arial" pitchFamily="34" charset="-120"/>
                        </a:rPr>
                        <a:t>The earlier flow could not support independent users.</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c>
                  <a:txBody>
                    <a:bodyPr/>
                    <a:lstStyle/>
                    <a:p>
                      <a:pPr indent="0" marL="0">
                        <a:buNone/>
                      </a:pPr>
                      <a:r>
                        <a:rPr lang="en-US" sz="1600" dirty="0">
                          <a:solidFill>
                            <a:srgbClr val="241C3F"/>
                          </a:solidFill>
                          <a:latin typeface="Arial" pitchFamily="34" charset="0"/>
                          <a:ea typeface="Arial" pitchFamily="34" charset="-122"/>
                          <a:cs typeface="Arial" pitchFamily="34" charset="-120"/>
                        </a:rPr>
                        <a:t>Users have separate sessions; slow requests do not hold others.</a:t>
                      </a:r>
                      <a:endParaRPr lang="en-US" sz="1600" dirty="0">
                        <a:latin typeface="Arial" charset="0"/>
                        <a:ea typeface="Arial" charset="0"/>
                        <a:cs typeface="Arial" charset="0"/>
                      </a:endParaRPr>
                    </a:p>
                  </a:txBody>
                  <a:tcPr marL="101600" marR="101600" marT="63500" marB="63500" anchor="ctr">
                    <a:lnL w="7620" cap="flat" cmpd="sng" algn="ctr">
                      <a:solidFill>
                        <a:srgbClr val="F7F5FB"/>
                      </a:solidFill>
                      <a:prstDash val="solid"/>
                      <a:round/>
                      <a:headEnd type="none" w="med" len="med"/>
                      <a:tailEnd type="none" w="med" len="med"/>
                    </a:lnL>
                    <a:lnR w="7620" cap="flat" cmpd="sng" algn="ctr">
                      <a:solidFill>
                        <a:srgbClr val="F7F5FB"/>
                      </a:solidFill>
                      <a:prstDash val="solid"/>
                      <a:round/>
                      <a:headEnd type="none" w="med" len="med"/>
                      <a:tailEnd type="none" w="med" len="med"/>
                    </a:lnR>
                    <a:lnT w="7620" cap="flat" cmpd="sng" algn="ctr">
                      <a:solidFill>
                        <a:srgbClr val="F7F5FB"/>
                      </a:solidFill>
                      <a:prstDash val="solid"/>
                      <a:round/>
                      <a:headEnd type="none" w="med" len="med"/>
                      <a:tailEnd type="none" w="med" len="med"/>
                    </a:lnT>
                    <a:lnB w="7620" cap="flat" cmpd="sng" algn="ctr">
                      <a:solidFill>
                        <a:srgbClr val="F7F5FB"/>
                      </a:solidFill>
                      <a:prstDash val="solid"/>
                      <a:round/>
                      <a:headEnd type="none" w="med" len="med"/>
                      <a:tailEnd type="none" w="med" len="med"/>
                    </a:lnB>
                    <a:solidFill>
                      <a:srgbClr val="FFFFFF"/>
                    </a:solidFill>
                  </a:tcPr>
                </a:tc>
              </a:tr>
            </a:tbl>
          </a:graphicData>
        </a:graphic>
      </p:graphicFrame>
      <p:sp>
        <p:nvSpPr>
          <p:cNvPr id="8" name="Shape 4"/>
          <p:cNvSpPr/>
          <p:nvPr/>
        </p:nvSpPr>
        <p:spPr>
          <a:xfrm>
            <a:off x="594360" y="6099048"/>
            <a:ext cx="2377440" cy="301752"/>
          </a:xfrm>
          <a:prstGeom prst="roundRect">
            <a:avLst>
              <a:gd name="adj" fmla="val 48485"/>
            </a:avLst>
          </a:prstGeom>
          <a:solidFill>
            <a:srgbClr val="FFF1D8"/>
          </a:solidFill>
          <a:ln w="12700">
            <a:solidFill>
              <a:srgbClr val="FFF1D8"/>
            </a:solidFill>
            <a:prstDash val="solid"/>
          </a:ln>
        </p:spPr>
      </p:sp>
      <p:sp>
        <p:nvSpPr>
          <p:cNvPr id="9" name="Text 5"/>
          <p:cNvSpPr/>
          <p:nvPr/>
        </p:nvSpPr>
        <p:spPr>
          <a:xfrm>
            <a:off x="685800" y="6158484"/>
            <a:ext cx="2194560" cy="173736"/>
          </a:xfrm>
          <a:prstGeom prst="rect">
            <a:avLst/>
          </a:prstGeom>
          <a:noFill/>
          <a:ln/>
        </p:spPr>
        <p:txBody>
          <a:bodyPr wrap="square" lIns="0" tIns="0" rIns="0" bIns="0" rtlCol="0" anchor="t"/>
          <a:lstStyle/>
          <a:p>
            <a:pPr algn="ctr" indent="0" marL="0">
              <a:buNone/>
            </a:pPr>
            <a:r>
              <a:rPr lang="en-US" sz="1000" b="1" dirty="0">
                <a:solidFill>
                  <a:srgbClr val="8C5D16"/>
                </a:solidFill>
                <a:latin typeface="Arial" pitchFamily="34" charset="0"/>
                <a:ea typeface="Arial" pitchFamily="34" charset="-122"/>
                <a:cs typeface="Arial" pitchFamily="34" charset="-120"/>
              </a:rPr>
              <a:t>SCALE LIMIT STILL OPEN</a:t>
            </a:r>
            <a:endParaRPr lang="en-US" sz="1000" dirty="0"/>
          </a:p>
        </p:txBody>
      </p:sp>
      <p:sp>
        <p:nvSpPr>
          <p:cNvPr id="10" name="Text 6"/>
          <p:cNvSpPr/>
          <p:nvPr/>
        </p:nvSpPr>
        <p:spPr>
          <a:xfrm>
            <a:off x="3227832" y="6126480"/>
            <a:ext cx="8321040" cy="219456"/>
          </a:xfrm>
          <a:prstGeom prst="rect">
            <a:avLst/>
          </a:prstGeom>
          <a:noFill/>
          <a:ln/>
        </p:spPr>
        <p:txBody>
          <a:bodyPr wrap="square" lIns="0" tIns="0" rIns="0" bIns="0" rtlCol="0" anchor="t"/>
          <a:lstStyle/>
          <a:p>
            <a:pPr indent="0" marL="0">
              <a:buNone/>
            </a:pPr>
            <a:r>
              <a:rPr lang="en-US" sz="1250" dirty="0">
                <a:solidFill>
                  <a:srgbClr val="746C85"/>
                </a:solidFill>
                <a:latin typeface="Arial" pitchFamily="34" charset="0"/>
                <a:ea typeface="Arial" pitchFamily="34" charset="-122"/>
                <a:cs typeface="Arial" pitchFamily="34" charset="-120"/>
              </a:rPr>
              <a:t>&lt;3 seconds per request at 1,000 users has not been verified.</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B"/>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6540DB"/>
                </a:solidFill>
                <a:latin typeface="Arial" pitchFamily="34" charset="0"/>
                <a:ea typeface="Arial" pitchFamily="34" charset="-122"/>
                <a:cs typeface="Arial" pitchFamily="34" charset="-120"/>
              </a:rPr>
              <a:t>D3 / TEAM CONTRIBUTIONS</a:t>
            </a:r>
            <a:endParaRPr lang="en-US" sz="1050" dirty="0"/>
          </a:p>
        </p:txBody>
      </p:sp>
      <p:sp>
        <p:nvSpPr>
          <p:cNvPr id="3" name="Text 1"/>
          <p:cNvSpPr/>
          <p:nvPr/>
        </p:nvSpPr>
        <p:spPr>
          <a:xfrm>
            <a:off x="530352" y="795528"/>
            <a:ext cx="11109960" cy="594360"/>
          </a:xfrm>
          <a:prstGeom prst="rect">
            <a:avLst/>
          </a:prstGeom>
          <a:noFill/>
          <a:ln/>
        </p:spPr>
        <p:txBody>
          <a:bodyPr wrap="square" lIns="0" tIns="0" rIns="0" bIns="0" rtlCol="0" anchor="t"/>
          <a:lstStyle/>
          <a:p>
            <a:pPr indent="0" marL="0">
              <a:buNone/>
            </a:pPr>
            <a:r>
              <a:rPr lang="en-US" sz="3300" b="1" dirty="0">
                <a:solidFill>
                  <a:srgbClr val="241C3F"/>
                </a:solidFill>
                <a:latin typeface="Arial" pitchFamily="34" charset="0"/>
                <a:ea typeface="Arial" pitchFamily="34" charset="-122"/>
                <a:cs typeface="Arial" pitchFamily="34" charset="-120"/>
              </a:rPr>
              <a:t>One project. Three areas of ownership.</a:t>
            </a:r>
            <a:endParaRPr lang="en-US" sz="3300" dirty="0"/>
          </a:p>
        </p:txBody>
      </p:sp>
      <p:sp>
        <p:nvSpPr>
          <p:cNvPr id="4" name="Text 2"/>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746C85"/>
                </a:solidFill>
                <a:latin typeface="Arial" pitchFamily="34" charset="0"/>
                <a:ea typeface="Arial" pitchFamily="34" charset="-122"/>
                <a:cs typeface="Arial" pitchFamily="34" charset="-120"/>
              </a:rPr>
              <a:t>MY AITU  /  ICT ASSIGNMENT 4</a:t>
            </a:r>
            <a:endParaRPr lang="en-US" sz="930" dirty="0"/>
          </a:p>
        </p:txBody>
      </p:sp>
      <p:sp>
        <p:nvSpPr>
          <p:cNvPr id="5" name="Text 3"/>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746C85"/>
                </a:solidFill>
                <a:latin typeface="Arial" pitchFamily="34" charset="0"/>
                <a:ea typeface="Arial" pitchFamily="34" charset="-122"/>
                <a:cs typeface="Arial" pitchFamily="34" charset="-120"/>
              </a:rPr>
              <a:t>18 / 19</a:t>
            </a:r>
            <a:endParaRPr lang="en-US" sz="930" dirty="0"/>
          </a:p>
        </p:txBody>
      </p:sp>
      <p:sp>
        <p:nvSpPr>
          <p:cNvPr id="7" name="Shape 4"/>
          <p:cNvSpPr/>
          <p:nvPr/>
        </p:nvSpPr>
        <p:spPr>
          <a:xfrm>
            <a:off x="548640" y="1892808"/>
            <a:ext cx="3575304" cy="4160520"/>
          </a:xfrm>
          <a:prstGeom prst="roundRect">
            <a:avLst>
              <a:gd name="adj" fmla="val 3836"/>
            </a:avLst>
          </a:prstGeom>
          <a:solidFill>
            <a:srgbClr val="FFFFFF"/>
          </a:solidFill>
          <a:ln w="12700">
            <a:solidFill>
              <a:srgbClr val="FFFFFF"/>
            </a:solidFill>
            <a:prstDash val="solid"/>
          </a:ln>
        </p:spPr>
      </p:sp>
      <p:sp>
        <p:nvSpPr>
          <p:cNvPr id="8" name="Shape 5"/>
          <p:cNvSpPr/>
          <p:nvPr/>
        </p:nvSpPr>
        <p:spPr>
          <a:xfrm>
            <a:off x="786384" y="2176272"/>
            <a:ext cx="713232" cy="713232"/>
          </a:xfrm>
          <a:prstGeom prst="ellipse">
            <a:avLst/>
          </a:prstGeom>
          <a:solidFill>
            <a:srgbClr val="E9E1FC"/>
          </a:solidFill>
          <a:ln w="12700">
            <a:solidFill>
              <a:srgbClr val="E9E1FC"/>
            </a:solidFill>
            <a:prstDash val="solid"/>
          </a:ln>
        </p:spPr>
      </p:sp>
      <p:sp>
        <p:nvSpPr>
          <p:cNvPr id="9" name="Text 6"/>
          <p:cNvSpPr/>
          <p:nvPr/>
        </p:nvSpPr>
        <p:spPr>
          <a:xfrm>
            <a:off x="896112" y="2395728"/>
            <a:ext cx="484632" cy="219456"/>
          </a:xfrm>
          <a:prstGeom prst="rect">
            <a:avLst/>
          </a:prstGeom>
          <a:noFill/>
          <a:ln/>
        </p:spPr>
        <p:txBody>
          <a:bodyPr wrap="square" lIns="0" tIns="0" rIns="0" bIns="0" rtlCol="0" anchor="t"/>
          <a:lstStyle/>
          <a:p>
            <a:pPr algn="ctr" indent="0" marL="0">
              <a:buNone/>
            </a:pPr>
            <a:r>
              <a:rPr lang="en-US" sz="1700" b="1" dirty="0">
                <a:solidFill>
                  <a:srgbClr val="6540DB"/>
                </a:solidFill>
                <a:latin typeface="Arial" pitchFamily="34" charset="0"/>
                <a:ea typeface="Arial" pitchFamily="34" charset="-122"/>
                <a:cs typeface="Arial" pitchFamily="34" charset="-120"/>
              </a:rPr>
              <a:t>SZ</a:t>
            </a:r>
            <a:endParaRPr lang="en-US" sz="1700" dirty="0"/>
          </a:p>
        </p:txBody>
      </p:sp>
      <p:sp>
        <p:nvSpPr>
          <p:cNvPr id="10" name="Text 7"/>
          <p:cNvSpPr/>
          <p:nvPr/>
        </p:nvSpPr>
        <p:spPr>
          <a:xfrm>
            <a:off x="786384" y="3191256"/>
            <a:ext cx="3099816" cy="457200"/>
          </a:xfrm>
          <a:prstGeom prst="rect">
            <a:avLst/>
          </a:prstGeom>
          <a:noFill/>
          <a:ln/>
        </p:spPr>
        <p:txBody>
          <a:bodyPr wrap="square" lIns="0" tIns="0" rIns="0" bIns="0" rtlCol="0" anchor="t"/>
          <a:lstStyle/>
          <a:p>
            <a:pPr indent="0" marL="0">
              <a:buNone/>
            </a:pPr>
            <a:r>
              <a:rPr lang="en-US" sz="2900" b="1" dirty="0">
                <a:solidFill>
                  <a:srgbClr val="241C3F"/>
                </a:solidFill>
                <a:latin typeface="Arial" pitchFamily="34" charset="0"/>
                <a:ea typeface="Arial" pitchFamily="34" charset="-122"/>
                <a:cs typeface="Arial" pitchFamily="34" charset="-120"/>
              </a:rPr>
              <a:t>Salima</a:t>
            </a:r>
            <a:endParaRPr lang="en-US" sz="2900" dirty="0"/>
          </a:p>
        </p:txBody>
      </p:sp>
      <p:sp>
        <p:nvSpPr>
          <p:cNvPr id="11" name="Text 8"/>
          <p:cNvSpPr/>
          <p:nvPr/>
        </p:nvSpPr>
        <p:spPr>
          <a:xfrm>
            <a:off x="786384" y="3730752"/>
            <a:ext cx="3099816" cy="338328"/>
          </a:xfrm>
          <a:prstGeom prst="rect">
            <a:avLst/>
          </a:prstGeom>
          <a:noFill/>
          <a:ln/>
        </p:spPr>
        <p:txBody>
          <a:bodyPr wrap="square" lIns="0" tIns="0" rIns="0" bIns="0" rtlCol="0" anchor="t"/>
          <a:lstStyle/>
          <a:p>
            <a:pPr indent="0" marL="0">
              <a:buNone/>
            </a:pPr>
            <a:r>
              <a:rPr lang="en-US" sz="1800" dirty="0">
                <a:solidFill>
                  <a:srgbClr val="746C85"/>
                </a:solidFill>
                <a:latin typeface="Arial" pitchFamily="34" charset="0"/>
                <a:ea typeface="Arial" pitchFamily="34" charset="-122"/>
                <a:cs typeface="Arial" pitchFamily="34" charset="-120"/>
              </a:rPr>
              <a:t>Zimbekkyzy</a:t>
            </a:r>
            <a:endParaRPr lang="en-US" sz="1800" dirty="0"/>
          </a:p>
        </p:txBody>
      </p:sp>
      <p:sp>
        <p:nvSpPr>
          <p:cNvPr id="12" name="Shape 9"/>
          <p:cNvSpPr/>
          <p:nvPr/>
        </p:nvSpPr>
        <p:spPr>
          <a:xfrm>
            <a:off x="786384" y="4361688"/>
            <a:ext cx="1517904" cy="301752"/>
          </a:xfrm>
          <a:prstGeom prst="roundRect">
            <a:avLst>
              <a:gd name="adj" fmla="val 48485"/>
            </a:avLst>
          </a:prstGeom>
          <a:solidFill>
            <a:srgbClr val="E9E1FC"/>
          </a:solidFill>
          <a:ln w="12700">
            <a:solidFill>
              <a:srgbClr val="E9E1FC"/>
            </a:solidFill>
            <a:prstDash val="solid"/>
          </a:ln>
        </p:spPr>
      </p:sp>
      <p:sp>
        <p:nvSpPr>
          <p:cNvPr id="13" name="Text 10"/>
          <p:cNvSpPr/>
          <p:nvPr/>
        </p:nvSpPr>
        <p:spPr>
          <a:xfrm>
            <a:off x="877824" y="4421124"/>
            <a:ext cx="1335024" cy="173736"/>
          </a:xfrm>
          <a:prstGeom prst="rect">
            <a:avLst/>
          </a:prstGeom>
          <a:noFill/>
          <a:ln/>
        </p:spPr>
        <p:txBody>
          <a:bodyPr wrap="square" lIns="0" tIns="0" rIns="0" bIns="0" rtlCol="0" anchor="t"/>
          <a:lstStyle/>
          <a:p>
            <a:pPr algn="ctr" indent="0" marL="0">
              <a:buNone/>
            </a:pPr>
            <a:r>
              <a:rPr lang="en-US" sz="1000" b="1" dirty="0">
                <a:solidFill>
                  <a:srgbClr val="6540DB"/>
                </a:solidFill>
                <a:latin typeface="Arial" pitchFamily="34" charset="0"/>
                <a:ea typeface="Arial" pitchFamily="34" charset="-122"/>
                <a:cs typeface="Arial" pitchFamily="34" charset="-120"/>
              </a:rPr>
              <a:t>PARTS C + D</a:t>
            </a:r>
            <a:endParaRPr lang="en-US" sz="1000" dirty="0"/>
          </a:p>
        </p:txBody>
      </p:sp>
      <p:sp>
        <p:nvSpPr>
          <p:cNvPr id="14" name="Text 11"/>
          <p:cNvSpPr/>
          <p:nvPr/>
        </p:nvSpPr>
        <p:spPr>
          <a:xfrm>
            <a:off x="786384" y="5038344"/>
            <a:ext cx="3099816" cy="667512"/>
          </a:xfrm>
          <a:prstGeom prst="rect">
            <a:avLst/>
          </a:prstGeom>
          <a:noFill/>
          <a:ln/>
        </p:spPr>
        <p:txBody>
          <a:bodyPr wrap="square" lIns="0" tIns="0" rIns="0" bIns="0" rtlCol="0" anchor="t"/>
          <a:lstStyle/>
          <a:p>
            <a:pPr indent="0" marL="0">
              <a:buNone/>
            </a:pPr>
            <a:r>
              <a:rPr lang="en-US" sz="1900" b="1" dirty="0">
                <a:solidFill>
                  <a:srgbClr val="241C3F"/>
                </a:solidFill>
                <a:latin typeface="Arial" pitchFamily="34" charset="0"/>
                <a:ea typeface="Arial" pitchFamily="34" charset="-122"/>
                <a:cs typeface="Arial" pitchFamily="34" charset="-120"/>
              </a:rPr>
              <a:t>Video editing</a:t>
            </a:r>
            <a:endParaRPr lang="en-US" sz="1900" dirty="0"/>
          </a:p>
        </p:txBody>
      </p:sp>
      <p:sp>
        <p:nvSpPr>
          <p:cNvPr id="15" name="Shape 12"/>
          <p:cNvSpPr/>
          <p:nvPr/>
        </p:nvSpPr>
        <p:spPr>
          <a:xfrm>
            <a:off x="4306824" y="1892808"/>
            <a:ext cx="3575304" cy="4160520"/>
          </a:xfrm>
          <a:prstGeom prst="roundRect">
            <a:avLst>
              <a:gd name="adj" fmla="val 3836"/>
            </a:avLst>
          </a:prstGeom>
          <a:solidFill>
            <a:srgbClr val="FFFFFF"/>
          </a:solidFill>
          <a:ln w="12700">
            <a:solidFill>
              <a:srgbClr val="FFFFFF"/>
            </a:solidFill>
            <a:prstDash val="solid"/>
          </a:ln>
        </p:spPr>
      </p:sp>
      <p:sp>
        <p:nvSpPr>
          <p:cNvPr id="16" name="Shape 13"/>
          <p:cNvSpPr/>
          <p:nvPr/>
        </p:nvSpPr>
        <p:spPr>
          <a:xfrm>
            <a:off x="4544568" y="2176272"/>
            <a:ext cx="713232" cy="713232"/>
          </a:xfrm>
          <a:prstGeom prst="ellipse">
            <a:avLst/>
          </a:prstGeom>
          <a:solidFill>
            <a:srgbClr val="E9E1FC"/>
          </a:solidFill>
          <a:ln w="12700">
            <a:solidFill>
              <a:srgbClr val="E9E1FC"/>
            </a:solidFill>
            <a:prstDash val="solid"/>
          </a:ln>
        </p:spPr>
      </p:sp>
      <p:sp>
        <p:nvSpPr>
          <p:cNvPr id="17" name="Text 14"/>
          <p:cNvSpPr/>
          <p:nvPr/>
        </p:nvSpPr>
        <p:spPr>
          <a:xfrm>
            <a:off x="4654296" y="2395728"/>
            <a:ext cx="484632" cy="219456"/>
          </a:xfrm>
          <a:prstGeom prst="rect">
            <a:avLst/>
          </a:prstGeom>
          <a:noFill/>
          <a:ln/>
        </p:spPr>
        <p:txBody>
          <a:bodyPr wrap="square" lIns="0" tIns="0" rIns="0" bIns="0" rtlCol="0" anchor="t"/>
          <a:lstStyle/>
          <a:p>
            <a:pPr algn="ctr" indent="0" marL="0">
              <a:buNone/>
            </a:pPr>
            <a:r>
              <a:rPr lang="en-US" sz="1700" b="1" dirty="0">
                <a:solidFill>
                  <a:srgbClr val="6540DB"/>
                </a:solidFill>
                <a:latin typeface="Arial" pitchFamily="34" charset="0"/>
                <a:ea typeface="Arial" pitchFamily="34" charset="-122"/>
                <a:cs typeface="Arial" pitchFamily="34" charset="-120"/>
              </a:rPr>
              <a:t>AS</a:t>
            </a:r>
            <a:endParaRPr lang="en-US" sz="1700" dirty="0"/>
          </a:p>
        </p:txBody>
      </p:sp>
      <p:sp>
        <p:nvSpPr>
          <p:cNvPr id="18" name="Text 15"/>
          <p:cNvSpPr/>
          <p:nvPr/>
        </p:nvSpPr>
        <p:spPr>
          <a:xfrm>
            <a:off x="4544568" y="3191256"/>
            <a:ext cx="3099816" cy="457200"/>
          </a:xfrm>
          <a:prstGeom prst="rect">
            <a:avLst/>
          </a:prstGeom>
          <a:noFill/>
          <a:ln/>
        </p:spPr>
        <p:txBody>
          <a:bodyPr wrap="square" lIns="0" tIns="0" rIns="0" bIns="0" rtlCol="0" anchor="t"/>
          <a:lstStyle/>
          <a:p>
            <a:pPr indent="0" marL="0">
              <a:buNone/>
            </a:pPr>
            <a:r>
              <a:rPr lang="en-US" sz="2900" b="1" dirty="0">
                <a:solidFill>
                  <a:srgbClr val="241C3F"/>
                </a:solidFill>
                <a:latin typeface="Arial" pitchFamily="34" charset="0"/>
                <a:ea typeface="Arial" pitchFamily="34" charset="-122"/>
                <a:cs typeface="Arial" pitchFamily="34" charset="-120"/>
              </a:rPr>
              <a:t>Azhar</a:t>
            </a:r>
            <a:endParaRPr lang="en-US" sz="2900" dirty="0"/>
          </a:p>
        </p:txBody>
      </p:sp>
      <p:sp>
        <p:nvSpPr>
          <p:cNvPr id="19" name="Text 16"/>
          <p:cNvSpPr/>
          <p:nvPr/>
        </p:nvSpPr>
        <p:spPr>
          <a:xfrm>
            <a:off x="4544568" y="3730752"/>
            <a:ext cx="3099816" cy="338328"/>
          </a:xfrm>
          <a:prstGeom prst="rect">
            <a:avLst/>
          </a:prstGeom>
          <a:noFill/>
          <a:ln/>
        </p:spPr>
        <p:txBody>
          <a:bodyPr wrap="square" lIns="0" tIns="0" rIns="0" bIns="0" rtlCol="0" anchor="t"/>
          <a:lstStyle/>
          <a:p>
            <a:pPr indent="0" marL="0">
              <a:buNone/>
            </a:pPr>
            <a:r>
              <a:rPr lang="en-US" sz="1800" dirty="0">
                <a:solidFill>
                  <a:srgbClr val="746C85"/>
                </a:solidFill>
                <a:latin typeface="Arial" pitchFamily="34" charset="0"/>
                <a:ea typeface="Arial" pitchFamily="34" charset="-122"/>
                <a:cs typeface="Arial" pitchFamily="34" charset="-120"/>
              </a:rPr>
              <a:t>Saparzholova</a:t>
            </a:r>
            <a:endParaRPr lang="en-US" sz="1800" dirty="0"/>
          </a:p>
        </p:txBody>
      </p:sp>
      <p:sp>
        <p:nvSpPr>
          <p:cNvPr id="20" name="Shape 17"/>
          <p:cNvSpPr/>
          <p:nvPr/>
        </p:nvSpPr>
        <p:spPr>
          <a:xfrm>
            <a:off x="4544568" y="4361688"/>
            <a:ext cx="1517904" cy="301752"/>
          </a:xfrm>
          <a:prstGeom prst="roundRect">
            <a:avLst>
              <a:gd name="adj" fmla="val 48485"/>
            </a:avLst>
          </a:prstGeom>
          <a:solidFill>
            <a:srgbClr val="E9E1FC"/>
          </a:solidFill>
          <a:ln w="12700">
            <a:solidFill>
              <a:srgbClr val="E9E1FC"/>
            </a:solidFill>
            <a:prstDash val="solid"/>
          </a:ln>
        </p:spPr>
      </p:sp>
      <p:sp>
        <p:nvSpPr>
          <p:cNvPr id="21" name="Text 18"/>
          <p:cNvSpPr/>
          <p:nvPr/>
        </p:nvSpPr>
        <p:spPr>
          <a:xfrm>
            <a:off x="4636008" y="4421124"/>
            <a:ext cx="1335024" cy="173736"/>
          </a:xfrm>
          <a:prstGeom prst="rect">
            <a:avLst/>
          </a:prstGeom>
          <a:noFill/>
          <a:ln/>
        </p:spPr>
        <p:txBody>
          <a:bodyPr wrap="square" lIns="0" tIns="0" rIns="0" bIns="0" rtlCol="0" anchor="t"/>
          <a:lstStyle/>
          <a:p>
            <a:pPr algn="ctr" indent="0" marL="0">
              <a:buNone/>
            </a:pPr>
            <a:r>
              <a:rPr lang="en-US" sz="1000" b="1" dirty="0">
                <a:solidFill>
                  <a:srgbClr val="6540DB"/>
                </a:solidFill>
                <a:latin typeface="Arial" pitchFamily="34" charset="0"/>
                <a:ea typeface="Arial" pitchFamily="34" charset="-122"/>
                <a:cs typeface="Arial" pitchFamily="34" charset="-120"/>
              </a:rPr>
              <a:t>PARTS A + D</a:t>
            </a:r>
            <a:endParaRPr lang="en-US" sz="1000" dirty="0"/>
          </a:p>
        </p:txBody>
      </p:sp>
      <p:sp>
        <p:nvSpPr>
          <p:cNvPr id="22" name="Text 19"/>
          <p:cNvSpPr/>
          <p:nvPr/>
        </p:nvSpPr>
        <p:spPr>
          <a:xfrm>
            <a:off x="4544568" y="5038344"/>
            <a:ext cx="3099816" cy="667512"/>
          </a:xfrm>
          <a:prstGeom prst="rect">
            <a:avLst/>
          </a:prstGeom>
          <a:noFill/>
          <a:ln/>
        </p:spPr>
        <p:txBody>
          <a:bodyPr wrap="square" lIns="0" tIns="0" rIns="0" bIns="0" rtlCol="0" anchor="t"/>
          <a:lstStyle/>
          <a:p>
            <a:pPr indent="0" marL="0">
              <a:buNone/>
            </a:pPr>
            <a:r>
              <a:rPr lang="en-US" sz="1900" b="1" dirty="0">
                <a:solidFill>
                  <a:srgbClr val="241C3F"/>
                </a:solidFill>
                <a:latin typeface="Arial" pitchFamily="34" charset="0"/>
                <a:ea typeface="Arial" pitchFamily="34" charset="-122"/>
                <a:cs typeface="Arial" pitchFamily="34" charset="-120"/>
              </a:rPr>
              <a:t>Multimedia format comparison</a:t>
            </a:r>
            <a:endParaRPr lang="en-US" sz="1900" dirty="0"/>
          </a:p>
        </p:txBody>
      </p:sp>
      <p:sp>
        <p:nvSpPr>
          <p:cNvPr id="23" name="Shape 20"/>
          <p:cNvSpPr/>
          <p:nvPr/>
        </p:nvSpPr>
        <p:spPr>
          <a:xfrm>
            <a:off x="8065008" y="1892808"/>
            <a:ext cx="3575304" cy="4160520"/>
          </a:xfrm>
          <a:prstGeom prst="roundRect">
            <a:avLst>
              <a:gd name="adj" fmla="val 3836"/>
            </a:avLst>
          </a:prstGeom>
          <a:solidFill>
            <a:srgbClr val="FFFFFF"/>
          </a:solidFill>
          <a:ln w="12700">
            <a:solidFill>
              <a:srgbClr val="FFFFFF"/>
            </a:solidFill>
            <a:prstDash val="solid"/>
          </a:ln>
        </p:spPr>
      </p:sp>
      <p:sp>
        <p:nvSpPr>
          <p:cNvPr id="24" name="Shape 21"/>
          <p:cNvSpPr/>
          <p:nvPr/>
        </p:nvSpPr>
        <p:spPr>
          <a:xfrm>
            <a:off x="8302752" y="2176272"/>
            <a:ext cx="713232" cy="713232"/>
          </a:xfrm>
          <a:prstGeom prst="ellipse">
            <a:avLst/>
          </a:prstGeom>
          <a:solidFill>
            <a:srgbClr val="6540DB"/>
          </a:solidFill>
          <a:ln w="12700">
            <a:solidFill>
              <a:srgbClr val="6540DB"/>
            </a:solidFill>
            <a:prstDash val="solid"/>
          </a:ln>
        </p:spPr>
      </p:sp>
      <p:sp>
        <p:nvSpPr>
          <p:cNvPr id="25" name="Text 22"/>
          <p:cNvSpPr/>
          <p:nvPr/>
        </p:nvSpPr>
        <p:spPr>
          <a:xfrm>
            <a:off x="8412480" y="2395728"/>
            <a:ext cx="484632" cy="219456"/>
          </a:xfrm>
          <a:prstGeom prst="rect">
            <a:avLst/>
          </a:prstGeom>
          <a:noFill/>
          <a:ln/>
        </p:spPr>
        <p:txBody>
          <a:bodyPr wrap="square" lIns="0" tIns="0" rIns="0" bIns="0" rtlCol="0" anchor="t"/>
          <a:lstStyle/>
          <a:p>
            <a:pPr algn="ctr" indent="0" marL="0">
              <a:buNone/>
            </a:pPr>
            <a:r>
              <a:rPr lang="en-US" sz="1700" b="1" dirty="0">
                <a:solidFill>
                  <a:srgbClr val="FFFFFF"/>
                </a:solidFill>
                <a:latin typeface="Arial" pitchFamily="34" charset="0"/>
                <a:ea typeface="Arial" pitchFamily="34" charset="-122"/>
                <a:cs typeface="Arial" pitchFamily="34" charset="-120"/>
              </a:rPr>
              <a:t>NO</a:t>
            </a:r>
            <a:endParaRPr lang="en-US" sz="1700" dirty="0"/>
          </a:p>
        </p:txBody>
      </p:sp>
      <p:sp>
        <p:nvSpPr>
          <p:cNvPr id="26" name="Text 23"/>
          <p:cNvSpPr/>
          <p:nvPr/>
        </p:nvSpPr>
        <p:spPr>
          <a:xfrm>
            <a:off x="8302752" y="3191256"/>
            <a:ext cx="3099816" cy="457200"/>
          </a:xfrm>
          <a:prstGeom prst="rect">
            <a:avLst/>
          </a:prstGeom>
          <a:noFill/>
          <a:ln/>
        </p:spPr>
        <p:txBody>
          <a:bodyPr wrap="square" lIns="0" tIns="0" rIns="0" bIns="0" rtlCol="0" anchor="t"/>
          <a:lstStyle/>
          <a:p>
            <a:pPr indent="0" marL="0">
              <a:buNone/>
            </a:pPr>
            <a:r>
              <a:rPr lang="en-US" sz="2900" b="1" dirty="0">
                <a:solidFill>
                  <a:srgbClr val="241C3F"/>
                </a:solidFill>
                <a:latin typeface="Arial" pitchFamily="34" charset="0"/>
                <a:ea typeface="Arial" pitchFamily="34" charset="-122"/>
                <a:cs typeface="Arial" pitchFamily="34" charset="-120"/>
              </a:rPr>
              <a:t>Nurassyl</a:t>
            </a:r>
            <a:endParaRPr lang="en-US" sz="2900" dirty="0"/>
          </a:p>
        </p:txBody>
      </p:sp>
      <p:sp>
        <p:nvSpPr>
          <p:cNvPr id="27" name="Text 24"/>
          <p:cNvSpPr/>
          <p:nvPr/>
        </p:nvSpPr>
        <p:spPr>
          <a:xfrm>
            <a:off x="8302752" y="3730752"/>
            <a:ext cx="3099816" cy="338328"/>
          </a:xfrm>
          <a:prstGeom prst="rect">
            <a:avLst/>
          </a:prstGeom>
          <a:noFill/>
          <a:ln/>
        </p:spPr>
        <p:txBody>
          <a:bodyPr wrap="square" lIns="0" tIns="0" rIns="0" bIns="0" rtlCol="0" anchor="t"/>
          <a:lstStyle/>
          <a:p>
            <a:pPr indent="0" marL="0">
              <a:buNone/>
            </a:pPr>
            <a:r>
              <a:rPr lang="en-US" sz="1800" dirty="0">
                <a:solidFill>
                  <a:srgbClr val="746C85"/>
                </a:solidFill>
                <a:latin typeface="Arial" pitchFamily="34" charset="0"/>
                <a:ea typeface="Arial" pitchFamily="34" charset="-122"/>
                <a:cs typeface="Arial" pitchFamily="34" charset="-120"/>
              </a:rPr>
              <a:t>Oralbekov</a:t>
            </a:r>
            <a:endParaRPr lang="en-US" sz="1800" dirty="0"/>
          </a:p>
        </p:txBody>
      </p:sp>
      <p:sp>
        <p:nvSpPr>
          <p:cNvPr id="28" name="Shape 25"/>
          <p:cNvSpPr/>
          <p:nvPr/>
        </p:nvSpPr>
        <p:spPr>
          <a:xfrm>
            <a:off x="8302752" y="4361688"/>
            <a:ext cx="1517904" cy="301752"/>
          </a:xfrm>
          <a:prstGeom prst="roundRect">
            <a:avLst>
              <a:gd name="adj" fmla="val 48485"/>
            </a:avLst>
          </a:prstGeom>
          <a:solidFill>
            <a:srgbClr val="E9E1FC"/>
          </a:solidFill>
          <a:ln w="12700">
            <a:solidFill>
              <a:srgbClr val="E9E1FC"/>
            </a:solidFill>
            <a:prstDash val="solid"/>
          </a:ln>
        </p:spPr>
      </p:sp>
      <p:sp>
        <p:nvSpPr>
          <p:cNvPr id="29" name="Text 26"/>
          <p:cNvSpPr/>
          <p:nvPr/>
        </p:nvSpPr>
        <p:spPr>
          <a:xfrm>
            <a:off x="8394192" y="4421124"/>
            <a:ext cx="1335024" cy="173736"/>
          </a:xfrm>
          <a:prstGeom prst="rect">
            <a:avLst/>
          </a:prstGeom>
          <a:noFill/>
          <a:ln/>
        </p:spPr>
        <p:txBody>
          <a:bodyPr wrap="square" lIns="0" tIns="0" rIns="0" bIns="0" rtlCol="0" anchor="t"/>
          <a:lstStyle/>
          <a:p>
            <a:pPr algn="ctr" indent="0" marL="0">
              <a:buNone/>
            </a:pPr>
            <a:r>
              <a:rPr lang="en-US" sz="1000" b="1" dirty="0">
                <a:solidFill>
                  <a:srgbClr val="6540DB"/>
                </a:solidFill>
                <a:latin typeface="Arial" pitchFamily="34" charset="0"/>
                <a:ea typeface="Arial" pitchFamily="34" charset="-122"/>
                <a:cs typeface="Arial" pitchFamily="34" charset="-120"/>
              </a:rPr>
              <a:t>PARTS B + D</a:t>
            </a:r>
            <a:endParaRPr lang="en-US" sz="1000" dirty="0"/>
          </a:p>
        </p:txBody>
      </p:sp>
      <p:sp>
        <p:nvSpPr>
          <p:cNvPr id="30" name="Text 27"/>
          <p:cNvSpPr/>
          <p:nvPr/>
        </p:nvSpPr>
        <p:spPr>
          <a:xfrm>
            <a:off x="8302752" y="5038344"/>
            <a:ext cx="3099816" cy="667512"/>
          </a:xfrm>
          <a:prstGeom prst="rect">
            <a:avLst/>
          </a:prstGeom>
          <a:noFill/>
          <a:ln/>
        </p:spPr>
        <p:txBody>
          <a:bodyPr wrap="square" lIns="0" tIns="0" rIns="0" bIns="0" rtlCol="0" anchor="t"/>
          <a:lstStyle/>
          <a:p>
            <a:pPr indent="0" marL="0">
              <a:buNone/>
            </a:pPr>
            <a:r>
              <a:rPr lang="en-US" sz="1900" b="1" dirty="0">
                <a:solidFill>
                  <a:srgbClr val="241C3F"/>
                </a:solidFill>
                <a:latin typeface="Arial" pitchFamily="34" charset="0"/>
                <a:ea typeface="Arial" pitchFamily="34" charset="-122"/>
                <a:cs typeface="Arial" pitchFamily="34" charset="-120"/>
              </a:rPr>
              <a:t>Media integration and optimisation</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41448"/>
        </a:solidFill>
      </p:bgPr>
    </p:bg>
    <p:spTree>
      <p:nvGrpSpPr>
        <p:cNvPr id="1" name=""/>
        <p:cNvGrpSpPr/>
        <p:nvPr/>
      </p:nvGrpSpPr>
      <p:grpSpPr>
        <a:xfrm>
          <a:off x="0" y="0"/>
          <a:ext cx="0" cy="0"/>
          <a:chOff x="0" y="0"/>
          <a:chExt cx="0" cy="0"/>
        </a:xfrm>
      </p:grpSpPr>
      <p:sp>
        <p:nvSpPr>
          <p:cNvPr id="2" name="Text 0"/>
          <p:cNvSpPr/>
          <p:nvPr/>
        </p:nvSpPr>
        <p:spPr>
          <a:xfrm>
            <a:off x="530352" y="347472"/>
            <a:ext cx="10881360" cy="182880"/>
          </a:xfrm>
          <a:prstGeom prst="rect">
            <a:avLst/>
          </a:prstGeom>
          <a:noFill/>
          <a:ln/>
        </p:spPr>
        <p:txBody>
          <a:bodyPr wrap="square" lIns="0" tIns="0" rIns="0" bIns="0" rtlCol="0" anchor="t"/>
          <a:lstStyle/>
          <a:p>
            <a:pPr indent="0" marL="0">
              <a:buNone/>
            </a:pPr>
            <a:r>
              <a:rPr lang="en-US" sz="1050" b="1" spc="140" kern="0" dirty="0">
                <a:solidFill>
                  <a:srgbClr val="C9B7FA"/>
                </a:solidFill>
                <a:latin typeface="Arial" pitchFamily="34" charset="0"/>
                <a:ea typeface="Arial" pitchFamily="34" charset="-122"/>
                <a:cs typeface="Arial" pitchFamily="34" charset="-120"/>
              </a:rPr>
              <a:t>THANK YOU</a:t>
            </a:r>
            <a:endParaRPr lang="en-US" sz="1050" dirty="0"/>
          </a:p>
        </p:txBody>
      </p:sp>
      <p:sp>
        <p:nvSpPr>
          <p:cNvPr id="3" name="Text 1"/>
          <p:cNvSpPr/>
          <p:nvPr/>
        </p:nvSpPr>
        <p:spPr>
          <a:xfrm>
            <a:off x="530352" y="6437376"/>
            <a:ext cx="8229600" cy="164592"/>
          </a:xfrm>
          <a:prstGeom prst="rect">
            <a:avLst/>
          </a:prstGeom>
          <a:noFill/>
          <a:ln/>
        </p:spPr>
        <p:txBody>
          <a:bodyPr wrap="square" lIns="0" tIns="0" rIns="0" bIns="0" rtlCol="0" anchor="t"/>
          <a:lstStyle/>
          <a:p>
            <a:pPr indent="0" marL="0">
              <a:buNone/>
            </a:pPr>
            <a:r>
              <a:rPr lang="en-US" sz="930" b="1" dirty="0">
                <a:solidFill>
                  <a:srgbClr val="C7B9EC"/>
                </a:solidFill>
                <a:latin typeface="Arial" pitchFamily="34" charset="0"/>
                <a:ea typeface="Arial" pitchFamily="34" charset="-122"/>
                <a:cs typeface="Arial" pitchFamily="34" charset="-120"/>
              </a:rPr>
              <a:t>MY AITU  /  ICT ASSIGNMENT 4</a:t>
            </a:r>
            <a:endParaRPr lang="en-US" sz="930" dirty="0"/>
          </a:p>
        </p:txBody>
      </p:sp>
      <p:sp>
        <p:nvSpPr>
          <p:cNvPr id="4" name="Text 2"/>
          <p:cNvSpPr/>
          <p:nvPr/>
        </p:nvSpPr>
        <p:spPr>
          <a:xfrm>
            <a:off x="10698480" y="6437376"/>
            <a:ext cx="950976" cy="164592"/>
          </a:xfrm>
          <a:prstGeom prst="rect">
            <a:avLst/>
          </a:prstGeom>
          <a:noFill/>
          <a:ln/>
        </p:spPr>
        <p:txBody>
          <a:bodyPr wrap="square" lIns="0" tIns="0" rIns="0" bIns="0" rtlCol="0" anchor="t"/>
          <a:lstStyle/>
          <a:p>
            <a:pPr algn="r" indent="0" marL="0">
              <a:buNone/>
            </a:pPr>
            <a:r>
              <a:rPr lang="en-US" sz="930" dirty="0">
                <a:solidFill>
                  <a:srgbClr val="C7B9EC"/>
                </a:solidFill>
                <a:latin typeface="Arial" pitchFamily="34" charset="0"/>
                <a:ea typeface="Arial" pitchFamily="34" charset="-122"/>
                <a:cs typeface="Arial" pitchFamily="34" charset="-120"/>
              </a:rPr>
              <a:t>19 / 19</a:t>
            </a:r>
            <a:endParaRPr lang="en-US" sz="930" dirty="0"/>
          </a:p>
        </p:txBody>
      </p:sp>
      <p:sp>
        <p:nvSpPr>
          <p:cNvPr id="6" name="Shape 3"/>
          <p:cNvSpPr/>
          <p:nvPr/>
        </p:nvSpPr>
        <p:spPr>
          <a:xfrm>
            <a:off x="10607040" y="621792"/>
            <a:ext cx="59436" cy="59436"/>
          </a:xfrm>
          <a:prstGeom prst="rect">
            <a:avLst/>
          </a:prstGeom>
          <a:solidFill>
            <a:srgbClr val="8061BB"/>
          </a:solidFill>
          <a:ln w="12700">
            <a:solidFill>
              <a:srgbClr val="8061BB"/>
            </a:solidFill>
            <a:prstDash val="solid"/>
          </a:ln>
        </p:spPr>
      </p:sp>
      <p:sp>
        <p:nvSpPr>
          <p:cNvPr id="7" name="Shape 4"/>
          <p:cNvSpPr/>
          <p:nvPr/>
        </p:nvSpPr>
        <p:spPr>
          <a:xfrm>
            <a:off x="10607040" y="786384"/>
            <a:ext cx="59436" cy="59436"/>
          </a:xfrm>
          <a:prstGeom prst="rect">
            <a:avLst/>
          </a:prstGeom>
          <a:solidFill>
            <a:srgbClr val="8061BB"/>
          </a:solidFill>
          <a:ln w="12700">
            <a:solidFill>
              <a:srgbClr val="8061BB"/>
            </a:solidFill>
            <a:prstDash val="solid"/>
          </a:ln>
        </p:spPr>
      </p:sp>
      <p:sp>
        <p:nvSpPr>
          <p:cNvPr id="8" name="Shape 5"/>
          <p:cNvSpPr/>
          <p:nvPr/>
        </p:nvSpPr>
        <p:spPr>
          <a:xfrm>
            <a:off x="10607040" y="950976"/>
            <a:ext cx="59436" cy="59436"/>
          </a:xfrm>
          <a:prstGeom prst="rect">
            <a:avLst/>
          </a:prstGeom>
          <a:solidFill>
            <a:srgbClr val="8061BB"/>
          </a:solidFill>
          <a:ln w="12700">
            <a:solidFill>
              <a:srgbClr val="8061BB"/>
            </a:solidFill>
            <a:prstDash val="solid"/>
          </a:ln>
        </p:spPr>
      </p:sp>
      <p:sp>
        <p:nvSpPr>
          <p:cNvPr id="9" name="Shape 6"/>
          <p:cNvSpPr/>
          <p:nvPr/>
        </p:nvSpPr>
        <p:spPr>
          <a:xfrm>
            <a:off x="10607040" y="1115568"/>
            <a:ext cx="59436" cy="59436"/>
          </a:xfrm>
          <a:prstGeom prst="rect">
            <a:avLst/>
          </a:prstGeom>
          <a:solidFill>
            <a:srgbClr val="8061BB"/>
          </a:solidFill>
          <a:ln w="12700">
            <a:solidFill>
              <a:srgbClr val="8061BB"/>
            </a:solidFill>
            <a:prstDash val="solid"/>
          </a:ln>
        </p:spPr>
      </p:sp>
      <p:sp>
        <p:nvSpPr>
          <p:cNvPr id="10" name="Shape 7"/>
          <p:cNvSpPr/>
          <p:nvPr/>
        </p:nvSpPr>
        <p:spPr>
          <a:xfrm>
            <a:off x="10771632" y="621792"/>
            <a:ext cx="59436" cy="59436"/>
          </a:xfrm>
          <a:prstGeom prst="rect">
            <a:avLst/>
          </a:prstGeom>
          <a:solidFill>
            <a:srgbClr val="8061BB"/>
          </a:solidFill>
          <a:ln w="12700">
            <a:solidFill>
              <a:srgbClr val="8061BB"/>
            </a:solidFill>
            <a:prstDash val="solid"/>
          </a:ln>
        </p:spPr>
      </p:sp>
      <p:sp>
        <p:nvSpPr>
          <p:cNvPr id="11" name="Shape 8"/>
          <p:cNvSpPr/>
          <p:nvPr/>
        </p:nvSpPr>
        <p:spPr>
          <a:xfrm>
            <a:off x="10771632" y="786384"/>
            <a:ext cx="59436" cy="59436"/>
          </a:xfrm>
          <a:prstGeom prst="rect">
            <a:avLst/>
          </a:prstGeom>
          <a:solidFill>
            <a:srgbClr val="8061BB"/>
          </a:solidFill>
          <a:ln w="12700">
            <a:solidFill>
              <a:srgbClr val="8061BB"/>
            </a:solidFill>
            <a:prstDash val="solid"/>
          </a:ln>
        </p:spPr>
      </p:sp>
      <p:sp>
        <p:nvSpPr>
          <p:cNvPr id="12" name="Shape 9"/>
          <p:cNvSpPr/>
          <p:nvPr/>
        </p:nvSpPr>
        <p:spPr>
          <a:xfrm>
            <a:off x="10771632" y="950976"/>
            <a:ext cx="59436" cy="59436"/>
          </a:xfrm>
          <a:prstGeom prst="rect">
            <a:avLst/>
          </a:prstGeom>
          <a:solidFill>
            <a:srgbClr val="8061BB"/>
          </a:solidFill>
          <a:ln w="12700">
            <a:solidFill>
              <a:srgbClr val="8061BB"/>
            </a:solidFill>
            <a:prstDash val="solid"/>
          </a:ln>
        </p:spPr>
      </p:sp>
      <p:sp>
        <p:nvSpPr>
          <p:cNvPr id="13" name="Shape 10"/>
          <p:cNvSpPr/>
          <p:nvPr/>
        </p:nvSpPr>
        <p:spPr>
          <a:xfrm>
            <a:off x="10771632" y="1115568"/>
            <a:ext cx="59436" cy="59436"/>
          </a:xfrm>
          <a:prstGeom prst="rect">
            <a:avLst/>
          </a:prstGeom>
          <a:solidFill>
            <a:srgbClr val="8061BB"/>
          </a:solidFill>
          <a:ln w="12700">
            <a:solidFill>
              <a:srgbClr val="8061BB"/>
            </a:solidFill>
            <a:prstDash val="solid"/>
          </a:ln>
        </p:spPr>
      </p:sp>
      <p:sp>
        <p:nvSpPr>
          <p:cNvPr id="14" name="Shape 11"/>
          <p:cNvSpPr/>
          <p:nvPr/>
        </p:nvSpPr>
        <p:spPr>
          <a:xfrm>
            <a:off x="10936224" y="621792"/>
            <a:ext cx="59436" cy="59436"/>
          </a:xfrm>
          <a:prstGeom prst="rect">
            <a:avLst/>
          </a:prstGeom>
          <a:solidFill>
            <a:srgbClr val="8061BB"/>
          </a:solidFill>
          <a:ln w="12700">
            <a:solidFill>
              <a:srgbClr val="8061BB"/>
            </a:solidFill>
            <a:prstDash val="solid"/>
          </a:ln>
        </p:spPr>
      </p:sp>
      <p:sp>
        <p:nvSpPr>
          <p:cNvPr id="15" name="Shape 12"/>
          <p:cNvSpPr/>
          <p:nvPr/>
        </p:nvSpPr>
        <p:spPr>
          <a:xfrm>
            <a:off x="10936224" y="786384"/>
            <a:ext cx="59436" cy="59436"/>
          </a:xfrm>
          <a:prstGeom prst="rect">
            <a:avLst/>
          </a:prstGeom>
          <a:solidFill>
            <a:srgbClr val="8061BB"/>
          </a:solidFill>
          <a:ln w="12700">
            <a:solidFill>
              <a:srgbClr val="8061BB"/>
            </a:solidFill>
            <a:prstDash val="solid"/>
          </a:ln>
        </p:spPr>
      </p:sp>
      <p:sp>
        <p:nvSpPr>
          <p:cNvPr id="16" name="Shape 13"/>
          <p:cNvSpPr/>
          <p:nvPr/>
        </p:nvSpPr>
        <p:spPr>
          <a:xfrm>
            <a:off x="10936224" y="950976"/>
            <a:ext cx="59436" cy="59436"/>
          </a:xfrm>
          <a:prstGeom prst="rect">
            <a:avLst/>
          </a:prstGeom>
          <a:solidFill>
            <a:srgbClr val="8061BB"/>
          </a:solidFill>
          <a:ln w="12700">
            <a:solidFill>
              <a:srgbClr val="8061BB"/>
            </a:solidFill>
            <a:prstDash val="solid"/>
          </a:ln>
        </p:spPr>
      </p:sp>
      <p:sp>
        <p:nvSpPr>
          <p:cNvPr id="17" name="Shape 14"/>
          <p:cNvSpPr/>
          <p:nvPr/>
        </p:nvSpPr>
        <p:spPr>
          <a:xfrm>
            <a:off x="10936224" y="1115568"/>
            <a:ext cx="59436" cy="59436"/>
          </a:xfrm>
          <a:prstGeom prst="rect">
            <a:avLst/>
          </a:prstGeom>
          <a:solidFill>
            <a:srgbClr val="8061BB"/>
          </a:solidFill>
          <a:ln w="12700">
            <a:solidFill>
              <a:srgbClr val="8061BB"/>
            </a:solidFill>
            <a:prstDash val="solid"/>
          </a:ln>
        </p:spPr>
      </p:sp>
      <p:sp>
        <p:nvSpPr>
          <p:cNvPr id="18" name="Shape 15"/>
          <p:cNvSpPr/>
          <p:nvPr/>
        </p:nvSpPr>
        <p:spPr>
          <a:xfrm>
            <a:off x="11100816" y="621792"/>
            <a:ext cx="59436" cy="59436"/>
          </a:xfrm>
          <a:prstGeom prst="rect">
            <a:avLst/>
          </a:prstGeom>
          <a:solidFill>
            <a:srgbClr val="8061BB"/>
          </a:solidFill>
          <a:ln w="12700">
            <a:solidFill>
              <a:srgbClr val="8061BB"/>
            </a:solidFill>
            <a:prstDash val="solid"/>
          </a:ln>
        </p:spPr>
      </p:sp>
      <p:sp>
        <p:nvSpPr>
          <p:cNvPr id="19" name="Shape 16"/>
          <p:cNvSpPr/>
          <p:nvPr/>
        </p:nvSpPr>
        <p:spPr>
          <a:xfrm>
            <a:off x="11100816" y="786384"/>
            <a:ext cx="59436" cy="59436"/>
          </a:xfrm>
          <a:prstGeom prst="rect">
            <a:avLst/>
          </a:prstGeom>
          <a:solidFill>
            <a:srgbClr val="8061BB"/>
          </a:solidFill>
          <a:ln w="12700">
            <a:solidFill>
              <a:srgbClr val="8061BB"/>
            </a:solidFill>
            <a:prstDash val="solid"/>
          </a:ln>
        </p:spPr>
      </p:sp>
      <p:sp>
        <p:nvSpPr>
          <p:cNvPr id="20" name="Shape 17"/>
          <p:cNvSpPr/>
          <p:nvPr/>
        </p:nvSpPr>
        <p:spPr>
          <a:xfrm>
            <a:off x="11100816" y="950976"/>
            <a:ext cx="59436" cy="59436"/>
          </a:xfrm>
          <a:prstGeom prst="rect">
            <a:avLst/>
          </a:prstGeom>
          <a:solidFill>
            <a:srgbClr val="8061BB"/>
          </a:solidFill>
          <a:ln w="12700">
            <a:solidFill>
              <a:srgbClr val="8061BB"/>
            </a:solidFill>
            <a:prstDash val="solid"/>
          </a:ln>
        </p:spPr>
      </p:sp>
      <p:sp>
        <p:nvSpPr>
          <p:cNvPr id="21" name="Shape 18"/>
          <p:cNvSpPr/>
          <p:nvPr/>
        </p:nvSpPr>
        <p:spPr>
          <a:xfrm>
            <a:off x="11100816" y="1115568"/>
            <a:ext cx="59436" cy="59436"/>
          </a:xfrm>
          <a:prstGeom prst="rect">
            <a:avLst/>
          </a:prstGeom>
          <a:solidFill>
            <a:srgbClr val="8061BB"/>
          </a:solidFill>
          <a:ln w="12700">
            <a:solidFill>
              <a:srgbClr val="8061BB"/>
            </a:solidFill>
            <a:prstDash val="solid"/>
          </a:ln>
        </p:spPr>
      </p:sp>
      <p:sp>
        <p:nvSpPr>
          <p:cNvPr id="22" name="Text 19"/>
          <p:cNvSpPr/>
          <p:nvPr/>
        </p:nvSpPr>
        <p:spPr>
          <a:xfrm>
            <a:off x="594360" y="1051560"/>
            <a:ext cx="10607040" cy="1737360"/>
          </a:xfrm>
          <a:prstGeom prst="rect">
            <a:avLst/>
          </a:prstGeom>
          <a:noFill/>
          <a:ln/>
        </p:spPr>
        <p:txBody>
          <a:bodyPr wrap="square" lIns="0" tIns="0" rIns="0" bIns="0" rtlCol="0" anchor="t"/>
          <a:lstStyle/>
          <a:p>
            <a:pPr indent="0" marL="0">
              <a:buNone/>
            </a:pPr>
            <a:r>
              <a:rPr lang="en-US" sz="5200" b="1" dirty="0">
                <a:solidFill>
                  <a:srgbClr val="FFFFFF"/>
                </a:solidFill>
                <a:latin typeface="Arial" pitchFamily="34" charset="0"/>
                <a:ea typeface="Arial" pitchFamily="34" charset="-122"/>
                <a:cs typeface="Arial" pitchFamily="34" charset="-120"/>
              </a:rPr>
              <a:t>Less weight.</a:t>
            </a:r>
            <a:endParaRPr lang="en-US" sz="5200" dirty="0"/>
          </a:p>
          <a:p>
            <a:pPr indent="0" marL="0">
              <a:buNone/>
            </a:pPr>
            <a:r>
              <a:rPr lang="en-US" sz="5200" b="1" dirty="0">
                <a:solidFill>
                  <a:srgbClr val="FFFFFF"/>
                </a:solidFill>
                <a:latin typeface="Arial" pitchFamily="34" charset="0"/>
                <a:ea typeface="Arial" pitchFamily="34" charset="-122"/>
                <a:cs typeface="Arial" pitchFamily="34" charset="-120"/>
              </a:rPr>
              <a:t>More clarity.</a:t>
            </a:r>
            <a:endParaRPr lang="en-US" sz="5200" dirty="0"/>
          </a:p>
        </p:txBody>
      </p:sp>
      <p:sp>
        <p:nvSpPr>
          <p:cNvPr id="23" name="Text 20"/>
          <p:cNvSpPr/>
          <p:nvPr/>
        </p:nvSpPr>
        <p:spPr>
          <a:xfrm>
            <a:off x="630936" y="3191256"/>
            <a:ext cx="10515600" cy="402336"/>
          </a:xfrm>
          <a:prstGeom prst="rect">
            <a:avLst/>
          </a:prstGeom>
          <a:noFill/>
          <a:ln/>
        </p:spPr>
        <p:txBody>
          <a:bodyPr wrap="square" lIns="0" tIns="0" rIns="0" bIns="0" rtlCol="0" anchor="t"/>
          <a:lstStyle/>
          <a:p>
            <a:pPr indent="0" marL="0">
              <a:buNone/>
            </a:pPr>
            <a:r>
              <a:rPr lang="en-US" sz="2000" dirty="0">
                <a:solidFill>
                  <a:srgbClr val="D2C4EC"/>
                </a:solidFill>
                <a:latin typeface="Arial" pitchFamily="34" charset="0"/>
                <a:ea typeface="Arial" pitchFamily="34" charset="-122"/>
                <a:cs typeface="Arial" pitchFamily="34" charset="-120"/>
              </a:rPr>
              <a:t>Multimedia choices that support a better student experience.</a:t>
            </a:r>
            <a:endParaRPr lang="en-US" sz="2000" dirty="0"/>
          </a:p>
        </p:txBody>
      </p:sp>
      <p:sp>
        <p:nvSpPr>
          <p:cNvPr id="24" name="Text 21"/>
          <p:cNvSpPr/>
          <p:nvPr/>
        </p:nvSpPr>
        <p:spPr>
          <a:xfrm>
            <a:off x="640080" y="4224528"/>
            <a:ext cx="3474720" cy="813816"/>
          </a:xfrm>
          <a:prstGeom prst="rect">
            <a:avLst/>
          </a:prstGeom>
          <a:noFill/>
          <a:ln/>
        </p:spPr>
        <p:txBody>
          <a:bodyPr wrap="square" lIns="0" tIns="0" rIns="0" bIns="0" rtlCol="0" anchor="t"/>
          <a:lstStyle/>
          <a:p>
            <a:pPr indent="0" marL="0">
              <a:buNone/>
            </a:pPr>
            <a:r>
              <a:rPr lang="en-US" sz="5200" b="1" dirty="0">
                <a:solidFill>
                  <a:srgbClr val="C2A7FF"/>
                </a:solidFill>
                <a:latin typeface="Arial" pitchFamily="34" charset="0"/>
                <a:ea typeface="Arial" pitchFamily="34" charset="-122"/>
                <a:cs typeface="Arial" pitchFamily="34" charset="-120"/>
              </a:rPr>
              <a:t>73%</a:t>
            </a:r>
            <a:endParaRPr lang="en-US" sz="5200" dirty="0"/>
          </a:p>
        </p:txBody>
      </p:sp>
      <p:sp>
        <p:nvSpPr>
          <p:cNvPr id="25" name="Text 22"/>
          <p:cNvSpPr/>
          <p:nvPr/>
        </p:nvSpPr>
        <p:spPr>
          <a:xfrm>
            <a:off x="667512" y="5285232"/>
            <a:ext cx="3474720" cy="338328"/>
          </a:xfrm>
          <a:prstGeom prst="rect">
            <a:avLst/>
          </a:prstGeom>
          <a:noFill/>
          <a:ln/>
        </p:spPr>
        <p:txBody>
          <a:bodyPr wrap="square" lIns="0" tIns="0" rIns="0" bIns="0" rtlCol="0" anchor="t"/>
          <a:lstStyle/>
          <a:p>
            <a:pPr indent="0" marL="0">
              <a:buNone/>
            </a:pPr>
            <a:r>
              <a:rPr lang="en-US" sz="1800" dirty="0">
                <a:solidFill>
                  <a:srgbClr val="D2C4EC"/>
                </a:solidFill>
                <a:latin typeface="Arial" pitchFamily="34" charset="0"/>
                <a:ea typeface="Arial" pitchFamily="34" charset="-122"/>
                <a:cs typeface="Arial" pitchFamily="34" charset="-120"/>
              </a:rPr>
              <a:t>smaller preview</a:t>
            </a:r>
            <a:endParaRPr lang="en-US" sz="1800" dirty="0"/>
          </a:p>
        </p:txBody>
      </p:sp>
      <p:sp>
        <p:nvSpPr>
          <p:cNvPr id="26" name="Text 23"/>
          <p:cNvSpPr/>
          <p:nvPr/>
        </p:nvSpPr>
        <p:spPr>
          <a:xfrm>
            <a:off x="4480560" y="4224528"/>
            <a:ext cx="3474720" cy="813816"/>
          </a:xfrm>
          <a:prstGeom prst="rect">
            <a:avLst/>
          </a:prstGeom>
          <a:noFill/>
          <a:ln/>
        </p:spPr>
        <p:txBody>
          <a:bodyPr wrap="square" lIns="0" tIns="0" rIns="0" bIns="0" rtlCol="0" anchor="t"/>
          <a:lstStyle/>
          <a:p>
            <a:pPr indent="0" marL="0">
              <a:buNone/>
            </a:pPr>
            <a:r>
              <a:rPr lang="en-US" sz="5200" b="1" dirty="0">
                <a:solidFill>
                  <a:srgbClr val="FFFFFF"/>
                </a:solidFill>
                <a:latin typeface="Arial" pitchFamily="34" charset="0"/>
                <a:ea typeface="Arial" pitchFamily="34" charset="-122"/>
                <a:cs typeface="Arial" pitchFamily="34" charset="-120"/>
              </a:rPr>
              <a:t>18</a:t>
            </a:r>
            <a:endParaRPr lang="en-US" sz="5200" dirty="0"/>
          </a:p>
        </p:txBody>
      </p:sp>
      <p:sp>
        <p:nvSpPr>
          <p:cNvPr id="27" name="Text 24"/>
          <p:cNvSpPr/>
          <p:nvPr/>
        </p:nvSpPr>
        <p:spPr>
          <a:xfrm>
            <a:off x="4507992" y="5285232"/>
            <a:ext cx="3474720" cy="338328"/>
          </a:xfrm>
          <a:prstGeom prst="rect">
            <a:avLst/>
          </a:prstGeom>
          <a:noFill/>
          <a:ln/>
        </p:spPr>
        <p:txBody>
          <a:bodyPr wrap="square" lIns="0" tIns="0" rIns="0" bIns="0" rtlCol="0" anchor="t"/>
          <a:lstStyle/>
          <a:p>
            <a:pPr indent="0" marL="0">
              <a:buNone/>
            </a:pPr>
            <a:r>
              <a:rPr lang="en-US" sz="1800" dirty="0">
                <a:solidFill>
                  <a:srgbClr val="D2C4EC"/>
                </a:solidFill>
                <a:latin typeface="Arial" pitchFamily="34" charset="0"/>
                <a:ea typeface="Arial" pitchFamily="34" charset="-122"/>
                <a:cs typeface="Arial" pitchFamily="34" charset="-120"/>
              </a:rPr>
              <a:t>inline SVG icons</a:t>
            </a:r>
            <a:endParaRPr lang="en-US" sz="1800" dirty="0"/>
          </a:p>
        </p:txBody>
      </p:sp>
      <p:sp>
        <p:nvSpPr>
          <p:cNvPr id="28" name="Text 25"/>
          <p:cNvSpPr/>
          <p:nvPr/>
        </p:nvSpPr>
        <p:spPr>
          <a:xfrm>
            <a:off x="8321040" y="4224528"/>
            <a:ext cx="3474720" cy="813816"/>
          </a:xfrm>
          <a:prstGeom prst="rect">
            <a:avLst/>
          </a:prstGeom>
          <a:noFill/>
          <a:ln/>
        </p:spPr>
        <p:txBody>
          <a:bodyPr wrap="square" lIns="0" tIns="0" rIns="0" bIns="0" rtlCol="0" anchor="t"/>
          <a:lstStyle/>
          <a:p>
            <a:pPr indent="0" marL="0">
              <a:buNone/>
            </a:pPr>
            <a:r>
              <a:rPr lang="en-US" sz="5200" b="1" dirty="0">
                <a:solidFill>
                  <a:srgbClr val="FFFFFF"/>
                </a:solidFill>
                <a:latin typeface="Arial" pitchFamily="34" charset="0"/>
                <a:ea typeface="Arial" pitchFamily="34" charset="-122"/>
                <a:cs typeface="Arial" pitchFamily="34" charset="-120"/>
              </a:rPr>
              <a:t>25</a:t>
            </a:r>
            <a:endParaRPr lang="en-US" sz="5200" dirty="0"/>
          </a:p>
        </p:txBody>
      </p:sp>
      <p:sp>
        <p:nvSpPr>
          <p:cNvPr id="29" name="Text 26"/>
          <p:cNvSpPr/>
          <p:nvPr/>
        </p:nvSpPr>
        <p:spPr>
          <a:xfrm>
            <a:off x="8348472" y="5285232"/>
            <a:ext cx="3474720" cy="338328"/>
          </a:xfrm>
          <a:prstGeom prst="rect">
            <a:avLst/>
          </a:prstGeom>
          <a:noFill/>
          <a:ln/>
        </p:spPr>
        <p:txBody>
          <a:bodyPr wrap="square" lIns="0" tIns="0" rIns="0" bIns="0" rtlCol="0" anchor="t"/>
          <a:lstStyle/>
          <a:p>
            <a:pPr indent="0" marL="0">
              <a:buNone/>
            </a:pPr>
            <a:r>
              <a:rPr lang="en-US" sz="1800" dirty="0">
                <a:solidFill>
                  <a:srgbClr val="D2C4EC"/>
                </a:solidFill>
                <a:latin typeface="Arial" pitchFamily="34" charset="0"/>
                <a:ea typeface="Arial" pitchFamily="34" charset="-122"/>
                <a:cs typeface="Arial" pitchFamily="34" charset="-120"/>
              </a:rPr>
              <a:t>inventoried assets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Astana IT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Technologies — My AITU</dc:title>
  <dc:subject>ICT Assignment 4 — My AITU / LMS bridge</dc:subject>
  <dc:creator>Salima Zimbekkyzy, Azhar Saparzholova, Nurassyl Oralbekov</dc:creator>
  <cp:lastModifiedBy>Salima Zimbekkyzy, Azhar Saparzholova, Nurassyl Oralbekov</cp:lastModifiedBy>
  <cp:revision>1</cp:revision>
  <dcterms:created xsi:type="dcterms:W3CDTF">2026-10-25T13:51:15Z</dcterms:created>
  <dcterms:modified xsi:type="dcterms:W3CDTF">2026-10-25T13:51:15Z</dcterms:modified>
</cp:coreProperties>
</file>